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DM Sans" panose="020B0604020202020204" charset="0"/>
      <p:regular r:id="rId21"/>
    </p:embeddedFont>
    <p:embeddedFont>
      <p:font typeface="DM Sans Bold" panose="020B0604020202020204" charset="0"/>
      <p:regular r:id="rId22"/>
    </p:embeddedFont>
    <p:embeddedFont>
      <p:font typeface="DM Sans Bold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973" y="151598"/>
            <a:ext cx="11450051" cy="7077877"/>
          </a:xfrm>
          <a:custGeom>
            <a:avLst/>
            <a:gdLst/>
            <a:ahLst/>
            <a:cxnLst/>
            <a:rect l="l" t="t" r="r" b="b"/>
            <a:pathLst>
              <a:path w="14331236" h="9888553">
                <a:moveTo>
                  <a:pt x="0" y="0"/>
                </a:moveTo>
                <a:lnTo>
                  <a:pt x="14331236" y="0"/>
                </a:lnTo>
                <a:lnTo>
                  <a:pt x="14331236" y="9888552"/>
                </a:lnTo>
                <a:lnTo>
                  <a:pt x="0" y="988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C53191A-DF8D-41B7-900C-96B1B7473590}"/>
              </a:ext>
            </a:extLst>
          </p:cNvPr>
          <p:cNvSpPr/>
          <p:nvPr/>
        </p:nvSpPr>
        <p:spPr>
          <a:xfrm>
            <a:off x="-72656" y="6515100"/>
            <a:ext cx="18433307" cy="522594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A7C7C3F-F743-48D1-B095-942E2A3CAA0F}"/>
              </a:ext>
            </a:extLst>
          </p:cNvPr>
          <p:cNvSpPr/>
          <p:nvPr/>
        </p:nvSpPr>
        <p:spPr>
          <a:xfrm>
            <a:off x="5715000" y="6286500"/>
            <a:ext cx="7168502" cy="2919256"/>
          </a:xfrm>
          <a:custGeom>
            <a:avLst/>
            <a:gdLst/>
            <a:ahLst/>
            <a:cxnLst/>
            <a:rect l="l" t="t" r="r" b="b"/>
            <a:pathLst>
              <a:path w="7225011" h="3600312">
                <a:moveTo>
                  <a:pt x="0" y="0"/>
                </a:moveTo>
                <a:lnTo>
                  <a:pt x="7225010" y="0"/>
                </a:lnTo>
                <a:lnTo>
                  <a:pt x="7225010" y="3600312"/>
                </a:lnTo>
                <a:lnTo>
                  <a:pt x="0" y="3600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823" b="-8823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5308" y="6591300"/>
            <a:ext cx="18578615" cy="4997341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304800" y="3086100"/>
            <a:ext cx="17491106" cy="290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sz="94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HTML e JS</a:t>
            </a:r>
          </a:p>
          <a:p>
            <a:pPr algn="ctr">
              <a:lnSpc>
                <a:spcPts val="11399"/>
              </a:lnSpc>
            </a:pPr>
            <a:endParaRPr lang="en-US" sz="9499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7313" y="2352899"/>
            <a:ext cx="16331987" cy="4463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7"/>
              </a:lnSpc>
            </a:pP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JavaScript,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função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é um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bloco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código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reutilizável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executa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tarefa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específica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Ela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recebe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mais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valores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parâmetros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),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processa-os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e,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opcionalmente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retorna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Funções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são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fundamentais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organizar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código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evitar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repetição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promover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42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modularidade</a:t>
            </a:r>
            <a:r>
              <a:rPr lang="en-US" sz="42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7313" y="1028700"/>
            <a:ext cx="292131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  <a:spcBef>
                <a:spcPct val="0"/>
              </a:spcBef>
            </a:pPr>
            <a:r>
              <a:rPr lang="en-US" sz="5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FUNÇÃO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096225"/>
            <a:ext cx="12777123" cy="282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4800" b="1" dirty="0">
                <a:solidFill>
                  <a:srgbClr val="FFFF00"/>
                </a:solidFill>
                <a:latin typeface="DM Sans Bold"/>
                <a:ea typeface="DM Sans Bold"/>
                <a:cs typeface="DM Sans Bold"/>
                <a:sym typeface="DM Sans Bold"/>
              </a:rPr>
              <a:t>function </a:t>
            </a:r>
            <a:r>
              <a:rPr lang="en-US" sz="4800" b="1" dirty="0" err="1">
                <a:solidFill>
                  <a:srgbClr val="FFFF00"/>
                </a:solidFill>
                <a:latin typeface="DM Sans Bold"/>
                <a:ea typeface="DM Sans Bold"/>
                <a:cs typeface="DM Sans Bold"/>
                <a:sym typeface="DM Sans Bold"/>
              </a:rPr>
              <a:t>somar</a:t>
            </a:r>
            <a:r>
              <a:rPr lang="en-US" sz="4800" b="1" dirty="0">
                <a:solidFill>
                  <a:srgbClr val="FFFF00"/>
                </a:solidFill>
                <a:latin typeface="DM Sans Bold"/>
                <a:ea typeface="DM Sans Bold"/>
                <a:cs typeface="DM Sans Bold"/>
                <a:sym typeface="DM Sans Bold"/>
              </a:rPr>
              <a:t>(){ </a:t>
            </a:r>
          </a:p>
          <a:p>
            <a:pPr algn="l">
              <a:lnSpc>
                <a:spcPts val="7488"/>
              </a:lnSpc>
            </a:pPr>
            <a:r>
              <a:rPr lang="en-US" sz="4800" b="1" i="1" dirty="0">
                <a:solidFill>
                  <a:srgbClr val="FFFF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  // Código a ser </a:t>
            </a:r>
            <a:r>
              <a:rPr lang="en-US" sz="4800" b="1" i="1" dirty="0" err="1">
                <a:solidFill>
                  <a:srgbClr val="FFFF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executado</a:t>
            </a:r>
            <a:endParaRPr lang="en-US" sz="4800" b="1" i="1" dirty="0">
              <a:solidFill>
                <a:srgbClr val="FFFF00"/>
              </a:solidFill>
              <a:latin typeface="DM Sans Bold Italics"/>
              <a:ea typeface="DM Sans Bold Italics"/>
              <a:cs typeface="DM Sans Bold Italics"/>
              <a:sym typeface="DM Sans Bold Italics"/>
            </a:endParaRPr>
          </a:p>
          <a:p>
            <a:pPr algn="just">
              <a:lnSpc>
                <a:spcPts val="7488"/>
              </a:lnSpc>
            </a:pPr>
            <a:r>
              <a:rPr lang="en-US" sz="4800" b="1" dirty="0">
                <a:solidFill>
                  <a:srgbClr val="FFFF00"/>
                </a:solidFill>
                <a:latin typeface="DM Sans Bold"/>
                <a:ea typeface="DM Sans Bold"/>
                <a:cs typeface="DM Sans Bold"/>
                <a:sym typeface="DM Sans Bold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672" y="2375551"/>
            <a:ext cx="16498628" cy="5240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60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usado para declarar uma constante, ou seja, uma variável cujo valor não pode ser reatribuído após sua inicialização. Isso significa que, uma vez que você atribui um valor a uma variável com const, você não pode alterar esse valor posteriormente no código.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0672" y="847725"/>
            <a:ext cx="2400967" cy="101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5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19" y="495300"/>
            <a:ext cx="9448800" cy="10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CONVERSÃO DE VARIÁVEIS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000" y="1920289"/>
            <a:ext cx="16383000" cy="801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08"/>
              </a:lnSpc>
              <a:spcBef>
                <a:spcPct val="0"/>
              </a:spcBef>
            </a:pP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Transformação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variável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um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tipo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dado para outro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5731" y="4000500"/>
            <a:ext cx="17534424" cy="5618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2"/>
              </a:lnSpc>
            </a:pPr>
            <a:r>
              <a:rPr lang="en-US" sz="47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CONVERSÃO DE STRING PARA NÚMERO:</a:t>
            </a:r>
          </a:p>
          <a:p>
            <a:pPr algn="l">
              <a:lnSpc>
                <a:spcPct val="150000"/>
              </a:lnSpc>
            </a:pPr>
            <a:r>
              <a:rPr lang="en-US" sz="4300" b="1" dirty="0" err="1">
                <a:solidFill>
                  <a:srgbClr val="F1EF0A"/>
                </a:solidFill>
                <a:latin typeface="DM Sans Bold"/>
                <a:ea typeface="DM Sans Bold"/>
                <a:cs typeface="DM Sans Bold"/>
                <a:sym typeface="DM Sans Bold"/>
              </a:rPr>
              <a:t>parseInt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(string, base):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Converte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string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número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inteiro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com base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especificada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opcional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padrão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10).</a:t>
            </a:r>
          </a:p>
          <a:p>
            <a:pPr algn="l">
              <a:lnSpc>
                <a:spcPct val="150000"/>
              </a:lnSpc>
            </a:pPr>
            <a:r>
              <a:rPr lang="en-US" sz="4300" b="1" dirty="0" err="1">
                <a:solidFill>
                  <a:srgbClr val="F1EF0A"/>
                </a:solidFill>
                <a:latin typeface="DM Sans Bold"/>
                <a:ea typeface="DM Sans Bold"/>
                <a:cs typeface="DM Sans Bold"/>
                <a:sym typeface="DM Sans Bold"/>
              </a:rPr>
              <a:t>parseFloat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(string):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Converte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string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número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ponto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3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flutuante</a:t>
            </a:r>
            <a:r>
              <a:rPr lang="en-US" sz="4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l">
              <a:lnSpc>
                <a:spcPts val="6278"/>
              </a:lnSpc>
            </a:pPr>
            <a:endParaRPr lang="en-US" sz="43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7275" y="3589225"/>
            <a:ext cx="15810401" cy="310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18"/>
              </a:lnSpc>
            </a:pP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get e set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são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palavras-chave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usadas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definir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acessadores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que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são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métodos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especiais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associados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propriedades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objetos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137505"/>
            <a:ext cx="1356646" cy="101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5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4785" y="1485900"/>
            <a:ext cx="9054657" cy="897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8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DOCUMENT.GETELEMENTBYID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4785" y="3924300"/>
            <a:ext cx="16078429" cy="3162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getElementById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() serve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ponte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entre o JavaScript e o HTML,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permitindo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você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"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pegue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 um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elemento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específico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página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web.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8646" y="1409700"/>
            <a:ext cx="8477754" cy="10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RESULTADO.INNERHTML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8646" y="4152900"/>
            <a:ext cx="16440654" cy="298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65"/>
              </a:lnSpc>
            </a:pP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Refere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à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propriedade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permite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acessar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modificar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conteúdo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HTML de um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elemento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HTML,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seja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obter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conteúdo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existente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novo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conteúdo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0584" y="1028700"/>
            <a:ext cx="3102292" cy="101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ONCLICK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0584" y="3125334"/>
            <a:ext cx="15861094" cy="582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30"/>
              </a:lnSpc>
            </a:pP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É um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manipulador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eventos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executa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função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quando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elemento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HTML é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clicado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Basicamente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permite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você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adicione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interatividade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às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suas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páginas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web,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fazendo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com que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algo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aconteça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quando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usuário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interage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com um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botão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link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outro </a:t>
            </a:r>
            <a:r>
              <a:rPr lang="en-US" sz="4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elemento</a:t>
            </a:r>
            <a:r>
              <a:rPr lang="en-US" sz="4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88563" y="1431020"/>
            <a:ext cx="11910875" cy="7424961"/>
          </a:xfrm>
          <a:custGeom>
            <a:avLst/>
            <a:gdLst/>
            <a:ahLst/>
            <a:cxnLst/>
            <a:rect l="l" t="t" r="r" b="b"/>
            <a:pathLst>
              <a:path w="11910875" h="7424961">
                <a:moveTo>
                  <a:pt x="0" y="0"/>
                </a:moveTo>
                <a:lnTo>
                  <a:pt x="11910874" y="0"/>
                </a:lnTo>
                <a:lnTo>
                  <a:pt x="11910874" y="7424960"/>
                </a:lnTo>
                <a:lnTo>
                  <a:pt x="0" y="7424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7625"/>
            <a:ext cx="15859897" cy="10162734"/>
          </a:xfrm>
          <a:custGeom>
            <a:avLst/>
            <a:gdLst/>
            <a:ahLst/>
            <a:cxnLst/>
            <a:rect l="l" t="t" r="r" b="b"/>
            <a:pathLst>
              <a:path w="15859897" h="10162734">
                <a:moveTo>
                  <a:pt x="0" y="0"/>
                </a:moveTo>
                <a:lnTo>
                  <a:pt x="15859897" y="0"/>
                </a:lnTo>
                <a:lnTo>
                  <a:pt x="15859897" y="10162734"/>
                </a:lnTo>
                <a:lnTo>
                  <a:pt x="0" y="10162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9" b="-719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3776"/>
            <a:ext cx="16419309" cy="10159447"/>
          </a:xfrm>
          <a:custGeom>
            <a:avLst/>
            <a:gdLst/>
            <a:ahLst/>
            <a:cxnLst/>
            <a:rect l="l" t="t" r="r" b="b"/>
            <a:pathLst>
              <a:path w="16419309" h="10159447">
                <a:moveTo>
                  <a:pt x="0" y="0"/>
                </a:moveTo>
                <a:lnTo>
                  <a:pt x="16419309" y="0"/>
                </a:lnTo>
                <a:lnTo>
                  <a:pt x="16419309" y="10159448"/>
                </a:lnTo>
                <a:lnTo>
                  <a:pt x="0" y="10159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03093"/>
            <a:ext cx="16657989" cy="755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arquivo de JavaScript criamos uma função (function) </a:t>
            </a:r>
            <a:r>
              <a:rPr lang="en-US" sz="4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chamada </a:t>
            </a:r>
            <a:r>
              <a:rPr lang="en-US" sz="4500" b="1">
                <a:solidFill>
                  <a:srgbClr val="F1EF0A"/>
                </a:solidFill>
                <a:latin typeface="DM Sans Bold"/>
                <a:ea typeface="DM Sans Bold"/>
                <a:cs typeface="DM Sans Bold"/>
                <a:sym typeface="DM Sans Bold"/>
              </a:rPr>
              <a:t>somar()</a:t>
            </a:r>
            <a:r>
              <a:rPr lang="en-US" sz="4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e nela somaremos os dois números digitados pelo usuário. O evento </a:t>
            </a:r>
            <a:r>
              <a:rPr lang="en-US" sz="4500" b="1">
                <a:solidFill>
                  <a:srgbClr val="F1EF0A"/>
                </a:solidFill>
                <a:latin typeface="DM Sans Bold"/>
                <a:ea typeface="DM Sans Bold"/>
                <a:cs typeface="DM Sans Bold"/>
                <a:sym typeface="DM Sans Bold"/>
              </a:rPr>
              <a:t>onclick=”somar()”</a:t>
            </a:r>
            <a:r>
              <a:rPr lang="en-US" sz="4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, executa a função </a:t>
            </a:r>
            <a:r>
              <a:rPr lang="en-US" sz="4500" b="1">
                <a:solidFill>
                  <a:srgbClr val="F1EF0A"/>
                </a:solidFill>
                <a:latin typeface="DM Sans Bold"/>
                <a:ea typeface="DM Sans Bold"/>
                <a:cs typeface="DM Sans Bold"/>
                <a:sym typeface="DM Sans Bold"/>
              </a:rPr>
              <a:t>somar().</a:t>
            </a:r>
            <a:r>
              <a:rPr lang="en-US" sz="4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l">
              <a:lnSpc>
                <a:spcPts val="7560"/>
              </a:lnSpc>
            </a:pPr>
            <a:r>
              <a:rPr lang="en-US" sz="4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4500" b="1">
                <a:solidFill>
                  <a:srgbClr val="F1EF0A"/>
                </a:solidFill>
                <a:latin typeface="DM Sans Bold"/>
                <a:ea typeface="DM Sans Bold"/>
                <a:cs typeface="DM Sans Bold"/>
                <a:sym typeface="DM Sans Bold"/>
              </a:rPr>
              <a:t>(num1, num2)</a:t>
            </a:r>
            <a:r>
              <a:rPr lang="en-US" sz="4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que irão receber os valores digitados pelo usuário. A função </a:t>
            </a:r>
            <a:r>
              <a:rPr lang="en-US" sz="4500" b="1">
                <a:solidFill>
                  <a:srgbClr val="F1EF0A"/>
                </a:solidFill>
                <a:latin typeface="DM Sans Bold"/>
                <a:ea typeface="DM Sans Bold"/>
                <a:cs typeface="DM Sans Bold"/>
                <a:sym typeface="DM Sans Bold"/>
              </a:rPr>
              <a:t>parseInt() </a:t>
            </a:r>
            <a:r>
              <a:rPr lang="en-US" sz="4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está sendo utilizada para converter a string recebida pela caixa de texto para um número inteiro.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430538"/>
            <a:ext cx="10697175" cy="101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0"/>
              </a:lnSpc>
              <a:spcBef>
                <a:spcPct val="0"/>
              </a:spcBef>
            </a:pPr>
            <a:r>
              <a:rPr lang="en-US" sz="5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EXPLICANDO O CÓDIGO....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2004" y="752475"/>
            <a:ext cx="16295764" cy="841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método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getElementById</a:t>
            </a:r>
            <a:r>
              <a:rPr lang="en-US" sz="45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"/>
                <a:ea typeface="DM Sans"/>
                <a:cs typeface="DM Sans"/>
                <a:sym typeface="DM Sans"/>
              </a:rPr>
              <a:t>()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está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utilizado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obter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elemento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documento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partir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seu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atributo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ID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especificado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por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isso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colocarmos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id para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cada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um dos inputs no HTML.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Resumindo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função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está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pegando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valores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foram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digitados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elementos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possuem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identificadores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n1 e n2 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armazenando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variáveis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num1 e num2,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respectivamente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Na </a:t>
            </a:r>
            <a:r>
              <a:rPr lang="en-US" sz="4500" b="1" dirty="0" err="1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linha</a:t>
            </a:r>
            <a:r>
              <a:rPr lang="en-US" sz="4500" b="1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 5,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criamos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variável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soma para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armazenar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obtido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por num1 + num2.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3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8447" y="169573"/>
            <a:ext cx="15824872" cy="503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0"/>
              </a:lnSpc>
            </a:pP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 </a:t>
            </a:r>
            <a:r>
              <a:rPr lang="en-US" sz="4500" b="1" dirty="0" err="1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linha</a:t>
            </a:r>
            <a:r>
              <a:rPr lang="en-US" sz="4500" b="1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 6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estamos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exibindo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tela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da soma,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além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usar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getElementById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()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também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estamos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utilizando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propriedade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innerHTML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exibir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conteúdo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 HTML,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neste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caso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conteúdo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é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texto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“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” que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está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concatenado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com o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da </a:t>
            </a:r>
            <a:r>
              <a:rPr lang="en-US" sz="45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variável</a:t>
            </a:r>
            <a:r>
              <a:rPr lang="en-US" sz="4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soma.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8447" y="6350462"/>
            <a:ext cx="16875324" cy="347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  <a:spcBef>
                <a:spcPct val="0"/>
              </a:spcBef>
            </a:pP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Pronto!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Finalizamos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aqui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mesmo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exemplo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fizemos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aula de TPA no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visualG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agora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usando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linguagem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programação</a:t>
            </a:r>
            <a:r>
              <a:rPr lang="en-US" sz="4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JavaScript. 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Vale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ressaltar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que,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este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mesmo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exemplo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pode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ser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feito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outras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400" i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maneiras</a:t>
            </a:r>
            <a:r>
              <a:rPr lang="en-US" sz="4400" i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549</Words>
  <Application>Microsoft Office PowerPoint</Application>
  <PresentationFormat>Personalizar</PresentationFormat>
  <Paragraphs>27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DM Sans</vt:lpstr>
      <vt:lpstr>DM Sans Bold</vt:lpstr>
      <vt:lpstr>Arial</vt:lpstr>
      <vt:lpstr>Calibri</vt:lpstr>
      <vt:lpstr>DM Sans Bold Italics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Impacto da Tecnologia de Ponta</dc:title>
  <dc:creator>Thiago Pascotto</dc:creator>
  <cp:lastModifiedBy>RAI_5125</cp:lastModifiedBy>
  <cp:revision>4</cp:revision>
  <dcterms:created xsi:type="dcterms:W3CDTF">2006-08-16T00:00:00Z</dcterms:created>
  <dcterms:modified xsi:type="dcterms:W3CDTF">2025-08-12T00:24:49Z</dcterms:modified>
  <dc:identifier>DAGvJ1IfIiU</dc:identifier>
</cp:coreProperties>
</file>