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charts/chart2.xml" ContentType="application/vnd.openxmlformats-officedocument.drawingml.chart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charts/chart3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41"/>
  </p:notesMasterIdLst>
  <p:handoutMasterIdLst>
    <p:handoutMasterId r:id="rId42"/>
  </p:handoutMasterIdLst>
  <p:sldIdLst>
    <p:sldId id="256" r:id="rId5"/>
    <p:sldId id="280" r:id="rId6"/>
    <p:sldId id="281" r:id="rId7"/>
    <p:sldId id="282" r:id="rId8"/>
    <p:sldId id="307" r:id="rId9"/>
    <p:sldId id="283" r:id="rId10"/>
    <p:sldId id="287" r:id="rId11"/>
    <p:sldId id="289" r:id="rId12"/>
    <p:sldId id="288" r:id="rId13"/>
    <p:sldId id="290" r:id="rId14"/>
    <p:sldId id="308" r:id="rId15"/>
    <p:sldId id="309" r:id="rId16"/>
    <p:sldId id="292" r:id="rId17"/>
    <p:sldId id="293" r:id="rId18"/>
    <p:sldId id="294" r:id="rId19"/>
    <p:sldId id="304" r:id="rId20"/>
    <p:sldId id="318" r:id="rId21"/>
    <p:sldId id="319" r:id="rId22"/>
    <p:sldId id="320" r:id="rId23"/>
    <p:sldId id="321" r:id="rId24"/>
    <p:sldId id="322" r:id="rId25"/>
    <p:sldId id="323" r:id="rId26"/>
    <p:sldId id="324" r:id="rId27"/>
    <p:sldId id="325" r:id="rId28"/>
    <p:sldId id="300" r:id="rId29"/>
    <p:sldId id="315" r:id="rId30"/>
    <p:sldId id="311" r:id="rId31"/>
    <p:sldId id="312" r:id="rId32"/>
    <p:sldId id="310" r:id="rId33"/>
    <p:sldId id="316" r:id="rId34"/>
    <p:sldId id="313" r:id="rId35"/>
    <p:sldId id="317" r:id="rId36"/>
    <p:sldId id="306" r:id="rId37"/>
    <p:sldId id="302" r:id="rId38"/>
    <p:sldId id="303" r:id="rId39"/>
    <p:sldId id="314" r:id="rId40"/>
  </p:sldIdLst>
  <p:sldSz cx="12188825" cy="6858000"/>
  <p:notesSz cx="6858000" cy="9144000"/>
  <p:defaultTextStyle>
    <a:defPPr rtl="0"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  <p15:guide id="6" pos="100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AB7"/>
    <a:srgbClr val="4E5B67"/>
    <a:srgbClr val="7D90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73A0DAA-6AF3-43AB-8588-CEC1D06C72B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97" autoAdjust="0"/>
    <p:restoredTop sz="94660"/>
  </p:normalViewPr>
  <p:slideViewPr>
    <p:cSldViewPr showGuides="1">
      <p:cViewPr varScale="1">
        <p:scale>
          <a:sx n="42" d="100"/>
          <a:sy n="42" d="100"/>
        </p:scale>
        <p:origin x="292" y="32"/>
      </p:cViewPr>
      <p:guideLst>
        <p:guide orient="horz" pos="2160"/>
        <p:guide pos="3839"/>
        <p:guide pos="1007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72" d="100"/>
          <a:sy n="72" d="100"/>
        </p:scale>
        <p:origin x="4146" y="7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Pasta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Pasta1" TargetMode="Externa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Pasta1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pt-BR" sz="1400" b="1" i="0" u="none" strike="noStrike" baseline="0">
                <a:effectLst/>
              </a:rPr>
              <a:t>Gráfico – Idosos dependentes no Brasil (2019).</a:t>
            </a:r>
            <a:endParaRPr lang="pt-BR" sz="140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Planilha1!$A$1:$D$1</c:f>
              <c:strCache>
                <c:ptCount val="4"/>
                <c:pt idx="0">
                  <c:v>idosos com 80 ou mais</c:v>
                </c:pt>
                <c:pt idx="1">
                  <c:v>idosos com 75 ou mais</c:v>
                </c:pt>
                <c:pt idx="2">
                  <c:v>idosos com 65-74 anos</c:v>
                </c:pt>
                <c:pt idx="3">
                  <c:v>idosos com 60-64 anos</c:v>
                </c:pt>
              </c:strCache>
            </c:strRef>
          </c:cat>
          <c:val>
            <c:numRef>
              <c:f>Planilha1!$A$2:$D$2</c:f>
              <c:numCache>
                <c:formatCode>0.00%</c:formatCode>
                <c:ptCount val="4"/>
                <c:pt idx="0" formatCode="0%">
                  <c:v>0.26</c:v>
                </c:pt>
                <c:pt idx="1">
                  <c:v>0.185</c:v>
                </c:pt>
                <c:pt idx="2">
                  <c:v>6.9000000000000006E-2</c:v>
                </c:pt>
                <c:pt idx="3">
                  <c:v>5.2999999999999999E-2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E73-4958-99B5-DBDAD45124DB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2127087664"/>
        <c:axId val="2124859744"/>
      </c:barChart>
      <c:catAx>
        <c:axId val="212708766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2124859744"/>
        <c:crosses val="autoZero"/>
        <c:auto val="1"/>
        <c:lblAlgn val="ctr"/>
        <c:lblOffset val="100"/>
        <c:noMultiLvlLbl val="0"/>
      </c:catAx>
      <c:valAx>
        <c:axId val="212485974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2">
                  <a:lumMod val="20000"/>
                  <a:lumOff val="80000"/>
                </a:schemeClr>
              </a:solidFill>
              <a:round/>
            </a:ln>
            <a:effectLst>
              <a:outerShdw blurRad="50800" dist="50800" dir="5400000" algn="ctr" rotWithShape="0">
                <a:schemeClr val="bg2"/>
              </a:outerShdw>
            </a:effectLst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2127087664"/>
        <c:crosses val="autoZero"/>
        <c:crossBetween val="between"/>
      </c:valAx>
      <c:spPr>
        <a:solidFill>
          <a:schemeClr val="bg1"/>
        </a:solidFill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pt-BR" sz="1800">
                <a:solidFill>
                  <a:schemeClr val="tx1"/>
                </a:solidFill>
              </a:rPr>
              <a:t>Gráfico</a:t>
            </a:r>
            <a:r>
              <a:rPr lang="pt-BR" sz="1800" baseline="0">
                <a:solidFill>
                  <a:schemeClr val="tx1"/>
                </a:solidFill>
              </a:rPr>
              <a:t> -</a:t>
            </a:r>
            <a:r>
              <a:rPr lang="pt-BR" sz="1800">
                <a:solidFill>
                  <a:schemeClr val="tx1"/>
                </a:solidFill>
                <a:effectLst/>
              </a:rPr>
              <a:t>Aplicativos mais usados entre idosos</a:t>
            </a:r>
            <a:r>
              <a:rPr lang="pt-BR" sz="1800" baseline="0">
                <a:solidFill>
                  <a:schemeClr val="tx1"/>
                </a:solidFill>
              </a:rPr>
              <a:t> </a:t>
            </a:r>
            <a:endParaRPr lang="pt-BR" sz="1800">
              <a:solidFill>
                <a:schemeClr val="tx1"/>
              </a:solidFill>
            </a:endParaRP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pt-BR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7F2E-4380-BF8A-30F4A93C82B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Planilha1!$A$1:$I$1</c:f>
              <c:strCache>
                <c:ptCount val="9"/>
                <c:pt idx="0">
                  <c:v>WhatsApp</c:v>
                </c:pt>
                <c:pt idx="1">
                  <c:v>Facebook</c:v>
                </c:pt>
                <c:pt idx="2">
                  <c:v>YouTube</c:v>
                </c:pt>
                <c:pt idx="3">
                  <c:v>redes sociais</c:v>
                </c:pt>
                <c:pt idx="4">
                  <c:v>Eletroeletrônicos </c:v>
                </c:pt>
                <c:pt idx="5">
                  <c:v>Remédios </c:v>
                </c:pt>
                <c:pt idx="6">
                  <c:v>Eletrodomésticos </c:v>
                </c:pt>
                <c:pt idx="7">
                  <c:v>Apps de transporte</c:v>
                </c:pt>
                <c:pt idx="8">
                  <c:v>Apps bancários</c:v>
                </c:pt>
              </c:strCache>
            </c:strRef>
          </c:cat>
          <c:val>
            <c:numRef>
              <c:f>Planilha1!$A$2:$I$2</c:f>
              <c:numCache>
                <c:formatCode>0%</c:formatCode>
                <c:ptCount val="9"/>
                <c:pt idx="0">
                  <c:v>0.92</c:v>
                </c:pt>
                <c:pt idx="1">
                  <c:v>0.85</c:v>
                </c:pt>
                <c:pt idx="2">
                  <c:v>0.77</c:v>
                </c:pt>
                <c:pt idx="3">
                  <c:v>0.72</c:v>
                </c:pt>
                <c:pt idx="4">
                  <c:v>0.57999999999999996</c:v>
                </c:pt>
                <c:pt idx="5">
                  <c:v>0.49</c:v>
                </c:pt>
                <c:pt idx="6">
                  <c:v>0.47</c:v>
                </c:pt>
                <c:pt idx="7">
                  <c:v>0.47</c:v>
                </c:pt>
                <c:pt idx="8">
                  <c:v>0.45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F2E-4380-BF8A-30F4A93C82BF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1964040479"/>
        <c:axId val="1718332783"/>
      </c:barChart>
      <c:catAx>
        <c:axId val="19640404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solidFill>
            <a:schemeClr val="bg1"/>
          </a:solidFill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718332783"/>
        <c:crosses val="autoZero"/>
        <c:auto val="1"/>
        <c:lblAlgn val="ctr"/>
        <c:lblOffset val="100"/>
        <c:noMultiLvlLbl val="0"/>
      </c:catAx>
      <c:valAx>
        <c:axId val="17183327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96404047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cap="all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BR"/>
              <a:t>Gráfico - índice de esquecimentos pela idade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cap="all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dk1">
                  <a:tint val="885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3D58-4050-BDC4-E275966462E9}"/>
              </c:ext>
            </c:extLst>
          </c:dPt>
          <c:dPt>
            <c:idx val="1"/>
            <c:bubble3D val="0"/>
            <c:spPr>
              <a:solidFill>
                <a:schemeClr val="dk1">
                  <a:tint val="55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3D58-4050-BDC4-E275966462E9}"/>
              </c:ext>
            </c:extLst>
          </c:dPt>
          <c:dPt>
            <c:idx val="2"/>
            <c:bubble3D val="0"/>
            <c:spPr>
              <a:solidFill>
                <a:schemeClr val="dk1">
                  <a:tint val="75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3D58-4050-BDC4-E275966462E9}"/>
              </c:ext>
            </c:extLst>
          </c:dPt>
          <c:dPt>
            <c:idx val="3"/>
            <c:bubble3D val="0"/>
            <c:spPr>
              <a:solidFill>
                <a:schemeClr val="dk1">
                  <a:tint val="985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3D58-4050-BDC4-E275966462E9}"/>
              </c:ext>
            </c:extLst>
          </c:dPt>
          <c:dLbls>
            <c:dLbl>
              <c:idx val="0"/>
              <c:layout>
                <c:manualLayout>
                  <c:x val="3.8341150500185966E-2"/>
                  <c:y val="4.8497741099964409E-2"/>
                </c:manualLayout>
              </c:layout>
              <c:spPr>
                <a:solidFill>
                  <a:schemeClr val="lt1"/>
                </a:solidFill>
                <a:ln w="12700" cap="flat" cmpd="sng" algn="ctr">
                  <a:solidFill>
                    <a:schemeClr val="dk1"/>
                  </a:solidFill>
                  <a:prstDash val="solid"/>
                  <a:miter lim="800000"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330" b="1" i="0" u="none" strike="noStrike" kern="1200" spc="0" baseline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pt-BR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D58-4050-BDC4-E275966462E9}"/>
                </c:ext>
              </c:extLst>
            </c:dLbl>
            <c:dLbl>
              <c:idx val="1"/>
              <c:layout>
                <c:manualLayout>
                  <c:x val="1.3419402675065089E-2"/>
                  <c:y val="3.8798192879971528E-2"/>
                </c:manualLayout>
              </c:layout>
              <c:spPr>
                <a:solidFill>
                  <a:schemeClr val="lt1"/>
                </a:solidFill>
                <a:ln w="12700" cap="flat" cmpd="sng" algn="ctr">
                  <a:solidFill>
                    <a:schemeClr val="dk1"/>
                  </a:solidFill>
                  <a:prstDash val="solid"/>
                  <a:miter lim="800000"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330" b="1" i="0" u="none" strike="noStrike" kern="1200" spc="0" baseline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pt-BR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D58-4050-BDC4-E275966462E9}"/>
                </c:ext>
              </c:extLst>
            </c:dLbl>
            <c:dLbl>
              <c:idx val="2"/>
              <c:layout>
                <c:manualLayout>
                  <c:x val="0.13994519932567878"/>
                  <c:y val="-3.2331827399976393E-2"/>
                </c:manualLayout>
              </c:layout>
              <c:spPr>
                <a:solidFill>
                  <a:schemeClr val="lt1"/>
                </a:solidFill>
                <a:ln w="12700" cap="flat" cmpd="sng" algn="ctr">
                  <a:solidFill>
                    <a:schemeClr val="dk1"/>
                  </a:solidFill>
                  <a:prstDash val="solid"/>
                  <a:miter lim="800000"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330" b="1" i="0" u="none" strike="noStrike" kern="1200" spc="0" baseline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pt-BR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3D58-4050-BDC4-E275966462E9}"/>
                </c:ext>
              </c:extLst>
            </c:dLbl>
            <c:dLbl>
              <c:idx val="3"/>
              <c:layout>
                <c:manualLayout>
                  <c:x val="-3.2589977925158074E-2"/>
                  <c:y val="-2.2632151889324395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noAutofit/>
                  </a:bodyPr>
                  <a:lstStyle/>
                  <a:p>
                    <a:pPr>
                      <a:defRPr sz="1330" b="1" i="0" u="none" strike="noStrike" kern="1200" spc="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dirty="0" err="1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rPr>
                      <a:t>Não</a:t>
                    </a:r>
                    <a:r>
                      <a:rPr lang="en-US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rPr>
                      <a:t> </a:t>
                    </a:r>
                    <a:r>
                      <a:rPr lang="en-US" dirty="0" err="1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rPr>
                      <a:t>Esquecem</a:t>
                    </a:r>
                    <a:r>
                      <a:rPr lang="en-US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rPr>
                      <a:t> </a:t>
                    </a:r>
                  </a:p>
                  <a:p>
                    <a:pPr>
                      <a:defRPr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1A4AFA9B-D4B0-4EA1-8150-D0941351C072}" type="PERCENTAGE">
                      <a:rPr lang="en-US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rPr>
                      <a:pPr>
                        <a:defRPr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t>[PORCENTAGEM]</a:t>
                    </a:fld>
                    <a:endParaRPr lang="pt-BR"/>
                  </a:p>
                </c:rich>
              </c:tx>
              <c:spPr>
                <a:solidFill>
                  <a:schemeClr val="lt1"/>
                </a:solidFill>
                <a:ln w="12700" cap="flat" cmpd="sng" algn="ctr">
                  <a:solidFill>
                    <a:schemeClr val="dk1"/>
                  </a:solidFill>
                  <a:prstDash val="solid"/>
                  <a:miter lim="800000"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330" b="1" i="0" u="none" strike="noStrike" kern="1200" spc="0" baseline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pt-BR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825230469561353"/>
                      <c:h val="0.13406404960466065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7-3D58-4050-BDC4-E275966462E9}"/>
                </c:ext>
              </c:extLst>
            </c:dLbl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330" b="1" i="0" u="none" strike="noStrike" kern="1200" spc="0" baseline="0">
                    <a:solidFill>
                      <a:schemeClr val="dk1">
                        <a:tint val="885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Planilha2!$A$1:$D$1</c:f>
              <c:strCache>
                <c:ptCount val="4"/>
                <c:pt idx="0">
                  <c:v>80+ anos</c:v>
                </c:pt>
                <c:pt idx="1">
                  <c:v>70–79 anos</c:v>
                </c:pt>
                <c:pt idx="2">
                  <c:v>60–69 anos </c:v>
                </c:pt>
                <c:pt idx="3">
                  <c:v>não esquecem</c:v>
                </c:pt>
              </c:strCache>
            </c:strRef>
          </c:cat>
          <c:val>
            <c:numRef>
              <c:f>Planilha2!$A$2:$D$2</c:f>
              <c:numCache>
                <c:formatCode>0.00%</c:formatCode>
                <c:ptCount val="4"/>
                <c:pt idx="0">
                  <c:v>0.14399999999999999</c:v>
                </c:pt>
                <c:pt idx="1">
                  <c:v>0.193</c:v>
                </c:pt>
                <c:pt idx="2">
                  <c:v>0.26100000000000001</c:v>
                </c:pt>
                <c:pt idx="3">
                  <c:v>0.40200000000000002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D58-4050-BDC4-E275966462E9}"/>
            </c:ext>
          </c:extLst>
        </c:ser>
        <c:dLbls>
          <c:dLblPos val="outEnd"/>
          <c:showLegendKey val="0"/>
          <c:showVal val="0"/>
          <c:showCatName val="1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0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5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cs:styleClr val="auto"/>
    </cs:fontRef>
    <cs:defRPr sz="1330" b="1" i="0" u="none" strike="noStrike" kern="1200" spc="0" baseline="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33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635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10000"/>
          </a:prstClr>
        </a:outerShdw>
      </a:effectLst>
      <a:scene3d>
        <a:camera prst="orthographicFront"/>
        <a:lightRig rig="threePt" dir="t"/>
      </a:scene3d>
      <a:sp3d>
        <a:bevelT w="127000" h="127000"/>
        <a:bevelB w="127000" h="127000"/>
      </a:sp3d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70981B7D-53F6-4039-A8FA-44779F95F4C7}" type="datetime1">
              <a:rPr lang="pt-BR" smtClean="0"/>
              <a:t>08/12/2025</a:t>
            </a:fld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 dirty="0"/>
          </a:p>
        </p:txBody>
      </p:sp>
      <p:sp>
        <p:nvSpPr>
          <p:cNvPr id="5" name="Espaço reservado para o número do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4360E59-1627-4404-ACC5-51C744AB0F27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1622542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pPr rtl="0"/>
            <a:endParaRPr lang="pt-BR" noProof="0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pPr rtl="0"/>
            <a:fld id="{FD1732DB-6DE7-4ED0-8D58-5BB99683AAF5}" type="datetime1">
              <a:rPr lang="pt-BR" noProof="0" smtClean="0"/>
              <a:t>08/12/2025</a:t>
            </a:fld>
            <a:endParaRPr lang="pt-BR" noProof="0" dirty="0"/>
          </a:p>
        </p:txBody>
      </p:sp>
      <p:sp>
        <p:nvSpPr>
          <p:cNvPr id="4" name="Espaço reservado para 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t-BR" noProof="0" dirty="0"/>
          </a:p>
        </p:txBody>
      </p:sp>
      <p:sp>
        <p:nvSpPr>
          <p:cNvPr id="5" name="Espaço reservado para nota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 noProof="0" dirty="0"/>
              <a:t>Clique para editar o texto Mestre</a:t>
            </a:r>
          </a:p>
          <a:p>
            <a:pPr lvl="1" rtl="0"/>
            <a:r>
              <a:rPr lang="pt-BR" noProof="0" dirty="0"/>
              <a:t>Segundo nível</a:t>
            </a:r>
          </a:p>
          <a:p>
            <a:pPr lvl="2" rtl="0"/>
            <a:r>
              <a:rPr lang="pt-BR" noProof="0" dirty="0"/>
              <a:t>Terceiro nível</a:t>
            </a:r>
          </a:p>
          <a:p>
            <a:pPr lvl="3" rtl="0"/>
            <a:r>
              <a:rPr lang="pt-BR" noProof="0" dirty="0"/>
              <a:t>Quarto nível</a:t>
            </a:r>
          </a:p>
          <a:p>
            <a:pPr lvl="4" rtl="0"/>
            <a:r>
              <a:rPr lang="pt-BR" noProof="0" dirty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pPr rtl="0"/>
            <a:endParaRPr lang="pt-BR" noProof="0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pPr rtl="0"/>
            <a:fld id="{841221E5-7225-48EB-A4EE-420E7BFCF705}" type="slidenum">
              <a:rPr lang="pt-BR" noProof="0" smtClean="0"/>
              <a:pPr rtl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55666991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pt-BR" smtClean="0"/>
              <a:pPr rtl="0"/>
              <a:t>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934368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pt-BR" smtClean="0"/>
              <a:pPr rtl="0"/>
              <a:t>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528193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pt-BR" smtClean="0"/>
              <a:pPr rtl="0"/>
              <a:t>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875459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pt-BR" smtClean="0"/>
              <a:pPr rtl="0"/>
              <a:t>4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891291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pt-BR" smtClean="0"/>
              <a:pPr rtl="0"/>
              <a:t>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903485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pt-BR" smtClean="0"/>
              <a:pPr rtl="0"/>
              <a:t>6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146474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pt-BR" smtClean="0"/>
              <a:pPr rtl="0"/>
              <a:t>7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391360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pt-BR" smtClean="0"/>
              <a:pPr rtl="0"/>
              <a:t>8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996817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pt-BR" smtClean="0"/>
              <a:pPr rtl="0"/>
              <a:t>9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183620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pt-BR" smtClean="0"/>
              <a:pPr rtl="0"/>
              <a:t>10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231850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pt-BR" smtClean="0"/>
              <a:pPr rtl="0"/>
              <a:t>11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922135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pt-BR" smtClean="0"/>
              <a:pPr rtl="0"/>
              <a:t>12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551175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pt-BR" smtClean="0"/>
              <a:pPr rtl="0"/>
              <a:t>13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26570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pt-BR" smtClean="0"/>
              <a:pPr rtl="0"/>
              <a:t>14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076234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pt-BR" smtClean="0"/>
              <a:pPr rtl="0"/>
              <a:t>15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6473683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pt-BR" smtClean="0"/>
              <a:pPr rtl="0"/>
              <a:t>16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8241384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pt-BR" smtClean="0"/>
              <a:pPr rtl="0"/>
              <a:t>17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9349796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pt-BR" smtClean="0"/>
              <a:pPr rtl="0"/>
              <a:t>18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134930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pt-BR" smtClean="0"/>
              <a:pPr rtl="0"/>
              <a:t>19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1223060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pt-BR" smtClean="0"/>
              <a:pPr rtl="0"/>
              <a:t>20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8187339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pt-BR" smtClean="0"/>
              <a:pPr rtl="0"/>
              <a:t>21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060966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pt-BR" smtClean="0"/>
              <a:pPr rtl="0"/>
              <a:t>22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1687498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pt-BR" smtClean="0"/>
              <a:pPr rtl="0"/>
              <a:t>23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408827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pt-BR" smtClean="0"/>
              <a:pPr rtl="0"/>
              <a:t>24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0070441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pt-BR" smtClean="0"/>
              <a:pPr rtl="0"/>
              <a:t>25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5650961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pt-BR" smtClean="0"/>
              <a:pPr rtl="0"/>
              <a:t>26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7789969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pt-BR" smtClean="0"/>
              <a:pPr rtl="0"/>
              <a:t>27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1204158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pt-BR" smtClean="0"/>
              <a:pPr rtl="0"/>
              <a:t>28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4397839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pt-BR" smtClean="0"/>
              <a:pPr rtl="0"/>
              <a:t>29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2878769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pt-BR" smtClean="0"/>
              <a:pPr rtl="0"/>
              <a:t>30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7798440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pt-BR" smtClean="0"/>
              <a:pPr rtl="0"/>
              <a:t>31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4660129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pt-BR" smtClean="0"/>
              <a:pPr rtl="0"/>
              <a:t>32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4010391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pt-BR" smtClean="0"/>
              <a:pPr rtl="0"/>
              <a:t>33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821702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pt-BR" smtClean="0"/>
              <a:pPr rtl="0"/>
              <a:t>34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0295402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pt-BR" smtClean="0"/>
              <a:pPr rtl="0"/>
              <a:t>35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9097623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pt-BR" smtClean="0"/>
              <a:pPr rtl="0"/>
              <a:t>36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017544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 bwMode="ltGray">
          <a:xfrm>
            <a:off x="11579384" y="5638800"/>
            <a:ext cx="609441" cy="121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pt-BR" noProof="0" dirty="0"/>
          </a:p>
        </p:txBody>
      </p:sp>
      <p:sp>
        <p:nvSpPr>
          <p:cNvPr id="9" name="Retângulo 8"/>
          <p:cNvSpPr/>
          <p:nvPr/>
        </p:nvSpPr>
        <p:spPr bwMode="gray">
          <a:xfrm>
            <a:off x="11274663" y="5638800"/>
            <a:ext cx="304721" cy="1219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pt-BR" noProof="0" dirty="0"/>
          </a:p>
        </p:txBody>
      </p:sp>
      <p:sp>
        <p:nvSpPr>
          <p:cNvPr id="10" name="Retângulo 9"/>
          <p:cNvSpPr/>
          <p:nvPr/>
        </p:nvSpPr>
        <p:spPr bwMode="ltGray">
          <a:xfrm>
            <a:off x="1218883" y="0"/>
            <a:ext cx="60944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pt-BR" noProof="0" dirty="0"/>
          </a:p>
        </p:txBody>
      </p:sp>
      <p:sp>
        <p:nvSpPr>
          <p:cNvPr id="11" name="Retângulo 10"/>
          <p:cNvSpPr/>
          <p:nvPr/>
        </p:nvSpPr>
        <p:spPr bwMode="gray">
          <a:xfrm>
            <a:off x="0" y="0"/>
            <a:ext cx="1218883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pt-BR" noProof="0" dirty="0"/>
          </a:p>
        </p:txBody>
      </p:sp>
      <p:sp>
        <p:nvSpPr>
          <p:cNvPr id="12" name="Retângulo 11"/>
          <p:cNvSpPr/>
          <p:nvPr/>
        </p:nvSpPr>
        <p:spPr bwMode="ltGray">
          <a:xfrm>
            <a:off x="0" y="5638800"/>
            <a:ext cx="12188825" cy="1219200"/>
          </a:xfrm>
          <a:prstGeom prst="rect">
            <a:avLst/>
          </a:prstGeom>
          <a:solidFill>
            <a:schemeClr val="accent1">
              <a:lumMod val="75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pt-BR" noProof="0" dirty="0"/>
          </a:p>
        </p:txBody>
      </p:sp>
      <p:cxnSp>
        <p:nvCxnSpPr>
          <p:cNvPr id="13" name="Conector reto 12"/>
          <p:cNvCxnSpPr/>
          <p:nvPr/>
        </p:nvCxnSpPr>
        <p:spPr bwMode="white">
          <a:xfrm>
            <a:off x="11573293" y="5638800"/>
            <a:ext cx="0" cy="12192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tângulo 13"/>
          <p:cNvSpPr/>
          <p:nvPr/>
        </p:nvSpPr>
        <p:spPr bwMode="black">
          <a:xfrm>
            <a:off x="0" y="5643132"/>
            <a:ext cx="1216152" cy="1214868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pt-BR" noProof="0" dirty="0"/>
          </a:p>
        </p:txBody>
      </p:sp>
      <p:cxnSp>
        <p:nvCxnSpPr>
          <p:cNvPr id="15" name="Conector reto 14"/>
          <p:cNvCxnSpPr/>
          <p:nvPr/>
        </p:nvCxnSpPr>
        <p:spPr bwMode="white">
          <a:xfrm>
            <a:off x="1218884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to 15"/>
          <p:cNvCxnSpPr/>
          <p:nvPr/>
        </p:nvCxnSpPr>
        <p:spPr bwMode="white">
          <a:xfrm>
            <a:off x="0" y="5631204"/>
            <a:ext cx="1828325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Pi"/>
          <p:cNvSpPr>
            <a:spLocks/>
          </p:cNvSpPr>
          <p:nvPr/>
        </p:nvSpPr>
        <p:spPr bwMode="white">
          <a:xfrm>
            <a:off x="276462" y="6032500"/>
            <a:ext cx="593189" cy="519176"/>
          </a:xfrm>
          <a:custGeom>
            <a:avLst/>
            <a:gdLst>
              <a:gd name="T0" fmla="*/ 411 w 426"/>
              <a:gd name="T1" fmla="*/ 0 h 372"/>
              <a:gd name="T2" fmla="*/ 90 w 426"/>
              <a:gd name="T3" fmla="*/ 0 h 372"/>
              <a:gd name="T4" fmla="*/ 3 w 426"/>
              <a:gd name="T5" fmla="*/ 64 h 372"/>
              <a:gd name="T6" fmla="*/ 12 w 426"/>
              <a:gd name="T7" fmla="*/ 83 h 372"/>
              <a:gd name="T8" fmla="*/ 17 w 426"/>
              <a:gd name="T9" fmla="*/ 83 h 372"/>
              <a:gd name="T10" fmla="*/ 31 w 426"/>
              <a:gd name="T11" fmla="*/ 73 h 372"/>
              <a:gd name="T12" fmla="*/ 90 w 426"/>
              <a:gd name="T13" fmla="*/ 30 h 372"/>
              <a:gd name="T14" fmla="*/ 131 w 426"/>
              <a:gd name="T15" fmla="*/ 30 h 372"/>
              <a:gd name="T16" fmla="*/ 61 w 426"/>
              <a:gd name="T17" fmla="*/ 334 h 372"/>
              <a:gd name="T18" fmla="*/ 61 w 426"/>
              <a:gd name="T19" fmla="*/ 355 h 372"/>
              <a:gd name="T20" fmla="*/ 72 w 426"/>
              <a:gd name="T21" fmla="*/ 359 h 372"/>
              <a:gd name="T22" fmla="*/ 83 w 426"/>
              <a:gd name="T23" fmla="*/ 355 h 372"/>
              <a:gd name="T24" fmla="*/ 161 w 426"/>
              <a:gd name="T25" fmla="*/ 30 h 372"/>
              <a:gd name="T26" fmla="*/ 272 w 426"/>
              <a:gd name="T27" fmla="*/ 30 h 372"/>
              <a:gd name="T28" fmla="*/ 253 w 426"/>
              <a:gd name="T29" fmla="*/ 270 h 372"/>
              <a:gd name="T30" fmla="*/ 277 w 426"/>
              <a:gd name="T31" fmla="*/ 355 h 372"/>
              <a:gd name="T32" fmla="*/ 322 w 426"/>
              <a:gd name="T33" fmla="*/ 372 h 372"/>
              <a:gd name="T34" fmla="*/ 335 w 426"/>
              <a:gd name="T35" fmla="*/ 371 h 372"/>
              <a:gd name="T36" fmla="*/ 417 w 426"/>
              <a:gd name="T37" fmla="*/ 280 h 372"/>
              <a:gd name="T38" fmla="*/ 406 w 426"/>
              <a:gd name="T39" fmla="*/ 262 h 372"/>
              <a:gd name="T40" fmla="*/ 388 w 426"/>
              <a:gd name="T41" fmla="*/ 273 h 372"/>
              <a:gd name="T42" fmla="*/ 331 w 426"/>
              <a:gd name="T43" fmla="*/ 341 h 372"/>
              <a:gd name="T44" fmla="*/ 298 w 426"/>
              <a:gd name="T45" fmla="*/ 333 h 372"/>
              <a:gd name="T46" fmla="*/ 283 w 426"/>
              <a:gd name="T47" fmla="*/ 272 h 372"/>
              <a:gd name="T48" fmla="*/ 302 w 426"/>
              <a:gd name="T49" fmla="*/ 30 h 372"/>
              <a:gd name="T50" fmla="*/ 411 w 426"/>
              <a:gd name="T51" fmla="*/ 30 h 372"/>
              <a:gd name="T52" fmla="*/ 426 w 426"/>
              <a:gd name="T53" fmla="*/ 15 h 372"/>
              <a:gd name="T54" fmla="*/ 411 w 426"/>
              <a:gd name="T55" fmla="*/ 0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426" h="372">
                <a:moveTo>
                  <a:pt x="411" y="0"/>
                </a:moveTo>
                <a:cubicBezTo>
                  <a:pt x="90" y="0"/>
                  <a:pt x="90" y="0"/>
                  <a:pt x="90" y="0"/>
                </a:cubicBezTo>
                <a:cubicBezTo>
                  <a:pt x="25" y="0"/>
                  <a:pt x="4" y="61"/>
                  <a:pt x="3" y="64"/>
                </a:cubicBezTo>
                <a:cubicBezTo>
                  <a:pt x="0" y="71"/>
                  <a:pt x="4" y="80"/>
                  <a:pt x="12" y="83"/>
                </a:cubicBezTo>
                <a:cubicBezTo>
                  <a:pt x="14" y="83"/>
                  <a:pt x="15" y="83"/>
                  <a:pt x="17" y="83"/>
                </a:cubicBezTo>
                <a:cubicBezTo>
                  <a:pt x="23" y="83"/>
                  <a:pt x="29" y="80"/>
                  <a:pt x="31" y="73"/>
                </a:cubicBezTo>
                <a:cubicBezTo>
                  <a:pt x="31" y="73"/>
                  <a:pt x="46" y="30"/>
                  <a:pt x="90" y="30"/>
                </a:cubicBezTo>
                <a:cubicBezTo>
                  <a:pt x="131" y="30"/>
                  <a:pt x="131" y="30"/>
                  <a:pt x="131" y="30"/>
                </a:cubicBezTo>
                <a:cubicBezTo>
                  <a:pt x="129" y="83"/>
                  <a:pt x="118" y="274"/>
                  <a:pt x="61" y="334"/>
                </a:cubicBezTo>
                <a:cubicBezTo>
                  <a:pt x="55" y="340"/>
                  <a:pt x="55" y="350"/>
                  <a:pt x="61" y="355"/>
                </a:cubicBezTo>
                <a:cubicBezTo>
                  <a:pt x="64" y="358"/>
                  <a:pt x="68" y="359"/>
                  <a:pt x="72" y="359"/>
                </a:cubicBezTo>
                <a:cubicBezTo>
                  <a:pt x="76" y="359"/>
                  <a:pt x="80" y="358"/>
                  <a:pt x="83" y="355"/>
                </a:cubicBezTo>
                <a:cubicBezTo>
                  <a:pt x="148" y="286"/>
                  <a:pt x="159" y="84"/>
                  <a:pt x="161" y="30"/>
                </a:cubicBezTo>
                <a:cubicBezTo>
                  <a:pt x="272" y="30"/>
                  <a:pt x="272" y="30"/>
                  <a:pt x="272" y="30"/>
                </a:cubicBezTo>
                <a:cubicBezTo>
                  <a:pt x="253" y="270"/>
                  <a:pt x="253" y="270"/>
                  <a:pt x="253" y="270"/>
                </a:cubicBezTo>
                <a:cubicBezTo>
                  <a:pt x="253" y="272"/>
                  <a:pt x="248" y="327"/>
                  <a:pt x="277" y="355"/>
                </a:cubicBezTo>
                <a:cubicBezTo>
                  <a:pt x="289" y="366"/>
                  <a:pt x="304" y="372"/>
                  <a:pt x="322" y="372"/>
                </a:cubicBezTo>
                <a:cubicBezTo>
                  <a:pt x="326" y="372"/>
                  <a:pt x="330" y="372"/>
                  <a:pt x="335" y="371"/>
                </a:cubicBezTo>
                <a:cubicBezTo>
                  <a:pt x="398" y="362"/>
                  <a:pt x="416" y="283"/>
                  <a:pt x="417" y="280"/>
                </a:cubicBezTo>
                <a:cubicBezTo>
                  <a:pt x="419" y="271"/>
                  <a:pt x="414" y="264"/>
                  <a:pt x="406" y="262"/>
                </a:cubicBezTo>
                <a:cubicBezTo>
                  <a:pt x="398" y="260"/>
                  <a:pt x="390" y="265"/>
                  <a:pt x="388" y="273"/>
                </a:cubicBezTo>
                <a:cubicBezTo>
                  <a:pt x="388" y="274"/>
                  <a:pt x="373" y="335"/>
                  <a:pt x="331" y="341"/>
                </a:cubicBezTo>
                <a:cubicBezTo>
                  <a:pt x="316" y="343"/>
                  <a:pt x="306" y="341"/>
                  <a:pt x="298" y="333"/>
                </a:cubicBezTo>
                <a:cubicBezTo>
                  <a:pt x="282" y="318"/>
                  <a:pt x="282" y="284"/>
                  <a:pt x="283" y="272"/>
                </a:cubicBezTo>
                <a:cubicBezTo>
                  <a:pt x="302" y="30"/>
                  <a:pt x="302" y="30"/>
                  <a:pt x="302" y="30"/>
                </a:cubicBezTo>
                <a:cubicBezTo>
                  <a:pt x="411" y="30"/>
                  <a:pt x="411" y="30"/>
                  <a:pt x="411" y="30"/>
                </a:cubicBezTo>
                <a:cubicBezTo>
                  <a:pt x="419" y="30"/>
                  <a:pt x="426" y="24"/>
                  <a:pt x="426" y="15"/>
                </a:cubicBezTo>
                <a:cubicBezTo>
                  <a:pt x="426" y="7"/>
                  <a:pt x="419" y="0"/>
                  <a:pt x="411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txBody>
          <a:bodyPr vert="horz" wrap="square" lIns="121899" tIns="60949" rIns="121899" bIns="60949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pt-BR" noProof="0" dirty="0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428669" y="1600200"/>
            <a:ext cx="8329031" cy="2680127"/>
          </a:xfrm>
        </p:spPr>
        <p:txBody>
          <a:bodyPr rtlCol="0">
            <a:noAutofit/>
          </a:bodyPr>
          <a:lstStyle>
            <a:lvl1pPr>
              <a:defRPr sz="5400"/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428669" y="4344915"/>
            <a:ext cx="7516442" cy="1116085"/>
          </a:xfrm>
        </p:spPr>
        <p:txBody>
          <a:bodyPr rtlCol="0">
            <a:normAutofit/>
          </a:bodyPr>
          <a:lstStyle>
            <a:lvl1pPr marL="0" indent="0" algn="l">
              <a:spcBef>
                <a:spcPts val="0"/>
              </a:spcBef>
              <a:buNone/>
              <a:defRPr sz="32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pt-BR" noProof="0"/>
              <a:t>Clique para editar o estilo do subtítulo Mestre</a:t>
            </a:r>
            <a:endParaRPr lang="pt-BR" noProof="0" dirty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pPr rtl="0"/>
            <a:fld id="{8CF9E3DC-7299-4B05-809A-5B49B2FE7AF9}" type="datetime1">
              <a:rPr lang="pt-BR" noProof="0" smtClean="0"/>
              <a:t>08/12/2025</a:t>
            </a:fld>
            <a:endParaRPr lang="pt-BR" noProof="0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pPr rtl="0"/>
            <a:r>
              <a:rPr lang="pt-BR" noProof="0" dirty="0"/>
              <a:t>Equipe_04</a:t>
            </a:r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>
          <a:xfrm>
            <a:off x="10666412" y="6356351"/>
            <a:ext cx="609441" cy="365125"/>
          </a:xfrm>
        </p:spPr>
        <p:txBody>
          <a:bodyPr rtlCol="0"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pPr rtl="0"/>
            <a:fld id="{7DC1BBB0-96F0-4077-A278-0F3FB5C104D3}" type="slidenum">
              <a:rPr lang="pt-BR" noProof="0" smtClean="0"/>
              <a:pPr rtl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817955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83CAA7E-3E75-44C8-A2C7-4C05D52B2FA1}" type="datetime1">
              <a:rPr lang="pt-BR" noProof="0" smtClean="0"/>
              <a:t>08/12/2025</a:t>
            </a:fld>
            <a:endParaRPr lang="pt-BR" noProof="0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 dirty="0"/>
              <a:t>Equipe_04</a:t>
            </a:r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DC1BBB0-96F0-4077-A278-0F3FB5C104D3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185532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tângulo 18"/>
          <p:cNvSpPr/>
          <p:nvPr/>
        </p:nvSpPr>
        <p:spPr bwMode="black">
          <a:xfrm>
            <a:off x="11579384" y="5638800"/>
            <a:ext cx="609441" cy="121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pt-BR" noProof="0" dirty="0"/>
          </a:p>
        </p:txBody>
      </p:sp>
      <p:sp>
        <p:nvSpPr>
          <p:cNvPr id="20" name="Retângulo 19"/>
          <p:cNvSpPr/>
          <p:nvPr/>
        </p:nvSpPr>
        <p:spPr bwMode="gray">
          <a:xfrm>
            <a:off x="11274663" y="5638800"/>
            <a:ext cx="304721" cy="1219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pt-BR" noProof="0" dirty="0"/>
          </a:p>
        </p:txBody>
      </p:sp>
      <p:sp>
        <p:nvSpPr>
          <p:cNvPr id="24" name="Retângulo 23"/>
          <p:cNvSpPr/>
          <p:nvPr/>
        </p:nvSpPr>
        <p:spPr bwMode="gray">
          <a:xfrm>
            <a:off x="1216152" y="5638800"/>
            <a:ext cx="609441" cy="121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pt-BR" noProof="0" dirty="0"/>
          </a:p>
        </p:txBody>
      </p:sp>
      <p:sp>
        <p:nvSpPr>
          <p:cNvPr id="21" name="Retângulo 20"/>
          <p:cNvSpPr/>
          <p:nvPr/>
        </p:nvSpPr>
        <p:spPr bwMode="ltGray">
          <a:xfrm>
            <a:off x="0" y="5638800"/>
            <a:ext cx="12188825" cy="1219200"/>
          </a:xfrm>
          <a:prstGeom prst="rect">
            <a:avLst/>
          </a:prstGeom>
          <a:solidFill>
            <a:schemeClr val="accent1">
              <a:lumMod val="75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pt-BR" noProof="0" dirty="0"/>
          </a:p>
        </p:txBody>
      </p:sp>
      <p:cxnSp>
        <p:nvCxnSpPr>
          <p:cNvPr id="22" name="Conector reto 21"/>
          <p:cNvCxnSpPr/>
          <p:nvPr/>
        </p:nvCxnSpPr>
        <p:spPr bwMode="white">
          <a:xfrm>
            <a:off x="11573293" y="5638800"/>
            <a:ext cx="0" cy="12192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tângulo 15"/>
          <p:cNvSpPr/>
          <p:nvPr/>
        </p:nvSpPr>
        <p:spPr bwMode="black">
          <a:xfrm>
            <a:off x="0" y="5643132"/>
            <a:ext cx="1216152" cy="1214868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pt-BR" noProof="0" dirty="0"/>
          </a:p>
        </p:txBody>
      </p:sp>
      <p:sp>
        <p:nvSpPr>
          <p:cNvPr id="18" name="Pi"/>
          <p:cNvSpPr>
            <a:spLocks/>
          </p:cNvSpPr>
          <p:nvPr/>
        </p:nvSpPr>
        <p:spPr bwMode="white">
          <a:xfrm>
            <a:off x="276462" y="6032500"/>
            <a:ext cx="593189" cy="519176"/>
          </a:xfrm>
          <a:custGeom>
            <a:avLst/>
            <a:gdLst>
              <a:gd name="T0" fmla="*/ 411 w 426"/>
              <a:gd name="T1" fmla="*/ 0 h 372"/>
              <a:gd name="T2" fmla="*/ 90 w 426"/>
              <a:gd name="T3" fmla="*/ 0 h 372"/>
              <a:gd name="T4" fmla="*/ 3 w 426"/>
              <a:gd name="T5" fmla="*/ 64 h 372"/>
              <a:gd name="T6" fmla="*/ 12 w 426"/>
              <a:gd name="T7" fmla="*/ 83 h 372"/>
              <a:gd name="T8" fmla="*/ 17 w 426"/>
              <a:gd name="T9" fmla="*/ 83 h 372"/>
              <a:gd name="T10" fmla="*/ 31 w 426"/>
              <a:gd name="T11" fmla="*/ 73 h 372"/>
              <a:gd name="T12" fmla="*/ 90 w 426"/>
              <a:gd name="T13" fmla="*/ 30 h 372"/>
              <a:gd name="T14" fmla="*/ 131 w 426"/>
              <a:gd name="T15" fmla="*/ 30 h 372"/>
              <a:gd name="T16" fmla="*/ 61 w 426"/>
              <a:gd name="T17" fmla="*/ 334 h 372"/>
              <a:gd name="T18" fmla="*/ 61 w 426"/>
              <a:gd name="T19" fmla="*/ 355 h 372"/>
              <a:gd name="T20" fmla="*/ 72 w 426"/>
              <a:gd name="T21" fmla="*/ 359 h 372"/>
              <a:gd name="T22" fmla="*/ 83 w 426"/>
              <a:gd name="T23" fmla="*/ 355 h 372"/>
              <a:gd name="T24" fmla="*/ 161 w 426"/>
              <a:gd name="T25" fmla="*/ 30 h 372"/>
              <a:gd name="T26" fmla="*/ 272 w 426"/>
              <a:gd name="T27" fmla="*/ 30 h 372"/>
              <a:gd name="T28" fmla="*/ 253 w 426"/>
              <a:gd name="T29" fmla="*/ 270 h 372"/>
              <a:gd name="T30" fmla="*/ 277 w 426"/>
              <a:gd name="T31" fmla="*/ 355 h 372"/>
              <a:gd name="T32" fmla="*/ 322 w 426"/>
              <a:gd name="T33" fmla="*/ 372 h 372"/>
              <a:gd name="T34" fmla="*/ 335 w 426"/>
              <a:gd name="T35" fmla="*/ 371 h 372"/>
              <a:gd name="T36" fmla="*/ 417 w 426"/>
              <a:gd name="T37" fmla="*/ 280 h 372"/>
              <a:gd name="T38" fmla="*/ 406 w 426"/>
              <a:gd name="T39" fmla="*/ 262 h 372"/>
              <a:gd name="T40" fmla="*/ 388 w 426"/>
              <a:gd name="T41" fmla="*/ 273 h 372"/>
              <a:gd name="T42" fmla="*/ 331 w 426"/>
              <a:gd name="T43" fmla="*/ 341 h 372"/>
              <a:gd name="T44" fmla="*/ 298 w 426"/>
              <a:gd name="T45" fmla="*/ 333 h 372"/>
              <a:gd name="T46" fmla="*/ 283 w 426"/>
              <a:gd name="T47" fmla="*/ 272 h 372"/>
              <a:gd name="T48" fmla="*/ 302 w 426"/>
              <a:gd name="T49" fmla="*/ 30 h 372"/>
              <a:gd name="T50" fmla="*/ 411 w 426"/>
              <a:gd name="T51" fmla="*/ 30 h 372"/>
              <a:gd name="T52" fmla="*/ 426 w 426"/>
              <a:gd name="T53" fmla="*/ 15 h 372"/>
              <a:gd name="T54" fmla="*/ 411 w 426"/>
              <a:gd name="T55" fmla="*/ 0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426" h="372">
                <a:moveTo>
                  <a:pt x="411" y="0"/>
                </a:moveTo>
                <a:cubicBezTo>
                  <a:pt x="90" y="0"/>
                  <a:pt x="90" y="0"/>
                  <a:pt x="90" y="0"/>
                </a:cubicBezTo>
                <a:cubicBezTo>
                  <a:pt x="25" y="0"/>
                  <a:pt x="4" y="61"/>
                  <a:pt x="3" y="64"/>
                </a:cubicBezTo>
                <a:cubicBezTo>
                  <a:pt x="0" y="71"/>
                  <a:pt x="4" y="80"/>
                  <a:pt x="12" y="83"/>
                </a:cubicBezTo>
                <a:cubicBezTo>
                  <a:pt x="14" y="83"/>
                  <a:pt x="15" y="83"/>
                  <a:pt x="17" y="83"/>
                </a:cubicBezTo>
                <a:cubicBezTo>
                  <a:pt x="23" y="83"/>
                  <a:pt x="29" y="80"/>
                  <a:pt x="31" y="73"/>
                </a:cubicBezTo>
                <a:cubicBezTo>
                  <a:pt x="31" y="73"/>
                  <a:pt x="46" y="30"/>
                  <a:pt x="90" y="30"/>
                </a:cubicBezTo>
                <a:cubicBezTo>
                  <a:pt x="131" y="30"/>
                  <a:pt x="131" y="30"/>
                  <a:pt x="131" y="30"/>
                </a:cubicBezTo>
                <a:cubicBezTo>
                  <a:pt x="129" y="83"/>
                  <a:pt x="118" y="274"/>
                  <a:pt x="61" y="334"/>
                </a:cubicBezTo>
                <a:cubicBezTo>
                  <a:pt x="55" y="340"/>
                  <a:pt x="55" y="350"/>
                  <a:pt x="61" y="355"/>
                </a:cubicBezTo>
                <a:cubicBezTo>
                  <a:pt x="64" y="358"/>
                  <a:pt x="68" y="359"/>
                  <a:pt x="72" y="359"/>
                </a:cubicBezTo>
                <a:cubicBezTo>
                  <a:pt x="76" y="359"/>
                  <a:pt x="80" y="358"/>
                  <a:pt x="83" y="355"/>
                </a:cubicBezTo>
                <a:cubicBezTo>
                  <a:pt x="148" y="286"/>
                  <a:pt x="159" y="84"/>
                  <a:pt x="161" y="30"/>
                </a:cubicBezTo>
                <a:cubicBezTo>
                  <a:pt x="272" y="30"/>
                  <a:pt x="272" y="30"/>
                  <a:pt x="272" y="30"/>
                </a:cubicBezTo>
                <a:cubicBezTo>
                  <a:pt x="253" y="270"/>
                  <a:pt x="253" y="270"/>
                  <a:pt x="253" y="270"/>
                </a:cubicBezTo>
                <a:cubicBezTo>
                  <a:pt x="253" y="272"/>
                  <a:pt x="248" y="327"/>
                  <a:pt x="277" y="355"/>
                </a:cubicBezTo>
                <a:cubicBezTo>
                  <a:pt x="289" y="366"/>
                  <a:pt x="304" y="372"/>
                  <a:pt x="322" y="372"/>
                </a:cubicBezTo>
                <a:cubicBezTo>
                  <a:pt x="326" y="372"/>
                  <a:pt x="330" y="372"/>
                  <a:pt x="335" y="371"/>
                </a:cubicBezTo>
                <a:cubicBezTo>
                  <a:pt x="398" y="362"/>
                  <a:pt x="416" y="283"/>
                  <a:pt x="417" y="280"/>
                </a:cubicBezTo>
                <a:cubicBezTo>
                  <a:pt x="419" y="271"/>
                  <a:pt x="414" y="264"/>
                  <a:pt x="406" y="262"/>
                </a:cubicBezTo>
                <a:cubicBezTo>
                  <a:pt x="398" y="260"/>
                  <a:pt x="390" y="265"/>
                  <a:pt x="388" y="273"/>
                </a:cubicBezTo>
                <a:cubicBezTo>
                  <a:pt x="388" y="274"/>
                  <a:pt x="373" y="335"/>
                  <a:pt x="331" y="341"/>
                </a:cubicBezTo>
                <a:cubicBezTo>
                  <a:pt x="316" y="343"/>
                  <a:pt x="306" y="341"/>
                  <a:pt x="298" y="333"/>
                </a:cubicBezTo>
                <a:cubicBezTo>
                  <a:pt x="282" y="318"/>
                  <a:pt x="282" y="284"/>
                  <a:pt x="283" y="272"/>
                </a:cubicBezTo>
                <a:cubicBezTo>
                  <a:pt x="302" y="30"/>
                  <a:pt x="302" y="30"/>
                  <a:pt x="302" y="30"/>
                </a:cubicBezTo>
                <a:cubicBezTo>
                  <a:pt x="411" y="30"/>
                  <a:pt x="411" y="30"/>
                  <a:pt x="411" y="30"/>
                </a:cubicBezTo>
                <a:cubicBezTo>
                  <a:pt x="419" y="30"/>
                  <a:pt x="426" y="24"/>
                  <a:pt x="426" y="15"/>
                </a:cubicBezTo>
                <a:cubicBezTo>
                  <a:pt x="426" y="7"/>
                  <a:pt x="419" y="0"/>
                  <a:pt x="411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txBody>
          <a:bodyPr vert="horz" wrap="square" lIns="121899" tIns="60949" rIns="121899" bIns="60949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pt-BR" noProof="0" dirty="0"/>
          </a:p>
        </p:txBody>
      </p:sp>
      <p:cxnSp>
        <p:nvCxnSpPr>
          <p:cNvPr id="23" name="Conector reto 22"/>
          <p:cNvCxnSpPr/>
          <p:nvPr/>
        </p:nvCxnSpPr>
        <p:spPr bwMode="white">
          <a:xfrm>
            <a:off x="1216152" y="5638800"/>
            <a:ext cx="0" cy="12192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tângulo 25"/>
          <p:cNvSpPr/>
          <p:nvPr/>
        </p:nvSpPr>
        <p:spPr bwMode="black">
          <a:xfrm>
            <a:off x="11579384" y="0"/>
            <a:ext cx="609441" cy="60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pt-BR" noProof="0" dirty="0"/>
          </a:p>
        </p:txBody>
      </p:sp>
      <p:sp>
        <p:nvSpPr>
          <p:cNvPr id="27" name="Retângulo 26"/>
          <p:cNvSpPr/>
          <p:nvPr/>
        </p:nvSpPr>
        <p:spPr bwMode="gray">
          <a:xfrm>
            <a:off x="11274663" y="0"/>
            <a:ext cx="304721" cy="6096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pt-BR" noProof="0" dirty="0"/>
          </a:p>
        </p:txBody>
      </p:sp>
      <p:sp>
        <p:nvSpPr>
          <p:cNvPr id="28" name="Retângulo 27"/>
          <p:cNvSpPr/>
          <p:nvPr/>
        </p:nvSpPr>
        <p:spPr bwMode="gray">
          <a:xfrm>
            <a:off x="1218883" y="0"/>
            <a:ext cx="609441" cy="60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pt-BR" noProof="0" dirty="0"/>
          </a:p>
        </p:txBody>
      </p:sp>
      <p:sp>
        <p:nvSpPr>
          <p:cNvPr id="29" name="Retângulo 28"/>
          <p:cNvSpPr/>
          <p:nvPr/>
        </p:nvSpPr>
        <p:spPr>
          <a:xfrm>
            <a:off x="-2" y="0"/>
            <a:ext cx="1218883" cy="6096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pt-BR" noProof="0" dirty="0"/>
          </a:p>
        </p:txBody>
      </p:sp>
      <p:sp>
        <p:nvSpPr>
          <p:cNvPr id="30" name="Retângulo 29"/>
          <p:cNvSpPr/>
          <p:nvPr/>
        </p:nvSpPr>
        <p:spPr bwMode="ltGray">
          <a:xfrm>
            <a:off x="0" y="0"/>
            <a:ext cx="12188825" cy="609600"/>
          </a:xfrm>
          <a:prstGeom prst="rect">
            <a:avLst/>
          </a:prstGeom>
          <a:solidFill>
            <a:schemeClr val="accent1">
              <a:lumMod val="75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pt-BR" noProof="0" dirty="0"/>
          </a:p>
        </p:txBody>
      </p:sp>
      <p:cxnSp>
        <p:nvCxnSpPr>
          <p:cNvPr id="31" name="Conector reto 30"/>
          <p:cNvCxnSpPr/>
          <p:nvPr/>
        </p:nvCxnSpPr>
        <p:spPr bwMode="white">
          <a:xfrm>
            <a:off x="11573293" y="0"/>
            <a:ext cx="0" cy="6096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tângulo 31"/>
          <p:cNvSpPr/>
          <p:nvPr/>
        </p:nvSpPr>
        <p:spPr bwMode="black">
          <a:xfrm>
            <a:off x="0" y="0"/>
            <a:ext cx="1216152" cy="609600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pt-BR" noProof="0" dirty="0"/>
          </a:p>
        </p:txBody>
      </p:sp>
      <p:cxnSp>
        <p:nvCxnSpPr>
          <p:cNvPr id="33" name="Conector reto 32"/>
          <p:cNvCxnSpPr/>
          <p:nvPr/>
        </p:nvCxnSpPr>
        <p:spPr bwMode="white">
          <a:xfrm>
            <a:off x="1218884" y="0"/>
            <a:ext cx="0" cy="6096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598613" y="1600201"/>
            <a:ext cx="8283272" cy="2654064"/>
          </a:xfrm>
        </p:spPr>
        <p:txBody>
          <a:bodyPr rtlCol="0" anchor="b">
            <a:normAutofit/>
          </a:bodyPr>
          <a:lstStyle>
            <a:lvl1pPr algn="l">
              <a:defRPr sz="5400" b="0" cap="none" baseline="0"/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598613" y="4259996"/>
            <a:ext cx="7264623" cy="1150203"/>
          </a:xfrm>
        </p:spPr>
        <p:txBody>
          <a:bodyPr rtlCol="0" anchor="t">
            <a:normAutofit/>
          </a:bodyPr>
          <a:lstStyle>
            <a:lvl1pPr marL="0" indent="0">
              <a:spcBef>
                <a:spcPts val="0"/>
              </a:spcBef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pPr rtl="0"/>
            <a:fld id="{8CF2E68F-F985-4986-B024-0FC8C7AE2C1B}" type="datetime1">
              <a:rPr lang="pt-BR" noProof="0" smtClean="0"/>
              <a:t>08/12/2025</a:t>
            </a:fld>
            <a:endParaRPr lang="pt-BR" noProof="0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pPr rtl="0"/>
            <a:r>
              <a:rPr lang="pt-BR" noProof="0" dirty="0"/>
              <a:t>Equipe_04</a:t>
            </a:r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>
          <a:xfrm>
            <a:off x="10666571" y="6356351"/>
            <a:ext cx="609441" cy="365125"/>
          </a:xfrm>
        </p:spPr>
        <p:txBody>
          <a:bodyPr rtlCol="0"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pPr rtl="0"/>
            <a:fld id="{7DC1BBB0-96F0-4077-A278-0F3FB5C104D3}" type="slidenum">
              <a:rPr lang="pt-BR" noProof="0" smtClean="0"/>
              <a:pPr rtl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234467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is conteú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593436" y="1600200"/>
            <a:ext cx="4814586" cy="4572000"/>
          </a:xfrm>
        </p:spPr>
        <p:txBody>
          <a:bodyPr rtlCol="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561651" y="1600200"/>
            <a:ext cx="4814586" cy="4572000"/>
          </a:xfrm>
        </p:spPr>
        <p:txBody>
          <a:bodyPr rtlCol="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 baseline="0"/>
            </a:lvl6pPr>
            <a:lvl7pPr>
              <a:defRPr sz="1800" baseline="0"/>
            </a:lvl7pPr>
            <a:lvl8pPr>
              <a:defRPr sz="1800" baseline="0"/>
            </a:lvl8pPr>
            <a:lvl9pPr>
              <a:defRPr sz="1800" baseline="0"/>
            </a:lvl9pPr>
          </a:lstStyle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E6DA4F2-6A33-4AC7-8E78-BF93E4CA2325}" type="datetime1">
              <a:rPr lang="pt-BR" noProof="0" smtClean="0"/>
              <a:t>08/12/2025</a:t>
            </a:fld>
            <a:endParaRPr lang="pt-BR" noProof="0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 dirty="0"/>
              <a:t>Equipe_04</a:t>
            </a:r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DC1BBB0-96F0-4077-A278-0F3FB5C104D3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239113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593436" y="1499616"/>
            <a:ext cx="4818888" cy="938784"/>
          </a:xfrm>
        </p:spPr>
        <p:txBody>
          <a:bodyPr rtlCol="0" anchor="b">
            <a:noAutofit/>
          </a:bodyPr>
          <a:lstStyle>
            <a:lvl1pPr marL="0" indent="0">
              <a:spcBef>
                <a:spcPts val="0"/>
              </a:spcBef>
              <a:buNone/>
              <a:defRPr sz="24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593436" y="2514706"/>
            <a:ext cx="4814586" cy="3657493"/>
          </a:xfrm>
        </p:spPr>
        <p:txBody>
          <a:bodyPr rtlCol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 baseline="0"/>
            </a:lvl8pPr>
            <a:lvl9pPr>
              <a:defRPr sz="1600" baseline="0"/>
            </a:lvl9pPr>
          </a:lstStyle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557349" y="1499616"/>
            <a:ext cx="4818888" cy="938784"/>
          </a:xfrm>
        </p:spPr>
        <p:txBody>
          <a:bodyPr rtlCol="0" anchor="b">
            <a:noAutofit/>
          </a:bodyPr>
          <a:lstStyle>
            <a:lvl1pPr marL="0" indent="0">
              <a:spcBef>
                <a:spcPts val="0"/>
              </a:spcBef>
              <a:buNone/>
              <a:defRPr sz="24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557349" y="2514600"/>
            <a:ext cx="4818888" cy="3655568"/>
          </a:xfrm>
        </p:spPr>
        <p:txBody>
          <a:bodyPr rtlCol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FECF235-9052-434D-9210-E5F733C07A25}" type="datetime1">
              <a:rPr lang="pt-BR" noProof="0" smtClean="0"/>
              <a:t>08/12/2025</a:t>
            </a:fld>
            <a:endParaRPr lang="pt-BR" noProof="0" dirty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 dirty="0"/>
              <a:t>Equipe_04</a:t>
            </a:r>
          </a:p>
        </p:txBody>
      </p:sp>
      <p:sp>
        <p:nvSpPr>
          <p:cNvPr id="9" name="Espaço reservado para o número do slid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DC1BBB0-96F0-4077-A278-0F3FB5C104D3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138358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301FB55-4A16-41A5-BB72-289DDF81266B}" type="datetime1">
              <a:rPr lang="pt-BR" noProof="0" smtClean="0"/>
              <a:t>08/12/2025</a:t>
            </a:fld>
            <a:endParaRPr lang="pt-BR" noProof="0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 dirty="0"/>
              <a:t>Equipe_04</a:t>
            </a:r>
          </a:p>
        </p:txBody>
      </p:sp>
      <p:sp>
        <p:nvSpPr>
          <p:cNvPr id="5" name="Espaço reservado para o número do slid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DC1BBB0-96F0-4077-A278-0F3FB5C104D3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163578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/>
          <p:cNvSpPr/>
          <p:nvPr/>
        </p:nvSpPr>
        <p:spPr bwMode="ltGray">
          <a:xfrm>
            <a:off x="626239" y="0"/>
            <a:ext cx="30472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 rtl="0"/>
            <a:endParaRPr lang="pt-BR" noProof="0" dirty="0"/>
          </a:p>
        </p:txBody>
      </p:sp>
      <p:sp>
        <p:nvSpPr>
          <p:cNvPr id="6" name="Retângulo 5"/>
          <p:cNvSpPr/>
          <p:nvPr/>
        </p:nvSpPr>
        <p:spPr bwMode="gray"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 rtl="0"/>
            <a:endParaRPr lang="pt-BR" noProof="0" dirty="0"/>
          </a:p>
        </p:txBody>
      </p:sp>
      <p:cxnSp>
        <p:nvCxnSpPr>
          <p:cNvPr id="7" name="Conector reto 6"/>
          <p:cNvCxnSpPr/>
          <p:nvPr/>
        </p:nvCxnSpPr>
        <p:spPr bwMode="white">
          <a:xfrm>
            <a:off x="617143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tângulo 7"/>
          <p:cNvSpPr/>
          <p:nvPr/>
        </p:nvSpPr>
        <p:spPr bwMode="gray">
          <a:xfrm>
            <a:off x="10969942" y="0"/>
            <a:ext cx="922621" cy="6858000"/>
          </a:xfrm>
          <a:prstGeom prst="rect">
            <a:avLst/>
          </a:prstGeom>
          <a:solidFill>
            <a:schemeClr val="accent1">
              <a:lumMod val="75000"/>
              <a:alpha val="8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 rtl="0"/>
            <a:endParaRPr lang="pt-BR" noProof="0" dirty="0"/>
          </a:p>
        </p:txBody>
      </p:sp>
      <p:sp>
        <p:nvSpPr>
          <p:cNvPr id="9" name="Retângulo 8"/>
          <p:cNvSpPr/>
          <p:nvPr/>
        </p:nvSpPr>
        <p:spPr bwMode="black">
          <a:xfrm>
            <a:off x="11892563" y="0"/>
            <a:ext cx="304721" cy="6858000"/>
          </a:xfrm>
          <a:prstGeom prst="rect">
            <a:avLst/>
          </a:pr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 rtl="0"/>
            <a:endParaRPr lang="pt-BR" noProof="0" dirty="0"/>
          </a:p>
        </p:txBody>
      </p:sp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1E0E9FA-B55D-4813-98B8-D8C2B1295A53}" type="datetime1">
              <a:rPr lang="pt-BR" noProof="0" smtClean="0"/>
              <a:t>08/12/2025</a:t>
            </a:fld>
            <a:endParaRPr lang="pt-BR" noProof="0" dirty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 dirty="0"/>
              <a:t>Equipe_04</a:t>
            </a:r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7DC1BBB0-96F0-4077-A278-0F3FB5C104D3}" type="slidenum">
              <a:rPr lang="pt-BR" noProof="0" smtClean="0"/>
              <a:pPr rtl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78381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 bwMode="gray">
          <a:xfrm>
            <a:off x="621792" y="0"/>
            <a:ext cx="4147717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 rtl="0"/>
            <a:endParaRPr lang="pt-BR" noProof="0" dirty="0"/>
          </a:p>
        </p:txBody>
      </p:sp>
      <p:sp>
        <p:nvSpPr>
          <p:cNvPr id="9" name="Retângulo 8"/>
          <p:cNvSpPr/>
          <p:nvPr/>
        </p:nvSpPr>
        <p:spPr bwMode="ltGray"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 rtl="0"/>
            <a:endParaRPr lang="pt-BR" noProof="0" dirty="0"/>
          </a:p>
        </p:txBody>
      </p:sp>
      <p:cxnSp>
        <p:nvCxnSpPr>
          <p:cNvPr id="10" name="Conector reto 9"/>
          <p:cNvCxnSpPr/>
          <p:nvPr/>
        </p:nvCxnSpPr>
        <p:spPr bwMode="white">
          <a:xfrm>
            <a:off x="621792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tângulo 10"/>
          <p:cNvSpPr/>
          <p:nvPr/>
        </p:nvSpPr>
        <p:spPr bwMode="gray">
          <a:xfrm>
            <a:off x="11884104" y="0"/>
            <a:ext cx="304721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 rtl="0"/>
            <a:endParaRPr lang="pt-BR" noProof="0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 bwMode="white">
          <a:xfrm>
            <a:off x="1074240" y="381000"/>
            <a:ext cx="3293422" cy="1371600"/>
          </a:xfrm>
        </p:spPr>
        <p:txBody>
          <a:bodyPr rtlCol="0" anchor="b">
            <a:normAutofit/>
          </a:bodyPr>
          <a:lstStyle>
            <a:lvl1pPr algn="l">
              <a:defRPr sz="2800" b="0" cap="all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0251" y="482600"/>
            <a:ext cx="6195986" cy="5689600"/>
          </a:xfrm>
        </p:spPr>
        <p:txBody>
          <a:bodyPr rtlCol="0"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 baseline="0"/>
            </a:lvl8pPr>
            <a:lvl9pPr>
              <a:defRPr sz="1800" baseline="0"/>
            </a:lvl9pPr>
          </a:lstStyle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 bwMode="white">
          <a:xfrm>
            <a:off x="1074240" y="1828800"/>
            <a:ext cx="3293422" cy="4343400"/>
          </a:xfrm>
        </p:spPr>
        <p:txBody>
          <a:bodyPr rtlCol="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68E7951-E498-47D1-BE16-2C63407A06A1}" type="datetime1">
              <a:rPr lang="pt-BR" noProof="0" smtClean="0"/>
              <a:t>08/12/2025</a:t>
            </a:fld>
            <a:endParaRPr lang="pt-BR" noProof="0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 dirty="0"/>
              <a:t>Equipe_04</a:t>
            </a:r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DC1BBB0-96F0-4077-A278-0F3FB5C104D3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518043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/>
          <p:cNvSpPr/>
          <p:nvPr/>
        </p:nvSpPr>
        <p:spPr bwMode="gray"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 rtl="0"/>
            <a:endParaRPr lang="pt-BR" noProof="0" dirty="0"/>
          </a:p>
        </p:txBody>
      </p:sp>
      <p:sp>
        <p:nvSpPr>
          <p:cNvPr id="8" name="Retângulo 7"/>
          <p:cNvSpPr/>
          <p:nvPr/>
        </p:nvSpPr>
        <p:spPr bwMode="black">
          <a:xfrm>
            <a:off x="11884104" y="0"/>
            <a:ext cx="304721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 rtl="0"/>
            <a:endParaRPr lang="pt-BR" noProof="0" dirty="0"/>
          </a:p>
        </p:txBody>
      </p:sp>
      <p:sp>
        <p:nvSpPr>
          <p:cNvPr id="9" name="Retângulo 8"/>
          <p:cNvSpPr/>
          <p:nvPr/>
        </p:nvSpPr>
        <p:spPr bwMode="ltGray">
          <a:xfrm>
            <a:off x="4875530" y="0"/>
            <a:ext cx="7017034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 rtl="0"/>
            <a:endParaRPr lang="pt-BR" noProof="0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74240" y="381000"/>
            <a:ext cx="3293422" cy="1371600"/>
          </a:xfrm>
        </p:spPr>
        <p:txBody>
          <a:bodyPr rtlCol="0" anchor="b">
            <a:normAutofit/>
          </a:bodyPr>
          <a:lstStyle>
            <a:lvl1pPr algn="l">
              <a:defRPr sz="2800" b="0" cap="all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imagem 2" descr="Um espaço reservado vazio para adicionar uma imagem. Clique no espaço reservado e selecione a imagem que você deseja adicionar"/>
          <p:cNvSpPr>
            <a:spLocks noGrp="1"/>
          </p:cNvSpPr>
          <p:nvPr>
            <p:ph type="pic" idx="1"/>
          </p:nvPr>
        </p:nvSpPr>
        <p:spPr bwMode="auto">
          <a:xfrm>
            <a:off x="5180251" y="482600"/>
            <a:ext cx="6195986" cy="5689600"/>
          </a:xfrm>
          <a:ln w="19050">
            <a:solidFill>
              <a:schemeClr val="bg1"/>
            </a:solidFill>
          </a:ln>
        </p:spPr>
        <p:txBody>
          <a:bodyPr rtlCol="0">
            <a:normAutofit/>
          </a:bodyPr>
          <a:lstStyle>
            <a:lvl1pPr marL="0" indent="0">
              <a:buNone/>
              <a:defRPr sz="2800" baseline="0">
                <a:solidFill>
                  <a:schemeClr val="tx2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pt-BR" noProof="0" dirty="0"/>
              <a:t>Clique no ícone para adicionar uma imagem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074240" y="1828800"/>
            <a:ext cx="3293422" cy="4343400"/>
          </a:xfrm>
        </p:spPr>
        <p:txBody>
          <a:bodyPr rtlCol="0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pPr rtl="0"/>
            <a:fld id="{B6D5139B-774C-4260-8335-315AD6FC9ED3}" type="datetime1">
              <a:rPr lang="pt-BR" noProof="0" smtClean="0"/>
              <a:t>08/12/2025</a:t>
            </a:fld>
            <a:endParaRPr lang="pt-BR" noProof="0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pPr rtl="0"/>
            <a:r>
              <a:rPr lang="pt-BR" noProof="0" dirty="0"/>
              <a:t>Equipe_04</a:t>
            </a:r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pPr rtl="0"/>
            <a:fld id="{7DC1BBB0-96F0-4077-A278-0F3FB5C104D3}" type="slidenum">
              <a:rPr lang="pt-BR" noProof="0" smtClean="0"/>
              <a:pPr rtl="0"/>
              <a:t>‹nº›</a:t>
            </a:fld>
            <a:endParaRPr lang="pt-BR" noProof="0" dirty="0"/>
          </a:p>
        </p:txBody>
      </p:sp>
      <p:cxnSp>
        <p:nvCxnSpPr>
          <p:cNvPr id="10" name="Conector reto 9"/>
          <p:cNvCxnSpPr/>
          <p:nvPr/>
        </p:nvCxnSpPr>
        <p:spPr bwMode="white">
          <a:xfrm>
            <a:off x="11879867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3900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BAAB6E8-DECC-4374-9E89-4B608ECFE3D5}" type="datetime1">
              <a:rPr lang="pt-BR" noProof="0" smtClean="0"/>
              <a:t>08/12/2025</a:t>
            </a:fld>
            <a:endParaRPr lang="pt-BR" noProof="0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 dirty="0"/>
              <a:t>Equipe_04</a:t>
            </a:r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DC1BBB0-96F0-4077-A278-0F3FB5C104D3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040880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 bwMode="black">
          <a:xfrm>
            <a:off x="11884104" y="0"/>
            <a:ext cx="304721" cy="6858000"/>
          </a:xfrm>
          <a:prstGeom prst="rect">
            <a:avLst/>
          </a:pr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 rtl="0"/>
            <a:endParaRPr lang="pt-BR" noProof="0" dirty="0"/>
          </a:p>
        </p:txBody>
      </p:sp>
      <p:sp>
        <p:nvSpPr>
          <p:cNvPr id="8" name="Retângulo 7"/>
          <p:cNvSpPr/>
          <p:nvPr/>
        </p:nvSpPr>
        <p:spPr bwMode="ltGray">
          <a:xfrm>
            <a:off x="617143" y="0"/>
            <a:ext cx="60944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pt-BR" noProof="0" dirty="0"/>
          </a:p>
        </p:txBody>
      </p:sp>
      <p:sp>
        <p:nvSpPr>
          <p:cNvPr id="9" name="Retângulo 8"/>
          <p:cNvSpPr/>
          <p:nvPr/>
        </p:nvSpPr>
        <p:spPr bwMode="gray"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8784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pt-BR" noProof="0" dirty="0"/>
          </a:p>
        </p:txBody>
      </p:sp>
      <p:sp>
        <p:nvSpPr>
          <p:cNvPr id="10" name="Retângulo 9"/>
          <p:cNvSpPr/>
          <p:nvPr/>
        </p:nvSpPr>
        <p:spPr bwMode="black">
          <a:xfrm>
            <a:off x="617143" y="736219"/>
            <a:ext cx="609441" cy="609600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 dirty="0"/>
          </a:p>
        </p:txBody>
      </p:sp>
      <p:cxnSp>
        <p:nvCxnSpPr>
          <p:cNvPr id="11" name="Conector reto 10"/>
          <p:cNvCxnSpPr/>
          <p:nvPr/>
        </p:nvCxnSpPr>
        <p:spPr bwMode="white">
          <a:xfrm>
            <a:off x="617143" y="736219"/>
            <a:ext cx="60944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/>
          <p:nvPr/>
        </p:nvCxnSpPr>
        <p:spPr bwMode="white">
          <a:xfrm>
            <a:off x="617143" y="1345819"/>
            <a:ext cx="60944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"/>
          <p:cNvSpPr>
            <a:spLocks/>
          </p:cNvSpPr>
          <p:nvPr/>
        </p:nvSpPr>
        <p:spPr bwMode="white">
          <a:xfrm rot="5400000">
            <a:off x="756095" y="898102"/>
            <a:ext cx="336023" cy="294097"/>
          </a:xfrm>
          <a:custGeom>
            <a:avLst/>
            <a:gdLst>
              <a:gd name="T0" fmla="*/ 411 w 426"/>
              <a:gd name="T1" fmla="*/ 0 h 372"/>
              <a:gd name="T2" fmla="*/ 90 w 426"/>
              <a:gd name="T3" fmla="*/ 0 h 372"/>
              <a:gd name="T4" fmla="*/ 3 w 426"/>
              <a:gd name="T5" fmla="*/ 64 h 372"/>
              <a:gd name="T6" fmla="*/ 12 w 426"/>
              <a:gd name="T7" fmla="*/ 83 h 372"/>
              <a:gd name="T8" fmla="*/ 17 w 426"/>
              <a:gd name="T9" fmla="*/ 83 h 372"/>
              <a:gd name="T10" fmla="*/ 31 w 426"/>
              <a:gd name="T11" fmla="*/ 73 h 372"/>
              <a:gd name="T12" fmla="*/ 90 w 426"/>
              <a:gd name="T13" fmla="*/ 30 h 372"/>
              <a:gd name="T14" fmla="*/ 131 w 426"/>
              <a:gd name="T15" fmla="*/ 30 h 372"/>
              <a:gd name="T16" fmla="*/ 61 w 426"/>
              <a:gd name="T17" fmla="*/ 334 h 372"/>
              <a:gd name="T18" fmla="*/ 61 w 426"/>
              <a:gd name="T19" fmla="*/ 355 h 372"/>
              <a:gd name="T20" fmla="*/ 72 w 426"/>
              <a:gd name="T21" fmla="*/ 359 h 372"/>
              <a:gd name="T22" fmla="*/ 83 w 426"/>
              <a:gd name="T23" fmla="*/ 355 h 372"/>
              <a:gd name="T24" fmla="*/ 161 w 426"/>
              <a:gd name="T25" fmla="*/ 30 h 372"/>
              <a:gd name="T26" fmla="*/ 272 w 426"/>
              <a:gd name="T27" fmla="*/ 30 h 372"/>
              <a:gd name="T28" fmla="*/ 253 w 426"/>
              <a:gd name="T29" fmla="*/ 270 h 372"/>
              <a:gd name="T30" fmla="*/ 277 w 426"/>
              <a:gd name="T31" fmla="*/ 355 h 372"/>
              <a:gd name="T32" fmla="*/ 322 w 426"/>
              <a:gd name="T33" fmla="*/ 372 h 372"/>
              <a:gd name="T34" fmla="*/ 335 w 426"/>
              <a:gd name="T35" fmla="*/ 371 h 372"/>
              <a:gd name="T36" fmla="*/ 417 w 426"/>
              <a:gd name="T37" fmla="*/ 280 h 372"/>
              <a:gd name="T38" fmla="*/ 406 w 426"/>
              <a:gd name="T39" fmla="*/ 262 h 372"/>
              <a:gd name="T40" fmla="*/ 388 w 426"/>
              <a:gd name="T41" fmla="*/ 273 h 372"/>
              <a:gd name="T42" fmla="*/ 331 w 426"/>
              <a:gd name="T43" fmla="*/ 341 h 372"/>
              <a:gd name="T44" fmla="*/ 298 w 426"/>
              <a:gd name="T45" fmla="*/ 333 h 372"/>
              <a:gd name="T46" fmla="*/ 283 w 426"/>
              <a:gd name="T47" fmla="*/ 272 h 372"/>
              <a:gd name="T48" fmla="*/ 302 w 426"/>
              <a:gd name="T49" fmla="*/ 30 h 372"/>
              <a:gd name="T50" fmla="*/ 411 w 426"/>
              <a:gd name="T51" fmla="*/ 30 h 372"/>
              <a:gd name="T52" fmla="*/ 426 w 426"/>
              <a:gd name="T53" fmla="*/ 15 h 372"/>
              <a:gd name="T54" fmla="*/ 411 w 426"/>
              <a:gd name="T55" fmla="*/ 0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426" h="372">
                <a:moveTo>
                  <a:pt x="411" y="0"/>
                </a:moveTo>
                <a:cubicBezTo>
                  <a:pt x="90" y="0"/>
                  <a:pt x="90" y="0"/>
                  <a:pt x="90" y="0"/>
                </a:cubicBezTo>
                <a:cubicBezTo>
                  <a:pt x="25" y="0"/>
                  <a:pt x="4" y="61"/>
                  <a:pt x="3" y="64"/>
                </a:cubicBezTo>
                <a:cubicBezTo>
                  <a:pt x="0" y="71"/>
                  <a:pt x="4" y="80"/>
                  <a:pt x="12" y="83"/>
                </a:cubicBezTo>
                <a:cubicBezTo>
                  <a:pt x="14" y="83"/>
                  <a:pt x="15" y="83"/>
                  <a:pt x="17" y="83"/>
                </a:cubicBezTo>
                <a:cubicBezTo>
                  <a:pt x="23" y="83"/>
                  <a:pt x="29" y="80"/>
                  <a:pt x="31" y="73"/>
                </a:cubicBezTo>
                <a:cubicBezTo>
                  <a:pt x="31" y="73"/>
                  <a:pt x="46" y="30"/>
                  <a:pt x="90" y="30"/>
                </a:cubicBezTo>
                <a:cubicBezTo>
                  <a:pt x="131" y="30"/>
                  <a:pt x="131" y="30"/>
                  <a:pt x="131" y="30"/>
                </a:cubicBezTo>
                <a:cubicBezTo>
                  <a:pt x="129" y="83"/>
                  <a:pt x="118" y="274"/>
                  <a:pt x="61" y="334"/>
                </a:cubicBezTo>
                <a:cubicBezTo>
                  <a:pt x="55" y="340"/>
                  <a:pt x="55" y="350"/>
                  <a:pt x="61" y="355"/>
                </a:cubicBezTo>
                <a:cubicBezTo>
                  <a:pt x="64" y="358"/>
                  <a:pt x="68" y="359"/>
                  <a:pt x="72" y="359"/>
                </a:cubicBezTo>
                <a:cubicBezTo>
                  <a:pt x="76" y="359"/>
                  <a:pt x="80" y="358"/>
                  <a:pt x="83" y="355"/>
                </a:cubicBezTo>
                <a:cubicBezTo>
                  <a:pt x="148" y="286"/>
                  <a:pt x="159" y="84"/>
                  <a:pt x="161" y="30"/>
                </a:cubicBezTo>
                <a:cubicBezTo>
                  <a:pt x="272" y="30"/>
                  <a:pt x="272" y="30"/>
                  <a:pt x="272" y="30"/>
                </a:cubicBezTo>
                <a:cubicBezTo>
                  <a:pt x="253" y="270"/>
                  <a:pt x="253" y="270"/>
                  <a:pt x="253" y="270"/>
                </a:cubicBezTo>
                <a:cubicBezTo>
                  <a:pt x="253" y="272"/>
                  <a:pt x="248" y="327"/>
                  <a:pt x="277" y="355"/>
                </a:cubicBezTo>
                <a:cubicBezTo>
                  <a:pt x="289" y="366"/>
                  <a:pt x="304" y="372"/>
                  <a:pt x="322" y="372"/>
                </a:cubicBezTo>
                <a:cubicBezTo>
                  <a:pt x="326" y="372"/>
                  <a:pt x="330" y="372"/>
                  <a:pt x="335" y="371"/>
                </a:cubicBezTo>
                <a:cubicBezTo>
                  <a:pt x="398" y="362"/>
                  <a:pt x="416" y="283"/>
                  <a:pt x="417" y="280"/>
                </a:cubicBezTo>
                <a:cubicBezTo>
                  <a:pt x="419" y="271"/>
                  <a:pt x="414" y="264"/>
                  <a:pt x="406" y="262"/>
                </a:cubicBezTo>
                <a:cubicBezTo>
                  <a:pt x="398" y="260"/>
                  <a:pt x="390" y="265"/>
                  <a:pt x="388" y="273"/>
                </a:cubicBezTo>
                <a:cubicBezTo>
                  <a:pt x="388" y="274"/>
                  <a:pt x="373" y="335"/>
                  <a:pt x="331" y="341"/>
                </a:cubicBezTo>
                <a:cubicBezTo>
                  <a:pt x="316" y="343"/>
                  <a:pt x="306" y="341"/>
                  <a:pt x="298" y="333"/>
                </a:cubicBezTo>
                <a:cubicBezTo>
                  <a:pt x="282" y="318"/>
                  <a:pt x="282" y="284"/>
                  <a:pt x="283" y="272"/>
                </a:cubicBezTo>
                <a:cubicBezTo>
                  <a:pt x="302" y="30"/>
                  <a:pt x="302" y="30"/>
                  <a:pt x="302" y="30"/>
                </a:cubicBezTo>
                <a:cubicBezTo>
                  <a:pt x="411" y="30"/>
                  <a:pt x="411" y="30"/>
                  <a:pt x="411" y="30"/>
                </a:cubicBezTo>
                <a:cubicBezTo>
                  <a:pt x="419" y="30"/>
                  <a:pt x="426" y="24"/>
                  <a:pt x="426" y="15"/>
                </a:cubicBezTo>
                <a:cubicBezTo>
                  <a:pt x="426" y="7"/>
                  <a:pt x="419" y="0"/>
                  <a:pt x="41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pt-BR" noProof="0" dirty="0"/>
          </a:p>
        </p:txBody>
      </p:sp>
      <p:cxnSp>
        <p:nvCxnSpPr>
          <p:cNvPr id="14" name="Conector reto 13"/>
          <p:cNvCxnSpPr/>
          <p:nvPr/>
        </p:nvCxnSpPr>
        <p:spPr bwMode="white">
          <a:xfrm>
            <a:off x="617143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9599612" y="685800"/>
            <a:ext cx="1787526" cy="5486400"/>
          </a:xfrm>
        </p:spPr>
        <p:txBody>
          <a:bodyPr vert="eaVert"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1598613" y="685800"/>
            <a:ext cx="7848599" cy="5486400"/>
          </a:xfrm>
        </p:spPr>
        <p:txBody>
          <a:bodyPr vert="eaVert" rtlCol="0"/>
          <a:lstStyle/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AEE400E-D093-4D95-9BEC-411F2E346232}" type="datetime1">
              <a:rPr lang="pt-BR" noProof="0" smtClean="0"/>
              <a:t>08/12/2025</a:t>
            </a:fld>
            <a:endParaRPr lang="pt-BR" noProof="0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 dirty="0"/>
              <a:t>Equipe_04</a:t>
            </a:r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DC1BBB0-96F0-4077-A278-0F3FB5C104D3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612817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 bwMode="gray">
          <a:xfrm>
            <a:off x="11884104" y="0"/>
            <a:ext cx="304721" cy="6858000"/>
          </a:xfrm>
          <a:prstGeom prst="rect">
            <a:avLst/>
          </a:pr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 rtl="0"/>
            <a:endParaRPr lang="pt-BR" noProof="0" dirty="0"/>
          </a:p>
        </p:txBody>
      </p:sp>
      <p:sp>
        <p:nvSpPr>
          <p:cNvPr id="8" name="Retângulo 7"/>
          <p:cNvSpPr/>
          <p:nvPr/>
        </p:nvSpPr>
        <p:spPr bwMode="ltGray">
          <a:xfrm>
            <a:off x="617143" y="0"/>
            <a:ext cx="60944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pt-BR" noProof="0" dirty="0"/>
          </a:p>
        </p:txBody>
      </p:sp>
      <p:sp>
        <p:nvSpPr>
          <p:cNvPr id="9" name="Retângulo 8"/>
          <p:cNvSpPr/>
          <p:nvPr/>
        </p:nvSpPr>
        <p:spPr bwMode="gray"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8784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pt-BR" noProof="0" dirty="0"/>
          </a:p>
        </p:txBody>
      </p:sp>
      <p:sp>
        <p:nvSpPr>
          <p:cNvPr id="13" name="Retângulo 12"/>
          <p:cNvSpPr/>
          <p:nvPr/>
        </p:nvSpPr>
        <p:spPr bwMode="black">
          <a:xfrm>
            <a:off x="617143" y="736219"/>
            <a:ext cx="609441" cy="609600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 dirty="0"/>
          </a:p>
        </p:txBody>
      </p:sp>
      <p:cxnSp>
        <p:nvCxnSpPr>
          <p:cNvPr id="14" name="Conector reto 13"/>
          <p:cNvCxnSpPr/>
          <p:nvPr/>
        </p:nvCxnSpPr>
        <p:spPr bwMode="white">
          <a:xfrm>
            <a:off x="617143" y="736219"/>
            <a:ext cx="60944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/>
          <p:nvPr/>
        </p:nvCxnSpPr>
        <p:spPr bwMode="white">
          <a:xfrm>
            <a:off x="617143" y="1345819"/>
            <a:ext cx="60944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Pi"/>
          <p:cNvSpPr>
            <a:spLocks/>
          </p:cNvSpPr>
          <p:nvPr/>
        </p:nvSpPr>
        <p:spPr bwMode="white">
          <a:xfrm>
            <a:off x="756095" y="898102"/>
            <a:ext cx="336023" cy="294097"/>
          </a:xfrm>
          <a:custGeom>
            <a:avLst/>
            <a:gdLst>
              <a:gd name="T0" fmla="*/ 411 w 426"/>
              <a:gd name="T1" fmla="*/ 0 h 372"/>
              <a:gd name="T2" fmla="*/ 90 w 426"/>
              <a:gd name="T3" fmla="*/ 0 h 372"/>
              <a:gd name="T4" fmla="*/ 3 w 426"/>
              <a:gd name="T5" fmla="*/ 64 h 372"/>
              <a:gd name="T6" fmla="*/ 12 w 426"/>
              <a:gd name="T7" fmla="*/ 83 h 372"/>
              <a:gd name="T8" fmla="*/ 17 w 426"/>
              <a:gd name="T9" fmla="*/ 83 h 372"/>
              <a:gd name="T10" fmla="*/ 31 w 426"/>
              <a:gd name="T11" fmla="*/ 73 h 372"/>
              <a:gd name="T12" fmla="*/ 90 w 426"/>
              <a:gd name="T13" fmla="*/ 30 h 372"/>
              <a:gd name="T14" fmla="*/ 131 w 426"/>
              <a:gd name="T15" fmla="*/ 30 h 372"/>
              <a:gd name="T16" fmla="*/ 61 w 426"/>
              <a:gd name="T17" fmla="*/ 334 h 372"/>
              <a:gd name="T18" fmla="*/ 61 w 426"/>
              <a:gd name="T19" fmla="*/ 355 h 372"/>
              <a:gd name="T20" fmla="*/ 72 w 426"/>
              <a:gd name="T21" fmla="*/ 359 h 372"/>
              <a:gd name="T22" fmla="*/ 83 w 426"/>
              <a:gd name="T23" fmla="*/ 355 h 372"/>
              <a:gd name="T24" fmla="*/ 161 w 426"/>
              <a:gd name="T25" fmla="*/ 30 h 372"/>
              <a:gd name="T26" fmla="*/ 272 w 426"/>
              <a:gd name="T27" fmla="*/ 30 h 372"/>
              <a:gd name="T28" fmla="*/ 253 w 426"/>
              <a:gd name="T29" fmla="*/ 270 h 372"/>
              <a:gd name="T30" fmla="*/ 277 w 426"/>
              <a:gd name="T31" fmla="*/ 355 h 372"/>
              <a:gd name="T32" fmla="*/ 322 w 426"/>
              <a:gd name="T33" fmla="*/ 372 h 372"/>
              <a:gd name="T34" fmla="*/ 335 w 426"/>
              <a:gd name="T35" fmla="*/ 371 h 372"/>
              <a:gd name="T36" fmla="*/ 417 w 426"/>
              <a:gd name="T37" fmla="*/ 280 h 372"/>
              <a:gd name="T38" fmla="*/ 406 w 426"/>
              <a:gd name="T39" fmla="*/ 262 h 372"/>
              <a:gd name="T40" fmla="*/ 388 w 426"/>
              <a:gd name="T41" fmla="*/ 273 h 372"/>
              <a:gd name="T42" fmla="*/ 331 w 426"/>
              <a:gd name="T43" fmla="*/ 341 h 372"/>
              <a:gd name="T44" fmla="*/ 298 w 426"/>
              <a:gd name="T45" fmla="*/ 333 h 372"/>
              <a:gd name="T46" fmla="*/ 283 w 426"/>
              <a:gd name="T47" fmla="*/ 272 h 372"/>
              <a:gd name="T48" fmla="*/ 302 w 426"/>
              <a:gd name="T49" fmla="*/ 30 h 372"/>
              <a:gd name="T50" fmla="*/ 411 w 426"/>
              <a:gd name="T51" fmla="*/ 30 h 372"/>
              <a:gd name="T52" fmla="*/ 426 w 426"/>
              <a:gd name="T53" fmla="*/ 15 h 372"/>
              <a:gd name="T54" fmla="*/ 411 w 426"/>
              <a:gd name="T55" fmla="*/ 0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426" h="372">
                <a:moveTo>
                  <a:pt x="411" y="0"/>
                </a:moveTo>
                <a:cubicBezTo>
                  <a:pt x="90" y="0"/>
                  <a:pt x="90" y="0"/>
                  <a:pt x="90" y="0"/>
                </a:cubicBezTo>
                <a:cubicBezTo>
                  <a:pt x="25" y="0"/>
                  <a:pt x="4" y="61"/>
                  <a:pt x="3" y="64"/>
                </a:cubicBezTo>
                <a:cubicBezTo>
                  <a:pt x="0" y="71"/>
                  <a:pt x="4" y="80"/>
                  <a:pt x="12" y="83"/>
                </a:cubicBezTo>
                <a:cubicBezTo>
                  <a:pt x="14" y="83"/>
                  <a:pt x="15" y="83"/>
                  <a:pt x="17" y="83"/>
                </a:cubicBezTo>
                <a:cubicBezTo>
                  <a:pt x="23" y="83"/>
                  <a:pt x="29" y="80"/>
                  <a:pt x="31" y="73"/>
                </a:cubicBezTo>
                <a:cubicBezTo>
                  <a:pt x="31" y="73"/>
                  <a:pt x="46" y="30"/>
                  <a:pt x="90" y="30"/>
                </a:cubicBezTo>
                <a:cubicBezTo>
                  <a:pt x="131" y="30"/>
                  <a:pt x="131" y="30"/>
                  <a:pt x="131" y="30"/>
                </a:cubicBezTo>
                <a:cubicBezTo>
                  <a:pt x="129" y="83"/>
                  <a:pt x="118" y="274"/>
                  <a:pt x="61" y="334"/>
                </a:cubicBezTo>
                <a:cubicBezTo>
                  <a:pt x="55" y="340"/>
                  <a:pt x="55" y="350"/>
                  <a:pt x="61" y="355"/>
                </a:cubicBezTo>
                <a:cubicBezTo>
                  <a:pt x="64" y="358"/>
                  <a:pt x="68" y="359"/>
                  <a:pt x="72" y="359"/>
                </a:cubicBezTo>
                <a:cubicBezTo>
                  <a:pt x="76" y="359"/>
                  <a:pt x="80" y="358"/>
                  <a:pt x="83" y="355"/>
                </a:cubicBezTo>
                <a:cubicBezTo>
                  <a:pt x="148" y="286"/>
                  <a:pt x="159" y="84"/>
                  <a:pt x="161" y="30"/>
                </a:cubicBezTo>
                <a:cubicBezTo>
                  <a:pt x="272" y="30"/>
                  <a:pt x="272" y="30"/>
                  <a:pt x="272" y="30"/>
                </a:cubicBezTo>
                <a:cubicBezTo>
                  <a:pt x="253" y="270"/>
                  <a:pt x="253" y="270"/>
                  <a:pt x="253" y="270"/>
                </a:cubicBezTo>
                <a:cubicBezTo>
                  <a:pt x="253" y="272"/>
                  <a:pt x="248" y="327"/>
                  <a:pt x="277" y="355"/>
                </a:cubicBezTo>
                <a:cubicBezTo>
                  <a:pt x="289" y="366"/>
                  <a:pt x="304" y="372"/>
                  <a:pt x="322" y="372"/>
                </a:cubicBezTo>
                <a:cubicBezTo>
                  <a:pt x="326" y="372"/>
                  <a:pt x="330" y="372"/>
                  <a:pt x="335" y="371"/>
                </a:cubicBezTo>
                <a:cubicBezTo>
                  <a:pt x="398" y="362"/>
                  <a:pt x="416" y="283"/>
                  <a:pt x="417" y="280"/>
                </a:cubicBezTo>
                <a:cubicBezTo>
                  <a:pt x="419" y="271"/>
                  <a:pt x="414" y="264"/>
                  <a:pt x="406" y="262"/>
                </a:cubicBezTo>
                <a:cubicBezTo>
                  <a:pt x="398" y="260"/>
                  <a:pt x="390" y="265"/>
                  <a:pt x="388" y="273"/>
                </a:cubicBezTo>
                <a:cubicBezTo>
                  <a:pt x="388" y="274"/>
                  <a:pt x="373" y="335"/>
                  <a:pt x="331" y="341"/>
                </a:cubicBezTo>
                <a:cubicBezTo>
                  <a:pt x="316" y="343"/>
                  <a:pt x="306" y="341"/>
                  <a:pt x="298" y="333"/>
                </a:cubicBezTo>
                <a:cubicBezTo>
                  <a:pt x="282" y="318"/>
                  <a:pt x="282" y="284"/>
                  <a:pt x="283" y="272"/>
                </a:cubicBezTo>
                <a:cubicBezTo>
                  <a:pt x="302" y="30"/>
                  <a:pt x="302" y="30"/>
                  <a:pt x="302" y="30"/>
                </a:cubicBezTo>
                <a:cubicBezTo>
                  <a:pt x="411" y="30"/>
                  <a:pt x="411" y="30"/>
                  <a:pt x="411" y="30"/>
                </a:cubicBezTo>
                <a:cubicBezTo>
                  <a:pt x="419" y="30"/>
                  <a:pt x="426" y="24"/>
                  <a:pt x="426" y="15"/>
                </a:cubicBezTo>
                <a:cubicBezTo>
                  <a:pt x="426" y="7"/>
                  <a:pt x="419" y="0"/>
                  <a:pt x="41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pt-BR" noProof="0" dirty="0"/>
          </a:p>
        </p:txBody>
      </p:sp>
      <p:cxnSp>
        <p:nvCxnSpPr>
          <p:cNvPr id="16" name="Conector reto 15"/>
          <p:cNvCxnSpPr/>
          <p:nvPr/>
        </p:nvCxnSpPr>
        <p:spPr bwMode="white">
          <a:xfrm>
            <a:off x="617143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1593436" y="177800"/>
            <a:ext cx="9782801" cy="12398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pt-BR" noProof="0" dirty="0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593436" y="1600200"/>
            <a:ext cx="9782801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pt-BR" noProof="0" dirty="0"/>
              <a:t>Clique para editar o texto Mestre</a:t>
            </a:r>
          </a:p>
          <a:p>
            <a:pPr lvl="1" rtl="0"/>
            <a:r>
              <a:rPr lang="pt-BR" noProof="0" dirty="0"/>
              <a:t>Segundo nível</a:t>
            </a:r>
          </a:p>
          <a:p>
            <a:pPr lvl="2" rtl="0"/>
            <a:r>
              <a:rPr lang="pt-BR" noProof="0" dirty="0"/>
              <a:t>Terceiro nível</a:t>
            </a:r>
          </a:p>
          <a:p>
            <a:pPr lvl="3" rtl="0"/>
            <a:r>
              <a:rPr lang="pt-BR" noProof="0" dirty="0"/>
              <a:t>Quarto nível</a:t>
            </a:r>
          </a:p>
          <a:p>
            <a:pPr lvl="4" rtl="0"/>
            <a:r>
              <a:rPr lang="pt-BR" noProof="0" dirty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5180250" y="6356351"/>
            <a:ext cx="12188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cap="all" baseline="0">
                <a:solidFill>
                  <a:schemeClr val="tx1"/>
                </a:solidFill>
              </a:defRPr>
            </a:lvl1pPr>
          </a:lstStyle>
          <a:p>
            <a:pPr rtl="0"/>
            <a:fld id="{20DFF7A9-BA36-411E-AE0E-59A71496C0E4}" type="datetime1">
              <a:rPr lang="pt-BR" noProof="0" smtClean="0"/>
              <a:t>08/12/2025</a:t>
            </a:fld>
            <a:endParaRPr lang="pt-BR" noProof="0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6595933" y="6356351"/>
            <a:ext cx="39740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cap="all" baseline="0">
                <a:solidFill>
                  <a:schemeClr val="tx1"/>
                </a:solidFill>
              </a:defRPr>
            </a:lvl1pPr>
          </a:lstStyle>
          <a:p>
            <a:pPr rtl="0"/>
            <a:r>
              <a:rPr lang="pt-BR" noProof="0" dirty="0"/>
              <a:t>Equipe_04</a:t>
            </a:r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4"/>
          </p:nvPr>
        </p:nvSpPr>
        <p:spPr>
          <a:xfrm>
            <a:off x="10766796" y="6356351"/>
            <a:ext cx="6094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cap="all" baseline="0">
                <a:solidFill>
                  <a:schemeClr val="tx1"/>
                </a:solidFill>
              </a:defRPr>
            </a:lvl1pPr>
          </a:lstStyle>
          <a:p>
            <a:pPr rtl="0"/>
            <a:fld id="{7DC1BBB0-96F0-4077-A278-0F3FB5C104D3}" type="slidenum">
              <a:rPr lang="pt-BR" noProof="0" smtClean="0"/>
              <a:pPr rtl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054322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46888" indent="-246888" algn="l" defTabSz="914400" rtl="0" eaLnBrk="1" latinLnBrk="0" hangingPunct="1">
        <a:lnSpc>
          <a:spcPct val="90000"/>
        </a:lnSpc>
        <a:spcBef>
          <a:spcPts val="1400"/>
        </a:spcBef>
        <a:buFont typeface="Euphemia" pitchFamily="34" charset="0"/>
        <a:buChar char="›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1264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7840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›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44168" indent="-246888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70992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›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07568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44144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›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80720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17296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›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slide" Target="slide8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slide" Target="slide8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" Target="slide8.xml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2.jpeg"/><Relationship Id="rId9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slide" Target="slide8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jp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slide" Target="slide8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hyperlink" Target="https://br.freepik.com/fotos/negocio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eg"/><Relationship Id="rId13" Type="http://schemas.openxmlformats.org/officeDocument/2006/relationships/image" Target="../media/image21.png"/><Relationship Id="rId3" Type="http://schemas.openxmlformats.org/officeDocument/2006/relationships/image" Target="../media/image1.png"/><Relationship Id="rId7" Type="http://schemas.openxmlformats.org/officeDocument/2006/relationships/image" Target="../media/image15.jpeg"/><Relationship Id="rId12" Type="http://schemas.openxmlformats.org/officeDocument/2006/relationships/image" Target="../media/image20.png"/><Relationship Id="rId17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3.png"/><Relationship Id="rId15" Type="http://schemas.openxmlformats.org/officeDocument/2006/relationships/image" Target="../media/image23.png"/><Relationship Id="rId10" Type="http://schemas.openxmlformats.org/officeDocument/2006/relationships/image" Target="../media/image18.png"/><Relationship Id="rId4" Type="http://schemas.openxmlformats.org/officeDocument/2006/relationships/image" Target="../media/image2.jpeg"/><Relationship Id="rId9" Type="http://schemas.openxmlformats.org/officeDocument/2006/relationships/image" Target="../media/image17.png"/><Relationship Id="rId1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chart" Target="../charts/chart1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chart" Target="../charts/chart2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chart" Target="../charts/chart3.xm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jpe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Rodapé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BR" noProof="0" dirty="0"/>
              <a:t>Equipe_03</a:t>
            </a: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DC1BBB0-96F0-4077-A278-0F3FB5C104D3}" type="slidenum">
              <a:rPr lang="pt-BR" noProof="0" smtClean="0"/>
              <a:pPr rtl="0"/>
              <a:t>1</a:t>
            </a:fld>
            <a:endParaRPr lang="pt-BR" noProof="0" dirty="0"/>
          </a:p>
        </p:txBody>
      </p:sp>
      <p:sp>
        <p:nvSpPr>
          <p:cNvPr id="2" name="Título 1"/>
          <p:cNvSpPr>
            <a:spLocks noGrp="1"/>
          </p:cNvSpPr>
          <p:nvPr>
            <p:ph type="ctrTitle" idx="4294967295"/>
          </p:nvPr>
        </p:nvSpPr>
        <p:spPr>
          <a:xfrm>
            <a:off x="1929605" y="1532941"/>
            <a:ext cx="8329612" cy="1116013"/>
          </a:xfrm>
        </p:spPr>
        <p:txBody>
          <a:bodyPr rtlCol="0"/>
          <a:lstStyle/>
          <a:p>
            <a:pPr rtl="0"/>
            <a:r>
              <a:rPr lang="pt-BR" sz="4000" dirty="0"/>
              <a:t>Trabalho de Conclusão de Curso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4294967295"/>
          </p:nvPr>
        </p:nvSpPr>
        <p:spPr>
          <a:xfrm>
            <a:off x="3742088" y="2934714"/>
            <a:ext cx="4704646" cy="595313"/>
          </a:xfrm>
        </p:spPr>
        <p:txBody>
          <a:bodyPr rtlCol="0">
            <a:normAutofit/>
          </a:bodyPr>
          <a:lstStyle/>
          <a:p>
            <a:pPr rtl="0"/>
            <a:r>
              <a:rPr lang="pt-BR" sz="2400" dirty="0">
                <a:solidFill>
                  <a:schemeClr val="tx2">
                    <a:lumMod val="85000"/>
                    <a:lumOff val="15000"/>
                  </a:schemeClr>
                </a:solidFill>
              </a:rPr>
              <a:t>Desenvolvimento de Sistemas</a:t>
            </a:r>
          </a:p>
        </p:txBody>
      </p: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E773F132-2576-42A4-A8E2-E8C85095DDF4}"/>
              </a:ext>
            </a:extLst>
          </p:cNvPr>
          <p:cNvGrpSpPr/>
          <p:nvPr/>
        </p:nvGrpSpPr>
        <p:grpSpPr>
          <a:xfrm>
            <a:off x="2629213" y="0"/>
            <a:ext cx="6913821" cy="620688"/>
            <a:chOff x="2629213" y="0"/>
            <a:chExt cx="6913821" cy="620688"/>
          </a:xfrm>
        </p:grpSpPr>
        <p:pic>
          <p:nvPicPr>
            <p:cNvPr id="9" name="Imagem 8">
              <a:extLst>
                <a:ext uri="{FF2B5EF4-FFF2-40B4-BE49-F238E27FC236}">
                  <a16:creationId xmlns:a16="http://schemas.microsoft.com/office/drawing/2014/main" id="{2FDEB2B5-B9EA-C075-0877-C2747327468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44163" y="84791"/>
              <a:ext cx="1998871" cy="444194"/>
            </a:xfrm>
            <a:prstGeom prst="rect">
              <a:avLst/>
            </a:prstGeom>
          </p:spPr>
        </p:pic>
        <p:pic>
          <p:nvPicPr>
            <p:cNvPr id="10" name="Imagem 9" descr="Desenho com traços pretos em fundo branco e letras pretas em fundo branco&#10;&#10;Descrição gerada automaticamente com confiança média">
              <a:extLst>
                <a:ext uri="{FF2B5EF4-FFF2-40B4-BE49-F238E27FC236}">
                  <a16:creationId xmlns:a16="http://schemas.microsoft.com/office/drawing/2014/main" id="{E4D00AAF-7372-1224-7834-8FDBA2C4F9F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48617" y="116632"/>
              <a:ext cx="673021" cy="4441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Imagem 10">
              <a:extLst>
                <a:ext uri="{FF2B5EF4-FFF2-40B4-BE49-F238E27FC236}">
                  <a16:creationId xmlns:a16="http://schemas.microsoft.com/office/drawing/2014/main" id="{01D09122-4620-3F1A-69C8-80D230244E8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50549" y="116632"/>
              <a:ext cx="663678" cy="444194"/>
            </a:xfrm>
            <a:prstGeom prst="rect">
              <a:avLst/>
            </a:prstGeom>
          </p:spPr>
        </p:pic>
        <p:sp>
          <p:nvSpPr>
            <p:cNvPr id="13" name="Fluxograma: Processo 12">
              <a:extLst>
                <a:ext uri="{FF2B5EF4-FFF2-40B4-BE49-F238E27FC236}">
                  <a16:creationId xmlns:a16="http://schemas.microsoft.com/office/drawing/2014/main" id="{0E915286-BE23-4956-88DA-86EBF808B417}"/>
                </a:ext>
              </a:extLst>
            </p:cNvPr>
            <p:cNvSpPr/>
            <p:nvPr/>
          </p:nvSpPr>
          <p:spPr>
            <a:xfrm>
              <a:off x="2629213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4" name="Fluxograma: Processo 13">
              <a:extLst>
                <a:ext uri="{FF2B5EF4-FFF2-40B4-BE49-F238E27FC236}">
                  <a16:creationId xmlns:a16="http://schemas.microsoft.com/office/drawing/2014/main" id="{CB6A7877-8226-4B47-9164-83522AFE2D9C}"/>
                </a:ext>
              </a:extLst>
            </p:cNvPr>
            <p:cNvSpPr/>
            <p:nvPr/>
          </p:nvSpPr>
          <p:spPr>
            <a:xfrm>
              <a:off x="4909367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5" name="Fluxograma: Processo 14">
              <a:extLst>
                <a:ext uri="{FF2B5EF4-FFF2-40B4-BE49-F238E27FC236}">
                  <a16:creationId xmlns:a16="http://schemas.microsoft.com/office/drawing/2014/main" id="{C29B5421-EFEC-4C19-81A5-CAB27AB8C37A}"/>
                </a:ext>
              </a:extLst>
            </p:cNvPr>
            <p:cNvSpPr/>
            <p:nvPr/>
          </p:nvSpPr>
          <p:spPr>
            <a:xfrm>
              <a:off x="7215168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pic>
        <p:nvPicPr>
          <p:cNvPr id="18" name="Imagem 17">
            <a:extLst>
              <a:ext uri="{FF2B5EF4-FFF2-40B4-BE49-F238E27FC236}">
                <a16:creationId xmlns:a16="http://schemas.microsoft.com/office/drawing/2014/main" id="{D8ABE227-2204-4E77-A11D-590D3772DC2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256" y="96696"/>
            <a:ext cx="1514156" cy="523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76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Rodapé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BR" noProof="0" dirty="0"/>
              <a:t>Equipe_03</a:t>
            </a: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DC1BBB0-96F0-4077-A278-0F3FB5C104D3}" type="slidenum">
              <a:rPr lang="pt-BR" noProof="0" smtClean="0"/>
              <a:pPr rtl="0"/>
              <a:t>2</a:t>
            </a:fld>
            <a:endParaRPr lang="pt-BR" noProof="0" dirty="0"/>
          </a:p>
        </p:txBody>
      </p:sp>
      <p:sp>
        <p:nvSpPr>
          <p:cNvPr id="2" name="Título 1"/>
          <p:cNvSpPr>
            <a:spLocks noGrp="1"/>
          </p:cNvSpPr>
          <p:nvPr>
            <p:ph type="ctrTitle" idx="4294967295"/>
          </p:nvPr>
        </p:nvSpPr>
        <p:spPr>
          <a:xfrm>
            <a:off x="1053852" y="836712"/>
            <a:ext cx="6397054" cy="731260"/>
          </a:xfrm>
        </p:spPr>
        <p:txBody>
          <a:bodyPr rtlCol="0">
            <a:normAutofit/>
          </a:bodyPr>
          <a:lstStyle/>
          <a:p>
            <a:pPr rtl="0"/>
            <a:r>
              <a:rPr lang="pt-BR" sz="3200" dirty="0"/>
              <a:t>Trabalho de Conclusão de Curso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4294967295"/>
          </p:nvPr>
        </p:nvSpPr>
        <p:spPr>
          <a:xfrm>
            <a:off x="1116797" y="1506026"/>
            <a:ext cx="3969503" cy="595313"/>
          </a:xfrm>
        </p:spPr>
        <p:txBody>
          <a:bodyPr rtlCol="0">
            <a:normAutofit/>
          </a:bodyPr>
          <a:lstStyle/>
          <a:p>
            <a:pPr marL="0" indent="0" rtl="0">
              <a:buNone/>
            </a:pPr>
            <a:r>
              <a:rPr lang="pt-BR" sz="2000" dirty="0"/>
              <a:t>Desenvolvimento de Sistemas</a:t>
            </a:r>
          </a:p>
        </p:txBody>
      </p:sp>
      <p:sp>
        <p:nvSpPr>
          <p:cNvPr id="4" name="Espaço reservado para conteúdo 13">
            <a:extLst>
              <a:ext uri="{FF2B5EF4-FFF2-40B4-BE49-F238E27FC236}">
                <a16:creationId xmlns:a16="http://schemas.microsoft.com/office/drawing/2014/main" id="{49246EFC-B76B-4F23-B7D8-9CEB9EDD4763}"/>
              </a:ext>
            </a:extLst>
          </p:cNvPr>
          <p:cNvSpPr txBox="1">
            <a:spLocks/>
          </p:cNvSpPr>
          <p:nvPr/>
        </p:nvSpPr>
        <p:spPr>
          <a:xfrm>
            <a:off x="1053852" y="2743133"/>
            <a:ext cx="6840759" cy="1399069"/>
          </a:xfrm>
          <a:prstGeom prst="rect">
            <a:avLst/>
          </a:prstGeom>
        </p:spPr>
        <p:txBody>
          <a:bodyPr rtlCol="0">
            <a:norm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000" b="1" dirty="0">
                <a:solidFill>
                  <a:schemeClr val="tx2">
                    <a:lumMod val="85000"/>
                    <a:lumOff val="15000"/>
                  </a:schemeClr>
                </a:solidFill>
              </a:rPr>
              <a:t>Curso</a:t>
            </a:r>
            <a:r>
              <a:rPr lang="pt-BR" sz="2000" dirty="0">
                <a:solidFill>
                  <a:schemeClr val="tx2">
                    <a:lumMod val="85000"/>
                    <a:lumOff val="15000"/>
                  </a:schemeClr>
                </a:solidFill>
              </a:rPr>
              <a:t>: </a:t>
            </a:r>
            <a:r>
              <a:rPr lang="pt-BR" sz="2000" dirty="0"/>
              <a:t>Técnico em Desenvolvimento de Sistemas </a:t>
            </a:r>
          </a:p>
          <a:p>
            <a:r>
              <a:rPr lang="pt-BR" sz="2000" b="1" dirty="0">
                <a:solidFill>
                  <a:schemeClr val="tx2">
                    <a:lumMod val="85000"/>
                    <a:lumOff val="15000"/>
                  </a:schemeClr>
                </a:solidFill>
              </a:rPr>
              <a:t>Modulo: 2</a:t>
            </a:r>
            <a:r>
              <a:rPr lang="pt-BR" sz="2000" dirty="0">
                <a:solidFill>
                  <a:schemeClr val="tx2">
                    <a:lumMod val="85000"/>
                    <a:lumOff val="15000"/>
                  </a:schemeClr>
                </a:solidFill>
              </a:rPr>
              <a:t>º </a:t>
            </a:r>
            <a:r>
              <a:rPr lang="pt-BR" sz="2000" dirty="0"/>
              <a:t>de 2025</a:t>
            </a:r>
          </a:p>
          <a:p>
            <a:r>
              <a:rPr lang="pt-BR" sz="2000" b="1" dirty="0">
                <a:solidFill>
                  <a:schemeClr val="tx2">
                    <a:lumMod val="85000"/>
                    <a:lumOff val="15000"/>
                  </a:schemeClr>
                </a:solidFill>
              </a:rPr>
              <a:t>Professor Orientador</a:t>
            </a:r>
            <a:r>
              <a:rPr lang="pt-BR" sz="2000" dirty="0">
                <a:solidFill>
                  <a:schemeClr val="tx2">
                    <a:lumMod val="85000"/>
                    <a:lumOff val="15000"/>
                  </a:schemeClr>
                </a:solidFill>
              </a:rPr>
              <a:t>: </a:t>
            </a:r>
            <a:r>
              <a:rPr lang="pt-BR" sz="2000" dirty="0"/>
              <a:t>Paulo Rogério Neves de Oliveira</a:t>
            </a: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0B085A15-3FDB-4D33-BBA4-BA6DDD00F827}"/>
              </a:ext>
            </a:extLst>
          </p:cNvPr>
          <p:cNvGrpSpPr/>
          <p:nvPr/>
        </p:nvGrpSpPr>
        <p:grpSpPr>
          <a:xfrm>
            <a:off x="2629213" y="0"/>
            <a:ext cx="6913821" cy="620688"/>
            <a:chOff x="2629213" y="0"/>
            <a:chExt cx="6913821" cy="620688"/>
          </a:xfrm>
        </p:grpSpPr>
        <p:pic>
          <p:nvPicPr>
            <p:cNvPr id="13" name="Imagem 12">
              <a:extLst>
                <a:ext uri="{FF2B5EF4-FFF2-40B4-BE49-F238E27FC236}">
                  <a16:creationId xmlns:a16="http://schemas.microsoft.com/office/drawing/2014/main" id="{FF7345E4-EC70-4C4E-9C82-E9A7574E379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44163" y="84791"/>
              <a:ext cx="1998871" cy="444194"/>
            </a:xfrm>
            <a:prstGeom prst="rect">
              <a:avLst/>
            </a:prstGeom>
          </p:spPr>
        </p:pic>
        <p:pic>
          <p:nvPicPr>
            <p:cNvPr id="14" name="Imagem 13" descr="Desenho com traços pretos em fundo branco e letras pretas em fundo branco&#10;&#10;Descrição gerada automaticamente com confiança média">
              <a:extLst>
                <a:ext uri="{FF2B5EF4-FFF2-40B4-BE49-F238E27FC236}">
                  <a16:creationId xmlns:a16="http://schemas.microsoft.com/office/drawing/2014/main" id="{15416457-33D5-4EDA-B7F7-F2E570107B3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48617" y="116632"/>
              <a:ext cx="673021" cy="4441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Imagem 14">
              <a:extLst>
                <a:ext uri="{FF2B5EF4-FFF2-40B4-BE49-F238E27FC236}">
                  <a16:creationId xmlns:a16="http://schemas.microsoft.com/office/drawing/2014/main" id="{793F2D4A-1208-4EE0-AD80-2E0861402DC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50549" y="116632"/>
              <a:ext cx="663678" cy="444194"/>
            </a:xfrm>
            <a:prstGeom prst="rect">
              <a:avLst/>
            </a:prstGeom>
          </p:spPr>
        </p:pic>
        <p:sp>
          <p:nvSpPr>
            <p:cNvPr id="16" name="Fluxograma: Processo 15">
              <a:extLst>
                <a:ext uri="{FF2B5EF4-FFF2-40B4-BE49-F238E27FC236}">
                  <a16:creationId xmlns:a16="http://schemas.microsoft.com/office/drawing/2014/main" id="{BC78F85F-5C9F-4B1E-824A-8F302803B524}"/>
                </a:ext>
              </a:extLst>
            </p:cNvPr>
            <p:cNvSpPr/>
            <p:nvPr/>
          </p:nvSpPr>
          <p:spPr>
            <a:xfrm>
              <a:off x="2629213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7" name="Fluxograma: Processo 16">
              <a:extLst>
                <a:ext uri="{FF2B5EF4-FFF2-40B4-BE49-F238E27FC236}">
                  <a16:creationId xmlns:a16="http://schemas.microsoft.com/office/drawing/2014/main" id="{D2DCE38F-73AB-44CA-AB11-683EF58E8E3A}"/>
                </a:ext>
              </a:extLst>
            </p:cNvPr>
            <p:cNvSpPr/>
            <p:nvPr/>
          </p:nvSpPr>
          <p:spPr>
            <a:xfrm>
              <a:off x="4909367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8" name="Fluxograma: Processo 17">
              <a:extLst>
                <a:ext uri="{FF2B5EF4-FFF2-40B4-BE49-F238E27FC236}">
                  <a16:creationId xmlns:a16="http://schemas.microsoft.com/office/drawing/2014/main" id="{26B3703C-0470-4933-A868-9F2EF56DF9BB}"/>
                </a:ext>
              </a:extLst>
            </p:cNvPr>
            <p:cNvSpPr/>
            <p:nvPr/>
          </p:nvSpPr>
          <p:spPr>
            <a:xfrm>
              <a:off x="7215168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pic>
        <p:nvPicPr>
          <p:cNvPr id="21" name="Imagem 20">
            <a:extLst>
              <a:ext uri="{FF2B5EF4-FFF2-40B4-BE49-F238E27FC236}">
                <a16:creationId xmlns:a16="http://schemas.microsoft.com/office/drawing/2014/main" id="{B83CE25B-4A5B-4AC9-8FF9-07B809DCCA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256" y="96696"/>
            <a:ext cx="1514156" cy="523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820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Rodapé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BR" noProof="0" dirty="0"/>
              <a:t>Equipe_03</a:t>
            </a: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DC1BBB0-96F0-4077-A278-0F3FB5C104D3}" type="slidenum">
              <a:rPr lang="pt-BR" noProof="0" smtClean="0"/>
              <a:pPr rtl="0"/>
              <a:t>3</a:t>
            </a:fld>
            <a:endParaRPr lang="pt-BR" noProof="0" dirty="0"/>
          </a:p>
        </p:txBody>
      </p:sp>
      <p:sp>
        <p:nvSpPr>
          <p:cNvPr id="2" name="Título 1"/>
          <p:cNvSpPr>
            <a:spLocks noGrp="1"/>
          </p:cNvSpPr>
          <p:nvPr>
            <p:ph type="ctrTitle" idx="4294967295"/>
          </p:nvPr>
        </p:nvSpPr>
        <p:spPr>
          <a:xfrm>
            <a:off x="1053852" y="836712"/>
            <a:ext cx="6397054" cy="731260"/>
          </a:xfrm>
        </p:spPr>
        <p:txBody>
          <a:bodyPr rtlCol="0">
            <a:normAutofit/>
          </a:bodyPr>
          <a:lstStyle/>
          <a:p>
            <a:pPr rtl="0"/>
            <a:r>
              <a:rPr lang="pt-BR" sz="2400" b="1" dirty="0"/>
              <a:t>Trabalho de Conclusão de Curso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4294967295"/>
          </p:nvPr>
        </p:nvSpPr>
        <p:spPr>
          <a:xfrm>
            <a:off x="1116797" y="1506026"/>
            <a:ext cx="3969503" cy="595313"/>
          </a:xfrm>
        </p:spPr>
        <p:txBody>
          <a:bodyPr rtlCol="0">
            <a:normAutofit/>
          </a:bodyPr>
          <a:lstStyle/>
          <a:p>
            <a:pPr marL="0" indent="0" rtl="0">
              <a:buNone/>
            </a:pPr>
            <a:r>
              <a:rPr lang="pt-BR" sz="1800" dirty="0"/>
              <a:t>Desenvolvimento de Sistemas</a:t>
            </a:r>
          </a:p>
        </p:txBody>
      </p:sp>
      <p:sp>
        <p:nvSpPr>
          <p:cNvPr id="5" name="Espaço reservado para conteúdo 13">
            <a:extLst>
              <a:ext uri="{FF2B5EF4-FFF2-40B4-BE49-F238E27FC236}">
                <a16:creationId xmlns:a16="http://schemas.microsoft.com/office/drawing/2014/main" id="{E3267D9C-182E-5F94-2C06-BCBD4BA751EE}"/>
              </a:ext>
            </a:extLst>
          </p:cNvPr>
          <p:cNvSpPr txBox="1">
            <a:spLocks/>
          </p:cNvSpPr>
          <p:nvPr/>
        </p:nvSpPr>
        <p:spPr>
          <a:xfrm>
            <a:off x="1125860" y="2564903"/>
            <a:ext cx="3960440" cy="2191759"/>
          </a:xfrm>
          <a:prstGeom prst="rect">
            <a:avLst/>
          </a:prstGeom>
        </p:spPr>
        <p:txBody>
          <a:bodyPr rtlCol="0">
            <a:norm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Euphemia" pitchFamily="34" charset="0"/>
              <a:buNone/>
            </a:pPr>
            <a:r>
              <a:rPr lang="pt-BR" sz="2200" b="1" dirty="0">
                <a:solidFill>
                  <a:schemeClr val="tx2">
                    <a:lumMod val="85000"/>
                    <a:lumOff val="15000"/>
                  </a:schemeClr>
                </a:solidFill>
              </a:rPr>
              <a:t>Equipe_03</a:t>
            </a:r>
          </a:p>
          <a:p>
            <a:pPr marL="0" indent="0">
              <a:buFont typeface="Euphemia" pitchFamily="34" charset="0"/>
              <a:buNone/>
            </a:pPr>
            <a:endParaRPr lang="pt-BR" sz="2200" dirty="0"/>
          </a:p>
          <a:p>
            <a:r>
              <a:rPr lang="pt-BR" sz="1900" dirty="0"/>
              <a:t>Raí de Vicencio Meneghini</a:t>
            </a:r>
          </a:p>
          <a:p>
            <a:r>
              <a:rPr lang="pt-BR" sz="1900" dirty="0"/>
              <a:t>Flavio Henrique da Costa Silva</a:t>
            </a:r>
          </a:p>
          <a:p>
            <a:r>
              <a:rPr lang="pt-BR" sz="1900" dirty="0"/>
              <a:t>Julia Tenorio Alves Miranda</a:t>
            </a: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BD6A6A2A-77C5-4862-B36C-2CBB80725434}"/>
              </a:ext>
            </a:extLst>
          </p:cNvPr>
          <p:cNvGrpSpPr/>
          <p:nvPr/>
        </p:nvGrpSpPr>
        <p:grpSpPr>
          <a:xfrm>
            <a:off x="2629213" y="0"/>
            <a:ext cx="6913821" cy="620688"/>
            <a:chOff x="2629213" y="0"/>
            <a:chExt cx="6913821" cy="620688"/>
          </a:xfrm>
        </p:grpSpPr>
        <p:pic>
          <p:nvPicPr>
            <p:cNvPr id="13" name="Imagem 12">
              <a:extLst>
                <a:ext uri="{FF2B5EF4-FFF2-40B4-BE49-F238E27FC236}">
                  <a16:creationId xmlns:a16="http://schemas.microsoft.com/office/drawing/2014/main" id="{CA8A43CE-C42B-46F4-BAA7-F13EB0F1E41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44163" y="84791"/>
              <a:ext cx="1998871" cy="444194"/>
            </a:xfrm>
            <a:prstGeom prst="rect">
              <a:avLst/>
            </a:prstGeom>
          </p:spPr>
        </p:pic>
        <p:pic>
          <p:nvPicPr>
            <p:cNvPr id="14" name="Imagem 13" descr="Desenho com traços pretos em fundo branco e letras pretas em fundo branco&#10;&#10;Descrição gerada automaticamente com confiança média">
              <a:extLst>
                <a:ext uri="{FF2B5EF4-FFF2-40B4-BE49-F238E27FC236}">
                  <a16:creationId xmlns:a16="http://schemas.microsoft.com/office/drawing/2014/main" id="{1FD3683B-E985-4DBF-936E-ECFBEB1A4D8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48617" y="116632"/>
              <a:ext cx="673021" cy="4441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Imagem 14">
              <a:extLst>
                <a:ext uri="{FF2B5EF4-FFF2-40B4-BE49-F238E27FC236}">
                  <a16:creationId xmlns:a16="http://schemas.microsoft.com/office/drawing/2014/main" id="{836D65D2-A504-412A-8D99-409A8F39514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50549" y="116632"/>
              <a:ext cx="663678" cy="444194"/>
            </a:xfrm>
            <a:prstGeom prst="rect">
              <a:avLst/>
            </a:prstGeom>
          </p:spPr>
        </p:pic>
        <p:sp>
          <p:nvSpPr>
            <p:cNvPr id="16" name="Fluxograma: Processo 15">
              <a:extLst>
                <a:ext uri="{FF2B5EF4-FFF2-40B4-BE49-F238E27FC236}">
                  <a16:creationId xmlns:a16="http://schemas.microsoft.com/office/drawing/2014/main" id="{E6EFDE81-375D-46A2-9305-B22A016B8CF8}"/>
                </a:ext>
              </a:extLst>
            </p:cNvPr>
            <p:cNvSpPr/>
            <p:nvPr/>
          </p:nvSpPr>
          <p:spPr>
            <a:xfrm>
              <a:off x="2629213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7" name="Fluxograma: Processo 16">
              <a:extLst>
                <a:ext uri="{FF2B5EF4-FFF2-40B4-BE49-F238E27FC236}">
                  <a16:creationId xmlns:a16="http://schemas.microsoft.com/office/drawing/2014/main" id="{08215EA9-91DF-47BB-A92C-7621618F126B}"/>
                </a:ext>
              </a:extLst>
            </p:cNvPr>
            <p:cNvSpPr/>
            <p:nvPr/>
          </p:nvSpPr>
          <p:spPr>
            <a:xfrm>
              <a:off x="4909367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8" name="Fluxograma: Processo 17">
              <a:extLst>
                <a:ext uri="{FF2B5EF4-FFF2-40B4-BE49-F238E27FC236}">
                  <a16:creationId xmlns:a16="http://schemas.microsoft.com/office/drawing/2014/main" id="{DDA02A59-78BF-494F-9DE5-B03A6E02905F}"/>
                </a:ext>
              </a:extLst>
            </p:cNvPr>
            <p:cNvSpPr/>
            <p:nvPr/>
          </p:nvSpPr>
          <p:spPr>
            <a:xfrm>
              <a:off x="7215168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pic>
        <p:nvPicPr>
          <p:cNvPr id="19" name="Imagem 18">
            <a:extLst>
              <a:ext uri="{FF2B5EF4-FFF2-40B4-BE49-F238E27FC236}">
                <a16:creationId xmlns:a16="http://schemas.microsoft.com/office/drawing/2014/main" id="{33C14FB9-883F-418D-BCAA-0E4DD73AED4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256" y="96696"/>
            <a:ext cx="1514156" cy="523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0303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Rodapé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BR" noProof="0" dirty="0"/>
              <a:t>Equipe_03</a:t>
            </a: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DC1BBB0-96F0-4077-A278-0F3FB5C104D3}" type="slidenum">
              <a:rPr lang="pt-BR" noProof="0" smtClean="0"/>
              <a:pPr rtl="0"/>
              <a:t>4</a:t>
            </a:fld>
            <a:endParaRPr lang="pt-BR" noProof="0" dirty="0"/>
          </a:p>
        </p:txBody>
      </p:sp>
      <p:sp>
        <p:nvSpPr>
          <p:cNvPr id="4" name="Espaço reservado para conteúdo 13">
            <a:extLst>
              <a:ext uri="{FF2B5EF4-FFF2-40B4-BE49-F238E27FC236}">
                <a16:creationId xmlns:a16="http://schemas.microsoft.com/office/drawing/2014/main" id="{126070DC-015A-DFDF-858A-F0EAE02BC82E}"/>
              </a:ext>
            </a:extLst>
          </p:cNvPr>
          <p:cNvSpPr txBox="1">
            <a:spLocks/>
          </p:cNvSpPr>
          <p:nvPr/>
        </p:nvSpPr>
        <p:spPr>
          <a:xfrm>
            <a:off x="1116797" y="2453317"/>
            <a:ext cx="3563938" cy="407202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200" dirty="0"/>
              <a:t>Logo e nome</a:t>
            </a:r>
          </a:p>
          <a:p>
            <a:r>
              <a:rPr lang="pt-BR" sz="1200" dirty="0"/>
              <a:t>Problematização</a:t>
            </a:r>
          </a:p>
          <a:p>
            <a:r>
              <a:rPr lang="pt-BR" sz="1200" dirty="0"/>
              <a:t>Solução</a:t>
            </a:r>
          </a:p>
          <a:p>
            <a:r>
              <a:rPr lang="pt-BR" sz="1200" dirty="0"/>
              <a:t>Público Alvo</a:t>
            </a:r>
          </a:p>
          <a:p>
            <a:r>
              <a:rPr lang="pt-BR" sz="1200" dirty="0"/>
              <a:t>Esboço</a:t>
            </a:r>
          </a:p>
          <a:p>
            <a:r>
              <a:rPr lang="pt-BR" sz="1200" dirty="0"/>
              <a:t>Objetivos Gerais</a:t>
            </a:r>
          </a:p>
          <a:p>
            <a:r>
              <a:rPr lang="pt-BR" sz="1200" dirty="0"/>
              <a:t>Objetivos específicos</a:t>
            </a:r>
          </a:p>
          <a:p>
            <a:r>
              <a:rPr lang="pt-BR" sz="1200" dirty="0"/>
              <a:t>Justificativa</a:t>
            </a:r>
          </a:p>
          <a:p>
            <a:r>
              <a:rPr lang="pt-BR" sz="1200" dirty="0"/>
              <a:t>Metodologias</a:t>
            </a:r>
          </a:p>
          <a:p>
            <a:r>
              <a:rPr lang="pt-BR" sz="1200" dirty="0"/>
              <a:t>Ferramentas</a:t>
            </a:r>
          </a:p>
          <a:p>
            <a:r>
              <a:rPr lang="pt-BR" sz="1200" dirty="0"/>
              <a:t>Requisitos funcionais </a:t>
            </a:r>
          </a:p>
          <a:p>
            <a:endParaRPr lang="pt-BR" sz="1200" dirty="0"/>
          </a:p>
          <a:p>
            <a:endParaRPr lang="pt-BR" sz="1200" dirty="0"/>
          </a:p>
        </p:txBody>
      </p:sp>
      <p:sp>
        <p:nvSpPr>
          <p:cNvPr id="6" name="Espaço reservado para conteúdo 13">
            <a:extLst>
              <a:ext uri="{FF2B5EF4-FFF2-40B4-BE49-F238E27FC236}">
                <a16:creationId xmlns:a16="http://schemas.microsoft.com/office/drawing/2014/main" id="{740BBCA1-CEFC-9AA2-CC16-5142B1FC48E7}"/>
              </a:ext>
            </a:extLst>
          </p:cNvPr>
          <p:cNvSpPr txBox="1">
            <a:spLocks/>
          </p:cNvSpPr>
          <p:nvPr/>
        </p:nvSpPr>
        <p:spPr>
          <a:xfrm>
            <a:off x="5582388" y="2453317"/>
            <a:ext cx="4523088" cy="40720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46380" indent="-246380"/>
            <a:r>
              <a:rPr lang="pt-BR" sz="1200" dirty="0"/>
              <a:t>Requisitos Não Funcionais</a:t>
            </a:r>
          </a:p>
          <a:p>
            <a:pPr marL="246380" indent="-246380"/>
            <a:r>
              <a:rPr lang="pt-BR" sz="1200" dirty="0"/>
              <a:t>Protótipos</a:t>
            </a:r>
          </a:p>
          <a:p>
            <a:pPr marL="246380" indent="-246380"/>
            <a:r>
              <a:rPr lang="pt-BR" sz="1200" dirty="0"/>
              <a:t>Diagramas UML de Classe </a:t>
            </a:r>
          </a:p>
          <a:p>
            <a:pPr marL="246380" indent="-246380"/>
            <a:r>
              <a:rPr lang="pt-BR" sz="1200" dirty="0"/>
              <a:t>Diagramas UML de Caso de Uso</a:t>
            </a:r>
          </a:p>
          <a:p>
            <a:pPr marL="246380" indent="-246380"/>
            <a:r>
              <a:rPr lang="pt-BR" sz="1200" dirty="0"/>
              <a:t>Projeto de Banco de Dados (Conceitual e Lógico)</a:t>
            </a:r>
          </a:p>
          <a:p>
            <a:pPr marL="246380" indent="-246380"/>
            <a:r>
              <a:rPr lang="pt-BR" sz="1200" dirty="0"/>
              <a:t>Fundamentação Teórica</a:t>
            </a:r>
          </a:p>
          <a:p>
            <a:pPr marL="246380" indent="-246380"/>
            <a:r>
              <a:rPr lang="pt-BR" sz="1200" dirty="0"/>
              <a:t>Pesquisas (Cada membro)</a:t>
            </a:r>
          </a:p>
          <a:p>
            <a:pPr marL="246380" indent="-246380"/>
            <a:r>
              <a:rPr lang="pt-BR" sz="1200" dirty="0"/>
              <a:t>Hard Skills</a:t>
            </a:r>
          </a:p>
          <a:p>
            <a:pPr marL="246380" indent="-246380"/>
            <a:r>
              <a:rPr lang="pt-BR" sz="1200" dirty="0"/>
              <a:t>Soft Skills</a:t>
            </a:r>
          </a:p>
          <a:p>
            <a:pPr marL="246380" indent="-246380"/>
            <a:r>
              <a:rPr lang="pt-BR" sz="1200" dirty="0"/>
              <a:t>Desafios</a:t>
            </a:r>
          </a:p>
          <a:p>
            <a:pPr marL="246380" indent="-246380"/>
            <a:r>
              <a:rPr lang="pt-BR" sz="1200" dirty="0"/>
              <a:t>Conclusão</a:t>
            </a:r>
          </a:p>
          <a:p>
            <a:pPr marL="0" indent="0">
              <a:buNone/>
            </a:pPr>
            <a:endParaRPr lang="pt-BR" sz="1200" dirty="0"/>
          </a:p>
          <a:p>
            <a:endParaRPr lang="pt-BR" sz="1200" dirty="0"/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AB097550-61C8-4FEB-9BE4-D07000E1ACBC}"/>
              </a:ext>
            </a:extLst>
          </p:cNvPr>
          <p:cNvSpPr txBox="1">
            <a:spLocks/>
          </p:cNvSpPr>
          <p:nvPr/>
        </p:nvSpPr>
        <p:spPr>
          <a:xfrm>
            <a:off x="1053852" y="836712"/>
            <a:ext cx="6397054" cy="7312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400" b="1" dirty="0"/>
              <a:t>Trabalho de Conclusão de Curso</a:t>
            </a:r>
          </a:p>
        </p:txBody>
      </p:sp>
      <p:sp>
        <p:nvSpPr>
          <p:cNvPr id="15" name="Subtítulo 2">
            <a:extLst>
              <a:ext uri="{FF2B5EF4-FFF2-40B4-BE49-F238E27FC236}">
                <a16:creationId xmlns:a16="http://schemas.microsoft.com/office/drawing/2014/main" id="{7D4DCB69-F7C1-40F6-9EFE-848532426752}"/>
              </a:ext>
            </a:extLst>
          </p:cNvPr>
          <p:cNvSpPr txBox="1">
            <a:spLocks/>
          </p:cNvSpPr>
          <p:nvPr/>
        </p:nvSpPr>
        <p:spPr>
          <a:xfrm>
            <a:off x="1116797" y="1506026"/>
            <a:ext cx="3969503" cy="5953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Euphemia" pitchFamily="34" charset="0"/>
              <a:buNone/>
            </a:pPr>
            <a:r>
              <a:rPr lang="pt-BR" sz="1800" dirty="0"/>
              <a:t>Desenvolvimento de Sistemas</a:t>
            </a: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E3560065-E5D9-4B43-A23D-6A267366BAF1}"/>
              </a:ext>
            </a:extLst>
          </p:cNvPr>
          <p:cNvGrpSpPr/>
          <p:nvPr/>
        </p:nvGrpSpPr>
        <p:grpSpPr>
          <a:xfrm>
            <a:off x="2629213" y="0"/>
            <a:ext cx="6913821" cy="620688"/>
            <a:chOff x="2629213" y="0"/>
            <a:chExt cx="6913821" cy="620688"/>
          </a:xfrm>
        </p:grpSpPr>
        <p:pic>
          <p:nvPicPr>
            <p:cNvPr id="13" name="Imagem 12">
              <a:extLst>
                <a:ext uri="{FF2B5EF4-FFF2-40B4-BE49-F238E27FC236}">
                  <a16:creationId xmlns:a16="http://schemas.microsoft.com/office/drawing/2014/main" id="{59F222EE-68BE-4AC3-938E-0ADCBDB572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44163" y="84791"/>
              <a:ext cx="1998871" cy="444194"/>
            </a:xfrm>
            <a:prstGeom prst="rect">
              <a:avLst/>
            </a:prstGeom>
          </p:spPr>
        </p:pic>
        <p:pic>
          <p:nvPicPr>
            <p:cNvPr id="16" name="Imagem 15" descr="Desenho com traços pretos em fundo branco e letras pretas em fundo branco&#10;&#10;Descrição gerada automaticamente com confiança média">
              <a:extLst>
                <a:ext uri="{FF2B5EF4-FFF2-40B4-BE49-F238E27FC236}">
                  <a16:creationId xmlns:a16="http://schemas.microsoft.com/office/drawing/2014/main" id="{722452BA-93DD-4D25-AB5E-40C975475C5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48617" y="116632"/>
              <a:ext cx="673021" cy="4441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Imagem 16">
              <a:extLst>
                <a:ext uri="{FF2B5EF4-FFF2-40B4-BE49-F238E27FC236}">
                  <a16:creationId xmlns:a16="http://schemas.microsoft.com/office/drawing/2014/main" id="{DCAC907D-1AB9-435A-8D6F-9EF2356ED80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50549" y="116632"/>
              <a:ext cx="663678" cy="444194"/>
            </a:xfrm>
            <a:prstGeom prst="rect">
              <a:avLst/>
            </a:prstGeom>
          </p:spPr>
        </p:pic>
        <p:sp>
          <p:nvSpPr>
            <p:cNvPr id="18" name="Fluxograma: Processo 17">
              <a:extLst>
                <a:ext uri="{FF2B5EF4-FFF2-40B4-BE49-F238E27FC236}">
                  <a16:creationId xmlns:a16="http://schemas.microsoft.com/office/drawing/2014/main" id="{3334A04A-8E3B-4623-9B16-C74A8CE1EF33}"/>
                </a:ext>
              </a:extLst>
            </p:cNvPr>
            <p:cNvSpPr/>
            <p:nvPr/>
          </p:nvSpPr>
          <p:spPr>
            <a:xfrm>
              <a:off x="2629213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9" name="Fluxograma: Processo 18">
              <a:extLst>
                <a:ext uri="{FF2B5EF4-FFF2-40B4-BE49-F238E27FC236}">
                  <a16:creationId xmlns:a16="http://schemas.microsoft.com/office/drawing/2014/main" id="{63C82C99-1033-468C-8A71-F9877EB53C1D}"/>
                </a:ext>
              </a:extLst>
            </p:cNvPr>
            <p:cNvSpPr/>
            <p:nvPr/>
          </p:nvSpPr>
          <p:spPr>
            <a:xfrm>
              <a:off x="4909367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20" name="Fluxograma: Processo 19">
              <a:extLst>
                <a:ext uri="{FF2B5EF4-FFF2-40B4-BE49-F238E27FC236}">
                  <a16:creationId xmlns:a16="http://schemas.microsoft.com/office/drawing/2014/main" id="{47D67273-0657-42DF-9C9C-258B77AF29F4}"/>
                </a:ext>
              </a:extLst>
            </p:cNvPr>
            <p:cNvSpPr/>
            <p:nvPr/>
          </p:nvSpPr>
          <p:spPr>
            <a:xfrm>
              <a:off x="7215168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sp>
        <p:nvSpPr>
          <p:cNvPr id="21" name="Espaço reservado para conteúdo 13">
            <a:extLst>
              <a:ext uri="{FF2B5EF4-FFF2-40B4-BE49-F238E27FC236}">
                <a16:creationId xmlns:a16="http://schemas.microsoft.com/office/drawing/2014/main" id="{786C3202-F955-4694-8710-53DE9E952A44}"/>
              </a:ext>
            </a:extLst>
          </p:cNvPr>
          <p:cNvSpPr txBox="1">
            <a:spLocks/>
          </p:cNvSpPr>
          <p:nvPr/>
        </p:nvSpPr>
        <p:spPr>
          <a:xfrm>
            <a:off x="1269876" y="1985901"/>
            <a:ext cx="1872209" cy="432049"/>
          </a:xfrm>
          <a:prstGeom prst="rect">
            <a:avLst/>
          </a:prstGeom>
        </p:spPr>
        <p:txBody>
          <a:bodyPr rtlCol="0">
            <a:no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Euphemia" pitchFamily="34" charset="0"/>
              <a:buNone/>
            </a:pPr>
            <a:r>
              <a:rPr lang="pt-BR" sz="2200" b="1" dirty="0">
                <a:solidFill>
                  <a:schemeClr val="tx2">
                    <a:lumMod val="85000"/>
                    <a:lumOff val="15000"/>
                  </a:schemeClr>
                </a:solidFill>
              </a:rPr>
              <a:t>Sumario</a:t>
            </a:r>
          </a:p>
        </p:txBody>
      </p:sp>
      <p:pic>
        <p:nvPicPr>
          <p:cNvPr id="22" name="Imagem 21">
            <a:extLst>
              <a:ext uri="{FF2B5EF4-FFF2-40B4-BE49-F238E27FC236}">
                <a16:creationId xmlns:a16="http://schemas.microsoft.com/office/drawing/2014/main" id="{7CA1EF64-3074-4007-9BAF-1FDC61A394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256" y="96696"/>
            <a:ext cx="1514156" cy="523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458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Rodapé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BR" noProof="0" dirty="0"/>
              <a:t>Equipe_03</a:t>
            </a: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DC1BBB0-96F0-4077-A278-0F3FB5C104D3}" type="slidenum">
              <a:rPr lang="pt-BR" noProof="0" smtClean="0"/>
              <a:pPr rtl="0"/>
              <a:t>5</a:t>
            </a:fld>
            <a:endParaRPr lang="pt-BR" noProof="0" dirty="0"/>
          </a:p>
        </p:txBody>
      </p:sp>
      <p:sp>
        <p:nvSpPr>
          <p:cNvPr id="2" name="Título 1"/>
          <p:cNvSpPr>
            <a:spLocks noGrp="1"/>
          </p:cNvSpPr>
          <p:nvPr>
            <p:ph type="ctrTitle" idx="4294967295"/>
          </p:nvPr>
        </p:nvSpPr>
        <p:spPr>
          <a:xfrm>
            <a:off x="1053852" y="836712"/>
            <a:ext cx="6397054" cy="731260"/>
          </a:xfrm>
        </p:spPr>
        <p:txBody>
          <a:bodyPr rtlCol="0">
            <a:normAutofit/>
          </a:bodyPr>
          <a:lstStyle/>
          <a:p>
            <a:pPr rtl="0"/>
            <a:r>
              <a:rPr lang="pt-BR" sz="2400" b="1" dirty="0"/>
              <a:t>Trabalho de Conclusão de Curso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4294967295"/>
          </p:nvPr>
        </p:nvSpPr>
        <p:spPr>
          <a:xfrm>
            <a:off x="1116797" y="1506026"/>
            <a:ext cx="3969503" cy="595313"/>
          </a:xfrm>
        </p:spPr>
        <p:txBody>
          <a:bodyPr rtlCol="0">
            <a:normAutofit/>
          </a:bodyPr>
          <a:lstStyle/>
          <a:p>
            <a:pPr marL="0" indent="0" rtl="0">
              <a:buNone/>
            </a:pPr>
            <a:r>
              <a:rPr lang="pt-BR" sz="1800" dirty="0"/>
              <a:t>Desenvolvimento de Sistemas</a:t>
            </a:r>
          </a:p>
        </p:txBody>
      </p:sp>
      <p:sp>
        <p:nvSpPr>
          <p:cNvPr id="5" name="Espaço reservado para conteúdo 13">
            <a:extLst>
              <a:ext uri="{FF2B5EF4-FFF2-40B4-BE49-F238E27FC236}">
                <a16:creationId xmlns:a16="http://schemas.microsoft.com/office/drawing/2014/main" id="{E3267D9C-182E-5F94-2C06-BCBD4BA751EE}"/>
              </a:ext>
            </a:extLst>
          </p:cNvPr>
          <p:cNvSpPr txBox="1">
            <a:spLocks/>
          </p:cNvSpPr>
          <p:nvPr/>
        </p:nvSpPr>
        <p:spPr>
          <a:xfrm>
            <a:off x="1125859" y="2564903"/>
            <a:ext cx="1872209" cy="432049"/>
          </a:xfrm>
          <a:prstGeom prst="rect">
            <a:avLst/>
          </a:prstGeom>
        </p:spPr>
        <p:txBody>
          <a:bodyPr rtlCol="0">
            <a:no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Euphemia" pitchFamily="34" charset="0"/>
              <a:buNone/>
            </a:pPr>
            <a:r>
              <a:rPr lang="pt-BR" sz="2200" b="1" dirty="0">
                <a:solidFill>
                  <a:schemeClr val="tx2">
                    <a:lumMod val="85000"/>
                    <a:lumOff val="15000"/>
                  </a:schemeClr>
                </a:solidFill>
              </a:rPr>
              <a:t>Logo e Nome </a:t>
            </a: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BD6A6A2A-77C5-4862-B36C-2CBB80725434}"/>
              </a:ext>
            </a:extLst>
          </p:cNvPr>
          <p:cNvGrpSpPr/>
          <p:nvPr/>
        </p:nvGrpSpPr>
        <p:grpSpPr>
          <a:xfrm>
            <a:off x="2629213" y="0"/>
            <a:ext cx="6913821" cy="620688"/>
            <a:chOff x="2629213" y="0"/>
            <a:chExt cx="6913821" cy="620688"/>
          </a:xfrm>
        </p:grpSpPr>
        <p:pic>
          <p:nvPicPr>
            <p:cNvPr id="13" name="Imagem 12">
              <a:extLst>
                <a:ext uri="{FF2B5EF4-FFF2-40B4-BE49-F238E27FC236}">
                  <a16:creationId xmlns:a16="http://schemas.microsoft.com/office/drawing/2014/main" id="{CA8A43CE-C42B-46F4-BAA7-F13EB0F1E41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44163" y="84791"/>
              <a:ext cx="1998871" cy="444194"/>
            </a:xfrm>
            <a:prstGeom prst="rect">
              <a:avLst/>
            </a:prstGeom>
          </p:spPr>
        </p:pic>
        <p:pic>
          <p:nvPicPr>
            <p:cNvPr id="14" name="Imagem 13" descr="Desenho com traços pretos em fundo branco e letras pretas em fundo branco&#10;&#10;Descrição gerada automaticamente com confiança média">
              <a:extLst>
                <a:ext uri="{FF2B5EF4-FFF2-40B4-BE49-F238E27FC236}">
                  <a16:creationId xmlns:a16="http://schemas.microsoft.com/office/drawing/2014/main" id="{1FD3683B-E985-4DBF-936E-ECFBEB1A4D8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48617" y="116632"/>
              <a:ext cx="673021" cy="4441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Imagem 14">
              <a:extLst>
                <a:ext uri="{FF2B5EF4-FFF2-40B4-BE49-F238E27FC236}">
                  <a16:creationId xmlns:a16="http://schemas.microsoft.com/office/drawing/2014/main" id="{836D65D2-A504-412A-8D99-409A8F39514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50549" y="116632"/>
              <a:ext cx="663678" cy="444194"/>
            </a:xfrm>
            <a:prstGeom prst="rect">
              <a:avLst/>
            </a:prstGeom>
          </p:spPr>
        </p:pic>
        <p:sp>
          <p:nvSpPr>
            <p:cNvPr id="16" name="Fluxograma: Processo 15">
              <a:extLst>
                <a:ext uri="{FF2B5EF4-FFF2-40B4-BE49-F238E27FC236}">
                  <a16:creationId xmlns:a16="http://schemas.microsoft.com/office/drawing/2014/main" id="{E6EFDE81-375D-46A2-9305-B22A016B8CF8}"/>
                </a:ext>
              </a:extLst>
            </p:cNvPr>
            <p:cNvSpPr/>
            <p:nvPr/>
          </p:nvSpPr>
          <p:spPr>
            <a:xfrm>
              <a:off x="2629213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7" name="Fluxograma: Processo 16">
              <a:extLst>
                <a:ext uri="{FF2B5EF4-FFF2-40B4-BE49-F238E27FC236}">
                  <a16:creationId xmlns:a16="http://schemas.microsoft.com/office/drawing/2014/main" id="{08215EA9-91DF-47BB-A92C-7621618F126B}"/>
                </a:ext>
              </a:extLst>
            </p:cNvPr>
            <p:cNvSpPr/>
            <p:nvPr/>
          </p:nvSpPr>
          <p:spPr>
            <a:xfrm>
              <a:off x="4909367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8" name="Fluxograma: Processo 17">
              <a:extLst>
                <a:ext uri="{FF2B5EF4-FFF2-40B4-BE49-F238E27FC236}">
                  <a16:creationId xmlns:a16="http://schemas.microsoft.com/office/drawing/2014/main" id="{DDA02A59-78BF-494F-9DE5-B03A6E02905F}"/>
                </a:ext>
              </a:extLst>
            </p:cNvPr>
            <p:cNvSpPr/>
            <p:nvPr/>
          </p:nvSpPr>
          <p:spPr>
            <a:xfrm>
              <a:off x="7215168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pic>
        <p:nvPicPr>
          <p:cNvPr id="20" name="Imagem 19">
            <a:extLst>
              <a:ext uri="{FF2B5EF4-FFF2-40B4-BE49-F238E27FC236}">
                <a16:creationId xmlns:a16="http://schemas.microsoft.com/office/drawing/2014/main" id="{B34C6B6E-063E-497E-A802-313C7B9D56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94012" y="3042625"/>
            <a:ext cx="6573211" cy="2274739"/>
          </a:xfrm>
          <a:prstGeom prst="rect">
            <a:avLst/>
          </a:prstGeom>
        </p:spPr>
      </p:pic>
      <p:sp>
        <p:nvSpPr>
          <p:cNvPr id="22" name="Retângulo 21">
            <a:extLst>
              <a:ext uri="{FF2B5EF4-FFF2-40B4-BE49-F238E27FC236}">
                <a16:creationId xmlns:a16="http://schemas.microsoft.com/office/drawing/2014/main" id="{65CB6A5D-59E7-461B-A00F-8A27DF43269C}"/>
              </a:ext>
            </a:extLst>
          </p:cNvPr>
          <p:cNvSpPr/>
          <p:nvPr/>
        </p:nvSpPr>
        <p:spPr>
          <a:xfrm>
            <a:off x="5011410" y="5101920"/>
            <a:ext cx="1805633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800" dirty="0">
                <a:solidFill>
                  <a:schemeClr val="accent6">
                    <a:lumMod val="50000"/>
                  </a:schemeClr>
                </a:solidFill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Foto</a:t>
            </a:r>
            <a:r>
              <a:rPr lang="it-IT" sz="800">
                <a:solidFill>
                  <a:schemeClr val="accent6">
                    <a:lumMod val="50000"/>
                  </a:schemeClr>
                </a:solidFill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</a:t>
            </a:r>
            <a:r>
              <a:rPr lang="it-IT" sz="80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it-IT" sz="800">
                <a:solidFill>
                  <a:schemeClr val="accent6">
                    <a:lumMod val="75000"/>
                  </a:schemeClr>
                </a:solidFill>
              </a:rPr>
              <a:t>Figma </a:t>
            </a:r>
            <a:r>
              <a:rPr lang="it-IT" sz="800" dirty="0">
                <a:solidFill>
                  <a:schemeClr val="accent6">
                    <a:lumMod val="75000"/>
                  </a:schemeClr>
                </a:solidFill>
              </a:rPr>
              <a:t>+ ChatGPT </a:t>
            </a:r>
            <a:r>
              <a:rPr lang="it-IT" sz="800">
                <a:solidFill>
                  <a:schemeClr val="accent6">
                    <a:lumMod val="75000"/>
                  </a:schemeClr>
                </a:solidFill>
              </a:rPr>
              <a:t>+ Canva</a:t>
            </a:r>
            <a:endParaRPr lang="pt-BR" sz="800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D5A78529-A422-49F7-91D8-9F0157E633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256" y="96696"/>
            <a:ext cx="1514156" cy="523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697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Rodapé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BR" noProof="0" dirty="0"/>
              <a:t>Equipe_03</a:t>
            </a: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DC1BBB0-96F0-4077-A278-0F3FB5C104D3}" type="slidenum">
              <a:rPr lang="pt-BR" noProof="0" smtClean="0"/>
              <a:pPr rtl="0"/>
              <a:t>6</a:t>
            </a:fld>
            <a:endParaRPr lang="pt-BR" noProof="0" dirty="0"/>
          </a:p>
        </p:txBody>
      </p:sp>
      <p:sp>
        <p:nvSpPr>
          <p:cNvPr id="5" name="Espaço reservado para conteúdo 13">
            <a:extLst>
              <a:ext uri="{FF2B5EF4-FFF2-40B4-BE49-F238E27FC236}">
                <a16:creationId xmlns:a16="http://schemas.microsoft.com/office/drawing/2014/main" id="{68EA1406-9D0A-F316-CA4B-D6FA46DEDD20}"/>
              </a:ext>
            </a:extLst>
          </p:cNvPr>
          <p:cNvSpPr txBox="1">
            <a:spLocks/>
          </p:cNvSpPr>
          <p:nvPr/>
        </p:nvSpPr>
        <p:spPr>
          <a:xfrm>
            <a:off x="1125860" y="2237286"/>
            <a:ext cx="7175085" cy="1872208"/>
          </a:xfrm>
          <a:prstGeom prst="rect">
            <a:avLst/>
          </a:prstGeom>
        </p:spPr>
        <p:txBody>
          <a:bodyPr rtlCol="0"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000" b="1" dirty="0">
                <a:solidFill>
                  <a:schemeClr val="tx2">
                    <a:lumMod val="85000"/>
                    <a:lumOff val="15000"/>
                  </a:schemeClr>
                </a:solidFill>
              </a:rPr>
              <a:t>Problematização</a:t>
            </a: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306CF383-86BE-4807-90B1-358A5BECE709}"/>
              </a:ext>
            </a:extLst>
          </p:cNvPr>
          <p:cNvSpPr txBox="1">
            <a:spLocks/>
          </p:cNvSpPr>
          <p:nvPr/>
        </p:nvSpPr>
        <p:spPr>
          <a:xfrm>
            <a:off x="1053852" y="836712"/>
            <a:ext cx="6397054" cy="7312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400" b="1" dirty="0"/>
              <a:t>Trabalho de Conclusão de Curso</a:t>
            </a:r>
          </a:p>
        </p:txBody>
      </p:sp>
      <p:sp>
        <p:nvSpPr>
          <p:cNvPr id="13" name="Subtítulo 2">
            <a:extLst>
              <a:ext uri="{FF2B5EF4-FFF2-40B4-BE49-F238E27FC236}">
                <a16:creationId xmlns:a16="http://schemas.microsoft.com/office/drawing/2014/main" id="{00B1AEDC-7D96-4DE1-B8DF-DCD9B40C88B7}"/>
              </a:ext>
            </a:extLst>
          </p:cNvPr>
          <p:cNvSpPr txBox="1">
            <a:spLocks/>
          </p:cNvSpPr>
          <p:nvPr/>
        </p:nvSpPr>
        <p:spPr>
          <a:xfrm>
            <a:off x="1116797" y="1506026"/>
            <a:ext cx="3969503" cy="5953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Euphemia" pitchFamily="34" charset="0"/>
              <a:buNone/>
            </a:pPr>
            <a:r>
              <a:rPr lang="pt-BR" sz="1800" dirty="0"/>
              <a:t>Desenvolvimento de Sistemas</a:t>
            </a: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A40F2AE1-D35B-45F6-B403-7441794FAC04}"/>
              </a:ext>
            </a:extLst>
          </p:cNvPr>
          <p:cNvGrpSpPr/>
          <p:nvPr/>
        </p:nvGrpSpPr>
        <p:grpSpPr>
          <a:xfrm>
            <a:off x="2629213" y="0"/>
            <a:ext cx="6913821" cy="620688"/>
            <a:chOff x="2629213" y="0"/>
            <a:chExt cx="6913821" cy="620688"/>
          </a:xfrm>
        </p:grpSpPr>
        <p:pic>
          <p:nvPicPr>
            <p:cNvPr id="15" name="Imagem 14">
              <a:extLst>
                <a:ext uri="{FF2B5EF4-FFF2-40B4-BE49-F238E27FC236}">
                  <a16:creationId xmlns:a16="http://schemas.microsoft.com/office/drawing/2014/main" id="{097D918F-CC2B-42C3-AA79-7935C824CE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44163" y="84791"/>
              <a:ext cx="1998871" cy="444194"/>
            </a:xfrm>
            <a:prstGeom prst="rect">
              <a:avLst/>
            </a:prstGeom>
          </p:spPr>
        </p:pic>
        <p:pic>
          <p:nvPicPr>
            <p:cNvPr id="16" name="Imagem 15" descr="Desenho com traços pretos em fundo branco e letras pretas em fundo branco&#10;&#10;Descrição gerada automaticamente com confiança média">
              <a:extLst>
                <a:ext uri="{FF2B5EF4-FFF2-40B4-BE49-F238E27FC236}">
                  <a16:creationId xmlns:a16="http://schemas.microsoft.com/office/drawing/2014/main" id="{2DC19A36-0916-4BCB-AB5D-E7A2A48E1E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48617" y="116632"/>
              <a:ext cx="673021" cy="4441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Imagem 16">
              <a:extLst>
                <a:ext uri="{FF2B5EF4-FFF2-40B4-BE49-F238E27FC236}">
                  <a16:creationId xmlns:a16="http://schemas.microsoft.com/office/drawing/2014/main" id="{68398C3D-8562-4F85-B4C6-86BBDA332CF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50549" y="116632"/>
              <a:ext cx="663678" cy="444194"/>
            </a:xfrm>
            <a:prstGeom prst="rect">
              <a:avLst/>
            </a:prstGeom>
          </p:spPr>
        </p:pic>
        <p:sp>
          <p:nvSpPr>
            <p:cNvPr id="18" name="Fluxograma: Processo 17">
              <a:extLst>
                <a:ext uri="{FF2B5EF4-FFF2-40B4-BE49-F238E27FC236}">
                  <a16:creationId xmlns:a16="http://schemas.microsoft.com/office/drawing/2014/main" id="{974A88B2-9B2F-46D6-AA77-38E50B00D999}"/>
                </a:ext>
              </a:extLst>
            </p:cNvPr>
            <p:cNvSpPr/>
            <p:nvPr/>
          </p:nvSpPr>
          <p:spPr>
            <a:xfrm>
              <a:off x="2629213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9" name="Fluxograma: Processo 18">
              <a:extLst>
                <a:ext uri="{FF2B5EF4-FFF2-40B4-BE49-F238E27FC236}">
                  <a16:creationId xmlns:a16="http://schemas.microsoft.com/office/drawing/2014/main" id="{D1B5B00C-0D47-4611-81F3-7F90BB12AA59}"/>
                </a:ext>
              </a:extLst>
            </p:cNvPr>
            <p:cNvSpPr/>
            <p:nvPr/>
          </p:nvSpPr>
          <p:spPr>
            <a:xfrm>
              <a:off x="4909367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20" name="Fluxograma: Processo 19">
              <a:extLst>
                <a:ext uri="{FF2B5EF4-FFF2-40B4-BE49-F238E27FC236}">
                  <a16:creationId xmlns:a16="http://schemas.microsoft.com/office/drawing/2014/main" id="{EC49A414-0956-4A38-BDDF-956BCCE78AEE}"/>
                </a:ext>
              </a:extLst>
            </p:cNvPr>
            <p:cNvSpPr/>
            <p:nvPr/>
          </p:nvSpPr>
          <p:spPr>
            <a:xfrm>
              <a:off x="7215168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sp>
        <p:nvSpPr>
          <p:cNvPr id="2" name="Espaço reservado para conteúdo 13">
            <a:extLst>
              <a:ext uri="{FF2B5EF4-FFF2-40B4-BE49-F238E27FC236}">
                <a16:creationId xmlns:a16="http://schemas.microsoft.com/office/drawing/2014/main" id="{5A4BA5BA-5EBE-B99E-EDF7-7CCD371D9391}"/>
              </a:ext>
            </a:extLst>
          </p:cNvPr>
          <p:cNvSpPr txBox="1">
            <a:spLocks/>
          </p:cNvSpPr>
          <p:nvPr/>
        </p:nvSpPr>
        <p:spPr>
          <a:xfrm>
            <a:off x="1125860" y="2671043"/>
            <a:ext cx="5616624" cy="2916028"/>
          </a:xfrm>
          <a:prstGeom prst="rect">
            <a:avLst/>
          </a:prstGeom>
        </p:spPr>
        <p:txBody>
          <a:bodyPr rtlCol="0">
            <a:norm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Euphemia" pitchFamily="34" charset="0"/>
              <a:buNone/>
            </a:pPr>
            <a:endParaRPr lang="pt-BR" sz="1800" dirty="0"/>
          </a:p>
          <a:p>
            <a:pPr algn="just"/>
            <a:r>
              <a:rPr lang="pt-BR" sz="1800" dirty="0"/>
              <a:t>Idosos enfrentam </a:t>
            </a:r>
            <a:r>
              <a:rPr lang="pt-BR" sz="1800" b="1" dirty="0">
                <a:solidFill>
                  <a:schemeClr val="tx2">
                    <a:lumMod val="85000"/>
                    <a:lumOff val="15000"/>
                  </a:schemeClr>
                </a:solidFill>
              </a:rPr>
              <a:t>dificuldades</a:t>
            </a:r>
            <a:r>
              <a:rPr lang="pt-BR" sz="1800" b="1" dirty="0"/>
              <a:t> no cuidado com a </a:t>
            </a:r>
            <a:r>
              <a:rPr lang="pt-BR" sz="1800" b="1" dirty="0">
                <a:solidFill>
                  <a:schemeClr val="tx2">
                    <a:lumMod val="85000"/>
                    <a:lumOff val="15000"/>
                  </a:schemeClr>
                </a:solidFill>
              </a:rPr>
              <a:t>saúde</a:t>
            </a:r>
            <a:r>
              <a:rPr lang="pt-BR" sz="1800" dirty="0"/>
              <a:t>, como </a:t>
            </a:r>
            <a:r>
              <a:rPr lang="pt-BR" sz="1800" b="1" dirty="0">
                <a:solidFill>
                  <a:schemeClr val="tx2">
                    <a:lumMod val="85000"/>
                    <a:lumOff val="15000"/>
                  </a:schemeClr>
                </a:solidFill>
              </a:rPr>
              <a:t>esquecer de tomar os remédios</a:t>
            </a:r>
            <a:r>
              <a:rPr lang="pt-BR" sz="1800" dirty="0"/>
              <a:t>, confusão pela quantidade de medicamentos e </a:t>
            </a:r>
            <a:r>
              <a:rPr lang="pt-BR" sz="1800" b="1" dirty="0">
                <a:solidFill>
                  <a:schemeClr val="tx2">
                    <a:lumMod val="85000"/>
                    <a:lumOff val="15000"/>
                  </a:schemeClr>
                </a:solidFill>
              </a:rPr>
              <a:t>dificuldade</a:t>
            </a:r>
            <a:r>
              <a:rPr lang="pt-BR" sz="1800" dirty="0"/>
              <a:t> em seguir os </a:t>
            </a:r>
            <a:r>
              <a:rPr lang="pt-BR" sz="1800" b="1" dirty="0">
                <a:solidFill>
                  <a:schemeClr val="tx2">
                    <a:lumMod val="85000"/>
                    <a:lumOff val="15000"/>
                  </a:schemeClr>
                </a:solidFill>
              </a:rPr>
              <a:t>horários corretos</a:t>
            </a:r>
            <a:r>
              <a:rPr lang="pt-BR" sz="1800" dirty="0">
                <a:solidFill>
                  <a:schemeClr val="tx2">
                    <a:lumMod val="85000"/>
                    <a:lumOff val="15000"/>
                  </a:schemeClr>
                </a:solidFill>
              </a:rPr>
              <a:t>. </a:t>
            </a:r>
          </a:p>
          <a:p>
            <a:pPr algn="just"/>
            <a:r>
              <a:rPr lang="pt-BR" sz="1800" dirty="0"/>
              <a:t>Além disso, muitos têm a </a:t>
            </a:r>
            <a:r>
              <a:rPr lang="pt-BR" sz="1800" b="1" dirty="0">
                <a:solidFill>
                  <a:schemeClr val="tx2">
                    <a:lumMod val="85000"/>
                    <a:lumOff val="15000"/>
                  </a:schemeClr>
                </a:solidFill>
              </a:rPr>
              <a:t>saúde prejudicada</a:t>
            </a:r>
            <a:r>
              <a:rPr lang="pt-BR" sz="1800" dirty="0"/>
              <a:t>, não conseguem realizar atividades sozinhos, apresentam barreiras no uso da tecnologia e encontram </a:t>
            </a:r>
            <a:r>
              <a:rPr lang="pt-BR" sz="1800" b="1" dirty="0">
                <a:solidFill>
                  <a:schemeClr val="tx2">
                    <a:lumMod val="85000"/>
                    <a:lumOff val="15000"/>
                  </a:schemeClr>
                </a:solidFill>
              </a:rPr>
              <a:t>problemas para marcar consultas e exames</a:t>
            </a:r>
            <a:r>
              <a:rPr lang="pt-BR" sz="1800" dirty="0"/>
              <a:t>.</a:t>
            </a:r>
          </a:p>
        </p:txBody>
      </p:sp>
      <p:pic>
        <p:nvPicPr>
          <p:cNvPr id="3074" name="Picture 2" descr="problema ">
            <a:extLst>
              <a:ext uri="{FF2B5EF4-FFF2-40B4-BE49-F238E27FC236}">
                <a16:creationId xmlns:a16="http://schemas.microsoft.com/office/drawing/2014/main" id="{5FB3BC86-3186-1A4C-24F1-CC00950D94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8628" y="2962320"/>
            <a:ext cx="1601166" cy="1601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E5012298-B359-55E1-50EE-F1759F95EDB2}"/>
              </a:ext>
            </a:extLst>
          </p:cNvPr>
          <p:cNvSpPr/>
          <p:nvPr/>
        </p:nvSpPr>
        <p:spPr>
          <a:xfrm>
            <a:off x="8047123" y="4792145"/>
            <a:ext cx="1584176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800" dirty="0">
                <a:solidFill>
                  <a:schemeClr val="accent6">
                    <a:lumMod val="50000"/>
                  </a:schemeClr>
                </a:solidFill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Foto:</a:t>
            </a:r>
            <a:r>
              <a:rPr lang="it-IT" sz="80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it-IT" sz="800" dirty="0">
                <a:solidFill>
                  <a:schemeClr val="accent6">
                    <a:lumMod val="75000"/>
                  </a:schemeClr>
                </a:solidFill>
              </a:rPr>
              <a:t>https://br.freepik.com</a:t>
            </a:r>
            <a:endParaRPr lang="pt-BR" sz="800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58E39B29-91A4-4995-A732-16B9C1D9A14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4256" y="96696"/>
            <a:ext cx="1514156" cy="523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719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Rodapé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BR" noProof="0" dirty="0"/>
              <a:t>Equipe_03</a:t>
            </a: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DC1BBB0-96F0-4077-A278-0F3FB5C104D3}" type="slidenum">
              <a:rPr lang="pt-BR" noProof="0" smtClean="0"/>
              <a:pPr rtl="0"/>
              <a:t>7</a:t>
            </a:fld>
            <a:endParaRPr lang="pt-BR" noProof="0" dirty="0"/>
          </a:p>
        </p:txBody>
      </p:sp>
      <p:sp>
        <p:nvSpPr>
          <p:cNvPr id="5" name="Espaço reservado para conteúdo 13">
            <a:extLst>
              <a:ext uri="{FF2B5EF4-FFF2-40B4-BE49-F238E27FC236}">
                <a16:creationId xmlns:a16="http://schemas.microsoft.com/office/drawing/2014/main" id="{68EA1406-9D0A-F316-CA4B-D6FA46DEDD20}"/>
              </a:ext>
            </a:extLst>
          </p:cNvPr>
          <p:cNvSpPr txBox="1">
            <a:spLocks/>
          </p:cNvSpPr>
          <p:nvPr/>
        </p:nvSpPr>
        <p:spPr>
          <a:xfrm>
            <a:off x="1125860" y="2237286"/>
            <a:ext cx="7175085" cy="1872208"/>
          </a:xfrm>
          <a:prstGeom prst="rect">
            <a:avLst/>
          </a:prstGeom>
        </p:spPr>
        <p:txBody>
          <a:bodyPr rtlCol="0"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000" b="1" dirty="0">
                <a:solidFill>
                  <a:schemeClr val="tx2">
                    <a:lumMod val="85000"/>
                    <a:lumOff val="15000"/>
                  </a:schemeClr>
                </a:solidFill>
              </a:rPr>
              <a:t>Solução</a:t>
            </a: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306CF383-86BE-4807-90B1-358A5BECE709}"/>
              </a:ext>
            </a:extLst>
          </p:cNvPr>
          <p:cNvSpPr txBox="1">
            <a:spLocks/>
          </p:cNvSpPr>
          <p:nvPr/>
        </p:nvSpPr>
        <p:spPr>
          <a:xfrm>
            <a:off x="1053852" y="836712"/>
            <a:ext cx="6397054" cy="7312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400" b="1" dirty="0"/>
              <a:t>Trabalho de Conclusão de Curso</a:t>
            </a:r>
          </a:p>
        </p:txBody>
      </p:sp>
      <p:sp>
        <p:nvSpPr>
          <p:cNvPr id="13" name="Subtítulo 2">
            <a:extLst>
              <a:ext uri="{FF2B5EF4-FFF2-40B4-BE49-F238E27FC236}">
                <a16:creationId xmlns:a16="http://schemas.microsoft.com/office/drawing/2014/main" id="{00B1AEDC-7D96-4DE1-B8DF-DCD9B40C88B7}"/>
              </a:ext>
            </a:extLst>
          </p:cNvPr>
          <p:cNvSpPr txBox="1">
            <a:spLocks/>
          </p:cNvSpPr>
          <p:nvPr/>
        </p:nvSpPr>
        <p:spPr>
          <a:xfrm>
            <a:off x="1116797" y="1506026"/>
            <a:ext cx="3969503" cy="5953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Euphemia" pitchFamily="34" charset="0"/>
              <a:buNone/>
            </a:pPr>
            <a:r>
              <a:rPr lang="pt-BR" sz="1800" dirty="0"/>
              <a:t>Desenvolvimento de Sistemas</a:t>
            </a: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A40F2AE1-D35B-45F6-B403-7441794FAC04}"/>
              </a:ext>
            </a:extLst>
          </p:cNvPr>
          <p:cNvGrpSpPr/>
          <p:nvPr/>
        </p:nvGrpSpPr>
        <p:grpSpPr>
          <a:xfrm>
            <a:off x="2629213" y="0"/>
            <a:ext cx="6913821" cy="620688"/>
            <a:chOff x="2629213" y="0"/>
            <a:chExt cx="6913821" cy="620688"/>
          </a:xfrm>
        </p:grpSpPr>
        <p:pic>
          <p:nvPicPr>
            <p:cNvPr id="15" name="Imagem 14">
              <a:extLst>
                <a:ext uri="{FF2B5EF4-FFF2-40B4-BE49-F238E27FC236}">
                  <a16:creationId xmlns:a16="http://schemas.microsoft.com/office/drawing/2014/main" id="{097D918F-CC2B-42C3-AA79-7935C824CE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44163" y="84791"/>
              <a:ext cx="1998871" cy="444194"/>
            </a:xfrm>
            <a:prstGeom prst="rect">
              <a:avLst/>
            </a:prstGeom>
          </p:spPr>
        </p:pic>
        <p:pic>
          <p:nvPicPr>
            <p:cNvPr id="16" name="Imagem 15" descr="Desenho com traços pretos em fundo branco e letras pretas em fundo branco&#10;&#10;Descrição gerada automaticamente com confiança média">
              <a:extLst>
                <a:ext uri="{FF2B5EF4-FFF2-40B4-BE49-F238E27FC236}">
                  <a16:creationId xmlns:a16="http://schemas.microsoft.com/office/drawing/2014/main" id="{2DC19A36-0916-4BCB-AB5D-E7A2A48E1E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48617" y="116632"/>
              <a:ext cx="673021" cy="4441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Imagem 16">
              <a:extLst>
                <a:ext uri="{FF2B5EF4-FFF2-40B4-BE49-F238E27FC236}">
                  <a16:creationId xmlns:a16="http://schemas.microsoft.com/office/drawing/2014/main" id="{68398C3D-8562-4F85-B4C6-86BBDA332CF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50549" y="116632"/>
              <a:ext cx="663678" cy="444194"/>
            </a:xfrm>
            <a:prstGeom prst="rect">
              <a:avLst/>
            </a:prstGeom>
          </p:spPr>
        </p:pic>
        <p:sp>
          <p:nvSpPr>
            <p:cNvPr id="18" name="Fluxograma: Processo 17">
              <a:extLst>
                <a:ext uri="{FF2B5EF4-FFF2-40B4-BE49-F238E27FC236}">
                  <a16:creationId xmlns:a16="http://schemas.microsoft.com/office/drawing/2014/main" id="{974A88B2-9B2F-46D6-AA77-38E50B00D999}"/>
                </a:ext>
              </a:extLst>
            </p:cNvPr>
            <p:cNvSpPr/>
            <p:nvPr/>
          </p:nvSpPr>
          <p:spPr>
            <a:xfrm>
              <a:off x="2629213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9" name="Fluxograma: Processo 18">
              <a:extLst>
                <a:ext uri="{FF2B5EF4-FFF2-40B4-BE49-F238E27FC236}">
                  <a16:creationId xmlns:a16="http://schemas.microsoft.com/office/drawing/2014/main" id="{D1B5B00C-0D47-4611-81F3-7F90BB12AA59}"/>
                </a:ext>
              </a:extLst>
            </p:cNvPr>
            <p:cNvSpPr/>
            <p:nvPr/>
          </p:nvSpPr>
          <p:spPr>
            <a:xfrm>
              <a:off x="4909367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20" name="Fluxograma: Processo 19">
              <a:extLst>
                <a:ext uri="{FF2B5EF4-FFF2-40B4-BE49-F238E27FC236}">
                  <a16:creationId xmlns:a16="http://schemas.microsoft.com/office/drawing/2014/main" id="{EC49A414-0956-4A38-BDDF-956BCCE78AEE}"/>
                </a:ext>
              </a:extLst>
            </p:cNvPr>
            <p:cNvSpPr/>
            <p:nvPr/>
          </p:nvSpPr>
          <p:spPr>
            <a:xfrm>
              <a:off x="7215168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pic>
        <p:nvPicPr>
          <p:cNvPr id="6" name="Imagem 5">
            <a:extLst>
              <a:ext uri="{FF2B5EF4-FFF2-40B4-BE49-F238E27FC236}">
                <a16:creationId xmlns:a16="http://schemas.microsoft.com/office/drawing/2014/main" id="{8ADAB723-EF1A-42D8-A5B3-C80124DC2D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73296" y="4912283"/>
            <a:ext cx="5550908" cy="508026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B5B7067A-65C9-B428-EB66-C6669B565EA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83473" y="2668287"/>
            <a:ext cx="2598983" cy="2498009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1D0E88D3-2AE6-74D9-B17F-FBC97A547511}"/>
              </a:ext>
            </a:extLst>
          </p:cNvPr>
          <p:cNvSpPr/>
          <p:nvPr/>
        </p:nvSpPr>
        <p:spPr>
          <a:xfrm>
            <a:off x="7790877" y="5204865"/>
            <a:ext cx="1584176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800" dirty="0">
                <a:solidFill>
                  <a:schemeClr val="accent6">
                    <a:lumMod val="50000"/>
                  </a:schemeClr>
                </a:solidFill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Foto:</a:t>
            </a:r>
            <a:r>
              <a:rPr lang="it-IT" sz="80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it-IT" sz="800" dirty="0">
                <a:solidFill>
                  <a:schemeClr val="accent6">
                    <a:lumMod val="75000"/>
                  </a:schemeClr>
                </a:solidFill>
              </a:rPr>
              <a:t>https://br.freepik.com</a:t>
            </a:r>
            <a:endParaRPr lang="pt-BR" sz="8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0" name="Espaço reservado para conteúdo 13">
            <a:extLst>
              <a:ext uri="{FF2B5EF4-FFF2-40B4-BE49-F238E27FC236}">
                <a16:creationId xmlns:a16="http://schemas.microsoft.com/office/drawing/2014/main" id="{E14B0DB1-B185-EF21-0381-27E872574B7E}"/>
              </a:ext>
            </a:extLst>
          </p:cNvPr>
          <p:cNvSpPr txBox="1">
            <a:spLocks/>
          </p:cNvSpPr>
          <p:nvPr/>
        </p:nvSpPr>
        <p:spPr>
          <a:xfrm>
            <a:off x="1125860" y="3071019"/>
            <a:ext cx="5176192" cy="3415578"/>
          </a:xfrm>
          <a:prstGeom prst="rect">
            <a:avLst/>
          </a:prstGeom>
        </p:spPr>
        <p:txBody>
          <a:bodyPr rtlCol="0"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800" dirty="0"/>
              <a:t>A criação de um </a:t>
            </a:r>
            <a:r>
              <a:rPr lang="pt-BR" sz="1800" b="1" dirty="0">
                <a:solidFill>
                  <a:schemeClr val="tx2">
                    <a:lumMod val="85000"/>
                    <a:lumOff val="15000"/>
                  </a:schemeClr>
                </a:solidFill>
              </a:rPr>
              <a:t>aplicativo</a:t>
            </a:r>
            <a:r>
              <a:rPr lang="pt-BR" sz="1800" b="1" dirty="0"/>
              <a:t> </a:t>
            </a:r>
            <a:r>
              <a:rPr lang="pt-BR" sz="1800" dirty="0"/>
              <a:t>voltado para idosos, que </a:t>
            </a:r>
            <a:r>
              <a:rPr lang="pt-BR" sz="1800" b="1" dirty="0">
                <a:solidFill>
                  <a:schemeClr val="tx2">
                    <a:lumMod val="85000"/>
                    <a:lumOff val="15000"/>
                  </a:schemeClr>
                </a:solidFill>
              </a:rPr>
              <a:t>auxilia no cuidado com a saúde </a:t>
            </a:r>
            <a:r>
              <a:rPr lang="pt-BR" sz="1800" dirty="0"/>
              <a:t>de forma </a:t>
            </a:r>
            <a:r>
              <a:rPr lang="pt-BR" sz="1800" b="1" dirty="0">
                <a:solidFill>
                  <a:schemeClr val="tx2">
                    <a:lumMod val="85000"/>
                    <a:lumOff val="15000"/>
                  </a:schemeClr>
                </a:solidFill>
              </a:rPr>
              <a:t>simples e acessível</a:t>
            </a:r>
            <a:r>
              <a:rPr lang="pt-BR" sz="1800" dirty="0"/>
              <a:t>. O app contará com telas específicas para organização dos medicamentos, além de um espaço para agendar consultas e exames. </a:t>
            </a:r>
          </a:p>
          <a:p>
            <a:r>
              <a:rPr lang="pt-BR" sz="1800" dirty="0"/>
              <a:t>Também oferecerá uma </a:t>
            </a:r>
            <a:r>
              <a:rPr lang="pt-BR" sz="1800" b="1" dirty="0">
                <a:solidFill>
                  <a:schemeClr val="tx2">
                    <a:lumMod val="85000"/>
                    <a:lumOff val="15000"/>
                  </a:schemeClr>
                </a:solidFill>
              </a:rPr>
              <a:t>interface intuitiva</a:t>
            </a:r>
            <a:r>
              <a:rPr lang="pt-BR" sz="1800" b="1" dirty="0"/>
              <a:t>, </a:t>
            </a:r>
            <a:r>
              <a:rPr lang="pt-BR" sz="1800" b="1" dirty="0">
                <a:solidFill>
                  <a:schemeClr val="tx2">
                    <a:lumMod val="85000"/>
                    <a:lumOff val="15000"/>
                  </a:schemeClr>
                </a:solidFill>
              </a:rPr>
              <a:t>facilitando o uso </a:t>
            </a:r>
            <a:r>
              <a:rPr lang="pt-BR" sz="1800" dirty="0"/>
              <a:t>mesmo para aqueles que tenham pouca familiaridade com a tecnologia.</a:t>
            </a:r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730650AD-BEA5-44F2-8110-F61744B97A1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4256" y="96696"/>
            <a:ext cx="1514156" cy="523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566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Rodapé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BR" noProof="0" dirty="0"/>
              <a:t>Equipe_03</a:t>
            </a: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DC1BBB0-96F0-4077-A278-0F3FB5C104D3}" type="slidenum">
              <a:rPr lang="pt-BR" noProof="0" smtClean="0"/>
              <a:pPr rtl="0"/>
              <a:t>8</a:t>
            </a:fld>
            <a:endParaRPr lang="pt-BR" noProof="0" dirty="0"/>
          </a:p>
        </p:txBody>
      </p:sp>
      <p:sp>
        <p:nvSpPr>
          <p:cNvPr id="5" name="Espaço reservado para conteúdo 13">
            <a:extLst>
              <a:ext uri="{FF2B5EF4-FFF2-40B4-BE49-F238E27FC236}">
                <a16:creationId xmlns:a16="http://schemas.microsoft.com/office/drawing/2014/main" id="{68EA1406-9D0A-F316-CA4B-D6FA46DEDD20}"/>
              </a:ext>
            </a:extLst>
          </p:cNvPr>
          <p:cNvSpPr txBox="1">
            <a:spLocks/>
          </p:cNvSpPr>
          <p:nvPr/>
        </p:nvSpPr>
        <p:spPr>
          <a:xfrm>
            <a:off x="1125860" y="2237286"/>
            <a:ext cx="7175085" cy="1872208"/>
          </a:xfrm>
          <a:prstGeom prst="rect">
            <a:avLst/>
          </a:prstGeom>
        </p:spPr>
        <p:txBody>
          <a:bodyPr rtlCol="0"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000" b="1" dirty="0">
                <a:solidFill>
                  <a:schemeClr val="tx2">
                    <a:lumMod val="85000"/>
                    <a:lumOff val="15000"/>
                  </a:schemeClr>
                </a:solidFill>
              </a:rPr>
              <a:t>Público Alvo</a:t>
            </a:r>
          </a:p>
          <a:p>
            <a:endParaRPr lang="pt-BR" sz="2000" dirty="0"/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306CF383-86BE-4807-90B1-358A5BECE709}"/>
              </a:ext>
            </a:extLst>
          </p:cNvPr>
          <p:cNvSpPr txBox="1">
            <a:spLocks/>
          </p:cNvSpPr>
          <p:nvPr/>
        </p:nvSpPr>
        <p:spPr>
          <a:xfrm>
            <a:off x="1053852" y="836712"/>
            <a:ext cx="6397054" cy="7312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400" b="1" dirty="0"/>
              <a:t>Trabalho de Conclusão de Curso</a:t>
            </a:r>
          </a:p>
        </p:txBody>
      </p:sp>
      <p:sp>
        <p:nvSpPr>
          <p:cNvPr id="13" name="Subtítulo 2">
            <a:extLst>
              <a:ext uri="{FF2B5EF4-FFF2-40B4-BE49-F238E27FC236}">
                <a16:creationId xmlns:a16="http://schemas.microsoft.com/office/drawing/2014/main" id="{00B1AEDC-7D96-4DE1-B8DF-DCD9B40C88B7}"/>
              </a:ext>
            </a:extLst>
          </p:cNvPr>
          <p:cNvSpPr txBox="1">
            <a:spLocks/>
          </p:cNvSpPr>
          <p:nvPr/>
        </p:nvSpPr>
        <p:spPr>
          <a:xfrm>
            <a:off x="1116797" y="1506026"/>
            <a:ext cx="3969503" cy="5953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Euphemia" pitchFamily="34" charset="0"/>
              <a:buNone/>
            </a:pPr>
            <a:r>
              <a:rPr lang="pt-BR" sz="1800" dirty="0"/>
              <a:t>Desenvolvimento de Sistemas</a:t>
            </a: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A40F2AE1-D35B-45F6-B403-7441794FAC04}"/>
              </a:ext>
            </a:extLst>
          </p:cNvPr>
          <p:cNvGrpSpPr/>
          <p:nvPr/>
        </p:nvGrpSpPr>
        <p:grpSpPr>
          <a:xfrm>
            <a:off x="2629213" y="0"/>
            <a:ext cx="6913821" cy="620688"/>
            <a:chOff x="2629213" y="0"/>
            <a:chExt cx="6913821" cy="620688"/>
          </a:xfrm>
        </p:grpSpPr>
        <p:pic>
          <p:nvPicPr>
            <p:cNvPr id="15" name="Imagem 14">
              <a:extLst>
                <a:ext uri="{FF2B5EF4-FFF2-40B4-BE49-F238E27FC236}">
                  <a16:creationId xmlns:a16="http://schemas.microsoft.com/office/drawing/2014/main" id="{097D918F-CC2B-42C3-AA79-7935C824CE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44163" y="84791"/>
              <a:ext cx="1998871" cy="444194"/>
            </a:xfrm>
            <a:prstGeom prst="rect">
              <a:avLst/>
            </a:prstGeom>
          </p:spPr>
        </p:pic>
        <p:pic>
          <p:nvPicPr>
            <p:cNvPr id="16" name="Imagem 15" descr="Desenho com traços pretos em fundo branco e letras pretas em fundo branco&#10;&#10;Descrição gerada automaticamente com confiança média">
              <a:extLst>
                <a:ext uri="{FF2B5EF4-FFF2-40B4-BE49-F238E27FC236}">
                  <a16:creationId xmlns:a16="http://schemas.microsoft.com/office/drawing/2014/main" id="{2DC19A36-0916-4BCB-AB5D-E7A2A48E1E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48617" y="116632"/>
              <a:ext cx="673021" cy="4441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Imagem 16">
              <a:extLst>
                <a:ext uri="{FF2B5EF4-FFF2-40B4-BE49-F238E27FC236}">
                  <a16:creationId xmlns:a16="http://schemas.microsoft.com/office/drawing/2014/main" id="{68398C3D-8562-4F85-B4C6-86BBDA332CF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50549" y="116632"/>
              <a:ext cx="663678" cy="444194"/>
            </a:xfrm>
            <a:prstGeom prst="rect">
              <a:avLst/>
            </a:prstGeom>
          </p:spPr>
        </p:pic>
        <p:sp>
          <p:nvSpPr>
            <p:cNvPr id="18" name="Fluxograma: Processo 17">
              <a:extLst>
                <a:ext uri="{FF2B5EF4-FFF2-40B4-BE49-F238E27FC236}">
                  <a16:creationId xmlns:a16="http://schemas.microsoft.com/office/drawing/2014/main" id="{974A88B2-9B2F-46D6-AA77-38E50B00D999}"/>
                </a:ext>
              </a:extLst>
            </p:cNvPr>
            <p:cNvSpPr/>
            <p:nvPr/>
          </p:nvSpPr>
          <p:spPr>
            <a:xfrm>
              <a:off x="2629213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9" name="Fluxograma: Processo 18">
              <a:extLst>
                <a:ext uri="{FF2B5EF4-FFF2-40B4-BE49-F238E27FC236}">
                  <a16:creationId xmlns:a16="http://schemas.microsoft.com/office/drawing/2014/main" id="{D1B5B00C-0D47-4611-81F3-7F90BB12AA59}"/>
                </a:ext>
              </a:extLst>
            </p:cNvPr>
            <p:cNvSpPr/>
            <p:nvPr/>
          </p:nvSpPr>
          <p:spPr>
            <a:xfrm>
              <a:off x="4909367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20" name="Fluxograma: Processo 19">
              <a:extLst>
                <a:ext uri="{FF2B5EF4-FFF2-40B4-BE49-F238E27FC236}">
                  <a16:creationId xmlns:a16="http://schemas.microsoft.com/office/drawing/2014/main" id="{EC49A414-0956-4A38-BDDF-956BCCE78AEE}"/>
                </a:ext>
              </a:extLst>
            </p:cNvPr>
            <p:cNvSpPr/>
            <p:nvPr/>
          </p:nvSpPr>
          <p:spPr>
            <a:xfrm>
              <a:off x="7215168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sp>
        <p:nvSpPr>
          <p:cNvPr id="2" name="Retângulo 1">
            <a:extLst>
              <a:ext uri="{FF2B5EF4-FFF2-40B4-BE49-F238E27FC236}">
                <a16:creationId xmlns:a16="http://schemas.microsoft.com/office/drawing/2014/main" id="{C0A2E4FD-18EA-4BB0-AA2F-46C8AFAE7F6B}"/>
              </a:ext>
            </a:extLst>
          </p:cNvPr>
          <p:cNvSpPr/>
          <p:nvPr/>
        </p:nvSpPr>
        <p:spPr>
          <a:xfrm>
            <a:off x="1236789" y="2708920"/>
            <a:ext cx="554461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chemeClr val="tx2">
                    <a:lumMod val="85000"/>
                    <a:lumOff val="15000"/>
                  </a:schemeClr>
                </a:solidFill>
              </a:rPr>
              <a:t>Pessoas idosas </a:t>
            </a:r>
            <a:r>
              <a:rPr lang="pt-BR" dirty="0"/>
              <a:t>acima de 60 anos que precisam de apoio no </a:t>
            </a:r>
            <a:r>
              <a:rPr lang="pt-BR" b="1" dirty="0">
                <a:solidFill>
                  <a:schemeClr val="tx2">
                    <a:lumMod val="85000"/>
                    <a:lumOff val="15000"/>
                  </a:schemeClr>
                </a:solidFill>
              </a:rPr>
              <a:t>cuidado da saúde</a:t>
            </a:r>
            <a:r>
              <a:rPr lang="pt-BR" dirty="0"/>
              <a:t>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1D033ABE-542F-4823-BED0-4981862A80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99782" y="2420887"/>
            <a:ext cx="2812035" cy="2812035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99CB6EA3-9A78-4138-89CB-D483DA71A5A7}"/>
              </a:ext>
            </a:extLst>
          </p:cNvPr>
          <p:cNvSpPr/>
          <p:nvPr/>
        </p:nvSpPr>
        <p:spPr>
          <a:xfrm>
            <a:off x="8069695" y="5311855"/>
            <a:ext cx="1872208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800" dirty="0">
                <a:solidFill>
                  <a:schemeClr val="accent6">
                    <a:lumMod val="50000"/>
                  </a:schemeClr>
                </a:solidFill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Foto: </a:t>
            </a:r>
            <a:r>
              <a:rPr lang="it-IT" sz="800" dirty="0">
                <a:solidFill>
                  <a:schemeClr val="accent6">
                    <a:lumMod val="75000"/>
                  </a:schemeClr>
                </a:solidFill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https://www.flaticon.com/br</a:t>
            </a:r>
            <a:r>
              <a:rPr lang="it-IT" sz="800" dirty="0">
                <a:solidFill>
                  <a:schemeClr val="accent6">
                    <a:lumMod val="75000"/>
                  </a:schemeClr>
                </a:solidFill>
              </a:rPr>
              <a:t>:</a:t>
            </a:r>
            <a:endParaRPr lang="pt-BR" sz="800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5957EE65-BC04-4163-BA3A-F820F4F08D1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4256" y="96696"/>
            <a:ext cx="1514156" cy="523992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5E1BA4BB-660C-4AB2-8771-62DADDB48F72}"/>
              </a:ext>
            </a:extLst>
          </p:cNvPr>
          <p:cNvSpPr/>
          <p:nvPr/>
        </p:nvSpPr>
        <p:spPr>
          <a:xfrm>
            <a:off x="1236789" y="4437112"/>
            <a:ext cx="6092825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b="1" dirty="0">
                <a:solidFill>
                  <a:schemeClr val="tx2">
                    <a:lumMod val="85000"/>
                    <a:lumOff val="15000"/>
                  </a:schemeClr>
                </a:solidFill>
              </a:rPr>
              <a:t>Cuidadores responsáveis </a:t>
            </a:r>
            <a:r>
              <a:rPr lang="pt-BR" dirty="0"/>
              <a:t>pelo acompanhamento e </a:t>
            </a:r>
            <a:r>
              <a:rPr lang="pt-BR" b="1" dirty="0">
                <a:solidFill>
                  <a:schemeClr val="tx2">
                    <a:lumMod val="85000"/>
                    <a:lumOff val="15000"/>
                  </a:schemeClr>
                </a:solidFill>
              </a:rPr>
              <a:t>suporte</a:t>
            </a:r>
            <a:r>
              <a:rPr lang="pt-BR" dirty="0"/>
              <a:t> à saúde de idosos.</a:t>
            </a:r>
          </a:p>
        </p:txBody>
      </p:sp>
      <p:sp>
        <p:nvSpPr>
          <p:cNvPr id="22" name="Espaço reservado para conteúdo 13">
            <a:extLst>
              <a:ext uri="{FF2B5EF4-FFF2-40B4-BE49-F238E27FC236}">
                <a16:creationId xmlns:a16="http://schemas.microsoft.com/office/drawing/2014/main" id="{0006122A-9701-4E59-A54B-EC948B25E2C6}"/>
              </a:ext>
            </a:extLst>
          </p:cNvPr>
          <p:cNvSpPr txBox="1">
            <a:spLocks/>
          </p:cNvSpPr>
          <p:nvPr/>
        </p:nvSpPr>
        <p:spPr>
          <a:xfrm>
            <a:off x="1292433" y="3356992"/>
            <a:ext cx="1656184" cy="1030966"/>
          </a:xfrm>
          <a:prstGeom prst="rect">
            <a:avLst/>
          </a:prstGeom>
        </p:spPr>
        <p:txBody>
          <a:bodyPr rtlCol="0"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200" dirty="0"/>
              <a:t>60-69 anos: 53%</a:t>
            </a:r>
          </a:p>
          <a:p>
            <a:r>
              <a:rPr lang="pt-BR" sz="1200" dirty="0"/>
              <a:t>70-79 anos: 31%</a:t>
            </a:r>
          </a:p>
          <a:p>
            <a:r>
              <a:rPr lang="pt-BR" sz="1200" dirty="0"/>
              <a:t>80+ anos: 16%</a:t>
            </a:r>
          </a:p>
        </p:txBody>
      </p:sp>
      <p:sp>
        <p:nvSpPr>
          <p:cNvPr id="23" name="Espaço reservado para conteúdo 13">
            <a:extLst>
              <a:ext uri="{FF2B5EF4-FFF2-40B4-BE49-F238E27FC236}">
                <a16:creationId xmlns:a16="http://schemas.microsoft.com/office/drawing/2014/main" id="{12087830-53B5-4ACB-A92D-70D5D5953BD6}"/>
              </a:ext>
            </a:extLst>
          </p:cNvPr>
          <p:cNvSpPr txBox="1">
            <a:spLocks/>
          </p:cNvSpPr>
          <p:nvPr/>
        </p:nvSpPr>
        <p:spPr>
          <a:xfrm>
            <a:off x="1236789" y="5190731"/>
            <a:ext cx="5760640" cy="353206"/>
          </a:xfrm>
          <a:prstGeom prst="rect">
            <a:avLst/>
          </a:prstGeom>
        </p:spPr>
        <p:txBody>
          <a:bodyPr rtlCol="0"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400" dirty="0"/>
              <a:t>Idosos com doenças crônicas múltiplas (30%.).</a:t>
            </a:r>
          </a:p>
          <a:p>
            <a:r>
              <a:rPr lang="pt-BR" sz="1400" dirty="0"/>
              <a:t>Idosos assistidos por familiares ou cuidadores (20%).</a:t>
            </a:r>
          </a:p>
          <a:p>
            <a:r>
              <a:rPr lang="pt-BR" sz="1400" dirty="0"/>
              <a:t>Idosos com baixa alfabetização digital (65+ anos).</a:t>
            </a:r>
          </a:p>
          <a:p>
            <a:r>
              <a:rPr lang="pt-BR" sz="1400" dirty="0"/>
              <a:t>Idosos entre 60 a 74 anos são mais ativos digitalmente. </a:t>
            </a:r>
          </a:p>
        </p:txBody>
      </p:sp>
    </p:spTree>
    <p:extLst>
      <p:ext uri="{BB962C8B-B14F-4D97-AF65-F5344CB8AC3E}">
        <p14:creationId xmlns:p14="http://schemas.microsoft.com/office/powerpoint/2010/main" val="1482410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Rodapé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BR" noProof="0" dirty="0"/>
              <a:t>Equipe_03</a:t>
            </a: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DC1BBB0-96F0-4077-A278-0F3FB5C104D3}" type="slidenum">
              <a:rPr lang="pt-BR" noProof="0" smtClean="0"/>
              <a:pPr rtl="0"/>
              <a:t>9</a:t>
            </a:fld>
            <a:endParaRPr lang="pt-BR" noProof="0" dirty="0"/>
          </a:p>
        </p:txBody>
      </p:sp>
      <p:sp>
        <p:nvSpPr>
          <p:cNvPr id="5" name="Espaço reservado para conteúdo 13">
            <a:extLst>
              <a:ext uri="{FF2B5EF4-FFF2-40B4-BE49-F238E27FC236}">
                <a16:creationId xmlns:a16="http://schemas.microsoft.com/office/drawing/2014/main" id="{68EA1406-9D0A-F316-CA4B-D6FA46DEDD20}"/>
              </a:ext>
            </a:extLst>
          </p:cNvPr>
          <p:cNvSpPr txBox="1">
            <a:spLocks/>
          </p:cNvSpPr>
          <p:nvPr/>
        </p:nvSpPr>
        <p:spPr>
          <a:xfrm>
            <a:off x="1125861" y="2237286"/>
            <a:ext cx="1402552" cy="399626"/>
          </a:xfrm>
          <a:prstGeom prst="rect">
            <a:avLst/>
          </a:prstGeom>
        </p:spPr>
        <p:txBody>
          <a:bodyPr rtlCol="0"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000" b="1" dirty="0">
                <a:solidFill>
                  <a:schemeClr val="tx2">
                    <a:lumMod val="85000"/>
                    <a:lumOff val="15000"/>
                  </a:schemeClr>
                </a:solidFill>
              </a:rPr>
              <a:t>Esboço</a:t>
            </a: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306CF383-86BE-4807-90B1-358A5BECE709}"/>
              </a:ext>
            </a:extLst>
          </p:cNvPr>
          <p:cNvSpPr txBox="1">
            <a:spLocks/>
          </p:cNvSpPr>
          <p:nvPr/>
        </p:nvSpPr>
        <p:spPr>
          <a:xfrm>
            <a:off x="1053852" y="836712"/>
            <a:ext cx="6397054" cy="7312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400" b="1" dirty="0"/>
              <a:t>Trabalho de Conclusão de Curso</a:t>
            </a:r>
          </a:p>
        </p:txBody>
      </p:sp>
      <p:sp>
        <p:nvSpPr>
          <p:cNvPr id="13" name="Subtítulo 2">
            <a:extLst>
              <a:ext uri="{FF2B5EF4-FFF2-40B4-BE49-F238E27FC236}">
                <a16:creationId xmlns:a16="http://schemas.microsoft.com/office/drawing/2014/main" id="{00B1AEDC-7D96-4DE1-B8DF-DCD9B40C88B7}"/>
              </a:ext>
            </a:extLst>
          </p:cNvPr>
          <p:cNvSpPr txBox="1">
            <a:spLocks/>
          </p:cNvSpPr>
          <p:nvPr/>
        </p:nvSpPr>
        <p:spPr>
          <a:xfrm>
            <a:off x="1053852" y="1506026"/>
            <a:ext cx="3969503" cy="5953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Euphemia" pitchFamily="34" charset="0"/>
              <a:buNone/>
            </a:pPr>
            <a:r>
              <a:rPr lang="pt-BR" sz="1800" dirty="0"/>
              <a:t>Desenvolvimento de Sistemas</a:t>
            </a: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A40F2AE1-D35B-45F6-B403-7441794FAC04}"/>
              </a:ext>
            </a:extLst>
          </p:cNvPr>
          <p:cNvGrpSpPr/>
          <p:nvPr/>
        </p:nvGrpSpPr>
        <p:grpSpPr>
          <a:xfrm>
            <a:off x="2629213" y="0"/>
            <a:ext cx="6913821" cy="620688"/>
            <a:chOff x="2629213" y="0"/>
            <a:chExt cx="6913821" cy="620688"/>
          </a:xfrm>
        </p:grpSpPr>
        <p:pic>
          <p:nvPicPr>
            <p:cNvPr id="15" name="Imagem 14">
              <a:extLst>
                <a:ext uri="{FF2B5EF4-FFF2-40B4-BE49-F238E27FC236}">
                  <a16:creationId xmlns:a16="http://schemas.microsoft.com/office/drawing/2014/main" id="{097D918F-CC2B-42C3-AA79-7935C824CE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44163" y="84791"/>
              <a:ext cx="1998871" cy="444194"/>
            </a:xfrm>
            <a:prstGeom prst="rect">
              <a:avLst/>
            </a:prstGeom>
          </p:spPr>
        </p:pic>
        <p:pic>
          <p:nvPicPr>
            <p:cNvPr id="16" name="Imagem 15" descr="Desenho com traços pretos em fundo branco e letras pretas em fundo branco&#10;&#10;Descrição gerada automaticamente com confiança média">
              <a:extLst>
                <a:ext uri="{FF2B5EF4-FFF2-40B4-BE49-F238E27FC236}">
                  <a16:creationId xmlns:a16="http://schemas.microsoft.com/office/drawing/2014/main" id="{2DC19A36-0916-4BCB-AB5D-E7A2A48E1E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48617" y="116632"/>
              <a:ext cx="673021" cy="4441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Imagem 16">
              <a:extLst>
                <a:ext uri="{FF2B5EF4-FFF2-40B4-BE49-F238E27FC236}">
                  <a16:creationId xmlns:a16="http://schemas.microsoft.com/office/drawing/2014/main" id="{68398C3D-8562-4F85-B4C6-86BBDA332CF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50549" y="116632"/>
              <a:ext cx="663678" cy="444194"/>
            </a:xfrm>
            <a:prstGeom prst="rect">
              <a:avLst/>
            </a:prstGeom>
          </p:spPr>
        </p:pic>
        <p:sp>
          <p:nvSpPr>
            <p:cNvPr id="18" name="Fluxograma: Processo 17">
              <a:extLst>
                <a:ext uri="{FF2B5EF4-FFF2-40B4-BE49-F238E27FC236}">
                  <a16:creationId xmlns:a16="http://schemas.microsoft.com/office/drawing/2014/main" id="{974A88B2-9B2F-46D6-AA77-38E50B00D999}"/>
                </a:ext>
              </a:extLst>
            </p:cNvPr>
            <p:cNvSpPr/>
            <p:nvPr/>
          </p:nvSpPr>
          <p:spPr>
            <a:xfrm>
              <a:off x="2629213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9" name="Fluxograma: Processo 18">
              <a:extLst>
                <a:ext uri="{FF2B5EF4-FFF2-40B4-BE49-F238E27FC236}">
                  <a16:creationId xmlns:a16="http://schemas.microsoft.com/office/drawing/2014/main" id="{D1B5B00C-0D47-4611-81F3-7F90BB12AA59}"/>
                </a:ext>
              </a:extLst>
            </p:cNvPr>
            <p:cNvSpPr/>
            <p:nvPr/>
          </p:nvSpPr>
          <p:spPr>
            <a:xfrm>
              <a:off x="4909367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20" name="Fluxograma: Processo 19">
              <a:extLst>
                <a:ext uri="{FF2B5EF4-FFF2-40B4-BE49-F238E27FC236}">
                  <a16:creationId xmlns:a16="http://schemas.microsoft.com/office/drawing/2014/main" id="{EC49A414-0956-4A38-BDDF-956BCCE78AEE}"/>
                </a:ext>
              </a:extLst>
            </p:cNvPr>
            <p:cNvSpPr/>
            <p:nvPr/>
          </p:nvSpPr>
          <p:spPr>
            <a:xfrm>
              <a:off x="7215168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pic>
        <p:nvPicPr>
          <p:cNvPr id="3" name="Imagem 2">
            <a:extLst>
              <a:ext uri="{FF2B5EF4-FFF2-40B4-BE49-F238E27FC236}">
                <a16:creationId xmlns:a16="http://schemas.microsoft.com/office/drawing/2014/main" id="{8E3A4033-8DCB-4703-BCD8-2908D7C376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15700" y="2101339"/>
            <a:ext cx="6397054" cy="4246613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B26899A5-618F-4F5A-988E-7C58E7795B3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4256" y="96696"/>
            <a:ext cx="1514156" cy="523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178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Rodapé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BR" noProof="0" dirty="0"/>
              <a:t>Equipe_03</a:t>
            </a: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DC1BBB0-96F0-4077-A278-0F3FB5C104D3}" type="slidenum">
              <a:rPr lang="pt-BR" noProof="0" smtClean="0"/>
              <a:pPr rtl="0"/>
              <a:t>10</a:t>
            </a:fld>
            <a:endParaRPr lang="pt-BR" noProof="0" dirty="0"/>
          </a:p>
        </p:txBody>
      </p:sp>
      <p:sp>
        <p:nvSpPr>
          <p:cNvPr id="5" name="Espaço reservado para conteúdo 13">
            <a:extLst>
              <a:ext uri="{FF2B5EF4-FFF2-40B4-BE49-F238E27FC236}">
                <a16:creationId xmlns:a16="http://schemas.microsoft.com/office/drawing/2014/main" id="{68EA1406-9D0A-F316-CA4B-D6FA46DEDD20}"/>
              </a:ext>
            </a:extLst>
          </p:cNvPr>
          <p:cNvSpPr txBox="1">
            <a:spLocks/>
          </p:cNvSpPr>
          <p:nvPr/>
        </p:nvSpPr>
        <p:spPr>
          <a:xfrm>
            <a:off x="1125860" y="2237286"/>
            <a:ext cx="7175085" cy="1872208"/>
          </a:xfrm>
          <a:prstGeom prst="rect">
            <a:avLst/>
          </a:prstGeom>
        </p:spPr>
        <p:txBody>
          <a:bodyPr rtlCol="0"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000" b="1" dirty="0">
                <a:solidFill>
                  <a:schemeClr val="tx2">
                    <a:lumMod val="85000"/>
                    <a:lumOff val="15000"/>
                  </a:schemeClr>
                </a:solidFill>
              </a:rPr>
              <a:t>Objetivos Gerais</a:t>
            </a: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306CF383-86BE-4807-90B1-358A5BECE709}"/>
              </a:ext>
            </a:extLst>
          </p:cNvPr>
          <p:cNvSpPr txBox="1">
            <a:spLocks/>
          </p:cNvSpPr>
          <p:nvPr/>
        </p:nvSpPr>
        <p:spPr>
          <a:xfrm>
            <a:off x="1053852" y="836712"/>
            <a:ext cx="6397054" cy="7312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400" b="1" dirty="0"/>
              <a:t>Trabalho de Conclusão de Curso</a:t>
            </a:r>
          </a:p>
        </p:txBody>
      </p:sp>
      <p:sp>
        <p:nvSpPr>
          <p:cNvPr id="13" name="Subtítulo 2">
            <a:extLst>
              <a:ext uri="{FF2B5EF4-FFF2-40B4-BE49-F238E27FC236}">
                <a16:creationId xmlns:a16="http://schemas.microsoft.com/office/drawing/2014/main" id="{00B1AEDC-7D96-4DE1-B8DF-DCD9B40C88B7}"/>
              </a:ext>
            </a:extLst>
          </p:cNvPr>
          <p:cNvSpPr txBox="1">
            <a:spLocks/>
          </p:cNvSpPr>
          <p:nvPr/>
        </p:nvSpPr>
        <p:spPr>
          <a:xfrm>
            <a:off x="1116797" y="1506026"/>
            <a:ext cx="3969503" cy="5953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Euphemia" pitchFamily="34" charset="0"/>
              <a:buNone/>
            </a:pPr>
            <a:r>
              <a:rPr lang="pt-BR" sz="1800" dirty="0"/>
              <a:t>Desenvolvimento de Sistemas</a:t>
            </a: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A40F2AE1-D35B-45F6-B403-7441794FAC04}"/>
              </a:ext>
            </a:extLst>
          </p:cNvPr>
          <p:cNvGrpSpPr/>
          <p:nvPr/>
        </p:nvGrpSpPr>
        <p:grpSpPr>
          <a:xfrm>
            <a:off x="2629213" y="0"/>
            <a:ext cx="6913821" cy="620688"/>
            <a:chOff x="2629213" y="0"/>
            <a:chExt cx="6913821" cy="620688"/>
          </a:xfrm>
        </p:grpSpPr>
        <p:pic>
          <p:nvPicPr>
            <p:cNvPr id="15" name="Imagem 14">
              <a:extLst>
                <a:ext uri="{FF2B5EF4-FFF2-40B4-BE49-F238E27FC236}">
                  <a16:creationId xmlns:a16="http://schemas.microsoft.com/office/drawing/2014/main" id="{097D918F-CC2B-42C3-AA79-7935C824CE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44163" y="84791"/>
              <a:ext cx="1998871" cy="444194"/>
            </a:xfrm>
            <a:prstGeom prst="rect">
              <a:avLst/>
            </a:prstGeom>
          </p:spPr>
        </p:pic>
        <p:pic>
          <p:nvPicPr>
            <p:cNvPr id="16" name="Imagem 15" descr="Desenho com traços pretos em fundo branco e letras pretas em fundo branco&#10;&#10;Descrição gerada automaticamente com confiança média">
              <a:extLst>
                <a:ext uri="{FF2B5EF4-FFF2-40B4-BE49-F238E27FC236}">
                  <a16:creationId xmlns:a16="http://schemas.microsoft.com/office/drawing/2014/main" id="{2DC19A36-0916-4BCB-AB5D-E7A2A48E1E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48617" y="116632"/>
              <a:ext cx="673021" cy="4441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Imagem 16">
              <a:extLst>
                <a:ext uri="{FF2B5EF4-FFF2-40B4-BE49-F238E27FC236}">
                  <a16:creationId xmlns:a16="http://schemas.microsoft.com/office/drawing/2014/main" id="{68398C3D-8562-4F85-B4C6-86BBDA332CF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50549" y="116632"/>
              <a:ext cx="663678" cy="444194"/>
            </a:xfrm>
            <a:prstGeom prst="rect">
              <a:avLst/>
            </a:prstGeom>
          </p:spPr>
        </p:pic>
        <p:sp>
          <p:nvSpPr>
            <p:cNvPr id="18" name="Fluxograma: Processo 17">
              <a:extLst>
                <a:ext uri="{FF2B5EF4-FFF2-40B4-BE49-F238E27FC236}">
                  <a16:creationId xmlns:a16="http://schemas.microsoft.com/office/drawing/2014/main" id="{974A88B2-9B2F-46D6-AA77-38E50B00D999}"/>
                </a:ext>
              </a:extLst>
            </p:cNvPr>
            <p:cNvSpPr/>
            <p:nvPr/>
          </p:nvSpPr>
          <p:spPr>
            <a:xfrm>
              <a:off x="2629213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9" name="Fluxograma: Processo 18">
              <a:extLst>
                <a:ext uri="{FF2B5EF4-FFF2-40B4-BE49-F238E27FC236}">
                  <a16:creationId xmlns:a16="http://schemas.microsoft.com/office/drawing/2014/main" id="{D1B5B00C-0D47-4611-81F3-7F90BB12AA59}"/>
                </a:ext>
              </a:extLst>
            </p:cNvPr>
            <p:cNvSpPr/>
            <p:nvPr/>
          </p:nvSpPr>
          <p:spPr>
            <a:xfrm>
              <a:off x="4909367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20" name="Fluxograma: Processo 19">
              <a:extLst>
                <a:ext uri="{FF2B5EF4-FFF2-40B4-BE49-F238E27FC236}">
                  <a16:creationId xmlns:a16="http://schemas.microsoft.com/office/drawing/2014/main" id="{EC49A414-0956-4A38-BDDF-956BCCE78AEE}"/>
                </a:ext>
              </a:extLst>
            </p:cNvPr>
            <p:cNvSpPr/>
            <p:nvPr/>
          </p:nvSpPr>
          <p:spPr>
            <a:xfrm>
              <a:off x="7215168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sp>
        <p:nvSpPr>
          <p:cNvPr id="3" name="Espaço reservado para conteúdo 13">
            <a:extLst>
              <a:ext uri="{FF2B5EF4-FFF2-40B4-BE49-F238E27FC236}">
                <a16:creationId xmlns:a16="http://schemas.microsoft.com/office/drawing/2014/main" id="{47638F1B-DC53-0D36-8DF5-EAA1FA6C663E}"/>
              </a:ext>
            </a:extLst>
          </p:cNvPr>
          <p:cNvSpPr txBox="1">
            <a:spLocks/>
          </p:cNvSpPr>
          <p:nvPr/>
        </p:nvSpPr>
        <p:spPr>
          <a:xfrm>
            <a:off x="1116797" y="2940773"/>
            <a:ext cx="5176192" cy="2288427"/>
          </a:xfrm>
          <a:prstGeom prst="rect">
            <a:avLst/>
          </a:prstGeom>
        </p:spPr>
        <p:txBody>
          <a:bodyPr rtlCol="0"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sz="1800" dirty="0"/>
              <a:t>Desenvolver um </a:t>
            </a:r>
            <a:r>
              <a:rPr lang="pt-BR" sz="1800" b="1" dirty="0">
                <a:solidFill>
                  <a:schemeClr val="tx2">
                    <a:lumMod val="85000"/>
                    <a:lumOff val="15000"/>
                  </a:schemeClr>
                </a:solidFill>
              </a:rPr>
              <a:t>aplicativo que auxilie</a:t>
            </a:r>
            <a:r>
              <a:rPr lang="pt-BR" sz="1800" dirty="0">
                <a:solidFill>
                  <a:schemeClr val="tx2">
                    <a:lumMod val="85000"/>
                    <a:lumOff val="15000"/>
                  </a:schemeClr>
                </a:solidFill>
              </a:rPr>
              <a:t> </a:t>
            </a:r>
            <a:r>
              <a:rPr lang="pt-BR" sz="1800" dirty="0"/>
              <a:t>idosos a </a:t>
            </a:r>
            <a:r>
              <a:rPr lang="pt-BR" sz="1800" b="1" dirty="0">
                <a:solidFill>
                  <a:schemeClr val="tx2">
                    <a:lumMod val="85000"/>
                    <a:lumOff val="15000"/>
                  </a:schemeClr>
                </a:solidFill>
              </a:rPr>
              <a:t>manter sua saúde em dia</a:t>
            </a:r>
            <a:r>
              <a:rPr lang="pt-BR" sz="1800" dirty="0"/>
              <a:t>, evitando problemas graves em relação a remédios. Facilitar consultas, exames, medicamentos.</a:t>
            </a:r>
          </a:p>
          <a:p>
            <a:pPr algn="just"/>
            <a:r>
              <a:rPr lang="pt-BR" sz="1800" dirty="0"/>
              <a:t>além de permitir contato rápido com serviços de emergência. </a:t>
            </a:r>
            <a:r>
              <a:rPr lang="pt-BR" sz="1800" b="1" dirty="0">
                <a:solidFill>
                  <a:schemeClr val="tx2">
                    <a:lumMod val="85000"/>
                    <a:lumOff val="15000"/>
                  </a:schemeClr>
                </a:solidFill>
              </a:rPr>
              <a:t>Tornar o uso da tecnologia simples e acessível</a:t>
            </a:r>
            <a:r>
              <a:rPr lang="pt-BR" sz="1800" dirty="0">
                <a:solidFill>
                  <a:schemeClr val="tx2">
                    <a:lumMod val="85000"/>
                    <a:lumOff val="15000"/>
                  </a:schemeClr>
                </a:solidFill>
              </a:rPr>
              <a:t>, </a:t>
            </a:r>
            <a:r>
              <a:rPr lang="pt-BR" sz="1800" dirty="0"/>
              <a:t>evitando desânimo e promovendo autonomia.</a:t>
            </a:r>
          </a:p>
        </p:txBody>
      </p:sp>
      <p:pic>
        <p:nvPicPr>
          <p:cNvPr id="2050" name="Picture 2" descr="Objetivo - ícones de diversos grátis">
            <a:extLst>
              <a:ext uri="{FF2B5EF4-FFF2-40B4-BE49-F238E27FC236}">
                <a16:creationId xmlns:a16="http://schemas.microsoft.com/office/drawing/2014/main" id="{B6A8744E-AC16-C171-0D05-DE02DC7CA0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2604" y="2775842"/>
            <a:ext cx="2473982" cy="2473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9597E49E-30C4-903D-116B-BB3CA6DD1440}"/>
              </a:ext>
            </a:extLst>
          </p:cNvPr>
          <p:cNvSpPr/>
          <p:nvPr/>
        </p:nvSpPr>
        <p:spPr>
          <a:xfrm>
            <a:off x="8123491" y="5301208"/>
            <a:ext cx="1872208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800" dirty="0">
                <a:solidFill>
                  <a:schemeClr val="accent6">
                    <a:lumMod val="50000"/>
                  </a:schemeClr>
                </a:solidFill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Foto: </a:t>
            </a:r>
            <a:r>
              <a:rPr lang="it-IT" sz="800" dirty="0">
                <a:solidFill>
                  <a:schemeClr val="accent6">
                    <a:lumMod val="75000"/>
                  </a:schemeClr>
                </a:solidFill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https://www.flaticon.com/br</a:t>
            </a:r>
            <a:r>
              <a:rPr lang="it-IT" sz="800" dirty="0">
                <a:solidFill>
                  <a:schemeClr val="accent6">
                    <a:lumMod val="75000"/>
                  </a:schemeClr>
                </a:solidFill>
              </a:rPr>
              <a:t>:</a:t>
            </a:r>
            <a:endParaRPr lang="pt-BR" sz="800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8EFA3E9E-7D46-46FD-8C6F-A30EF61B824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4256" y="96696"/>
            <a:ext cx="1514156" cy="523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792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Rodapé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BR" noProof="0" dirty="0"/>
              <a:t>Equipe_03</a:t>
            </a: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DC1BBB0-96F0-4077-A278-0F3FB5C104D3}" type="slidenum">
              <a:rPr lang="pt-BR" noProof="0" smtClean="0"/>
              <a:pPr rtl="0"/>
              <a:t>11</a:t>
            </a:fld>
            <a:endParaRPr lang="pt-BR" noProof="0" dirty="0"/>
          </a:p>
        </p:txBody>
      </p:sp>
      <p:sp>
        <p:nvSpPr>
          <p:cNvPr id="5" name="Espaço reservado para conteúdo 13">
            <a:extLst>
              <a:ext uri="{FF2B5EF4-FFF2-40B4-BE49-F238E27FC236}">
                <a16:creationId xmlns:a16="http://schemas.microsoft.com/office/drawing/2014/main" id="{68EA1406-9D0A-F316-CA4B-D6FA46DEDD20}"/>
              </a:ext>
            </a:extLst>
          </p:cNvPr>
          <p:cNvSpPr txBox="1">
            <a:spLocks/>
          </p:cNvSpPr>
          <p:nvPr/>
        </p:nvSpPr>
        <p:spPr>
          <a:xfrm>
            <a:off x="1125860" y="2237286"/>
            <a:ext cx="2952327" cy="399626"/>
          </a:xfrm>
          <a:prstGeom prst="rect">
            <a:avLst/>
          </a:prstGeom>
        </p:spPr>
        <p:txBody>
          <a:bodyPr rtlCol="0"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000" b="1" dirty="0">
                <a:solidFill>
                  <a:schemeClr val="tx2">
                    <a:lumMod val="85000"/>
                    <a:lumOff val="15000"/>
                  </a:schemeClr>
                </a:solidFill>
              </a:rPr>
              <a:t>Objetivos Específicos</a:t>
            </a: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306CF383-86BE-4807-90B1-358A5BECE709}"/>
              </a:ext>
            </a:extLst>
          </p:cNvPr>
          <p:cNvSpPr txBox="1">
            <a:spLocks/>
          </p:cNvSpPr>
          <p:nvPr/>
        </p:nvSpPr>
        <p:spPr>
          <a:xfrm>
            <a:off x="1053852" y="836712"/>
            <a:ext cx="6397054" cy="7312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400" b="1" dirty="0"/>
              <a:t>Trabalho de Conclusão de Curso</a:t>
            </a:r>
          </a:p>
        </p:txBody>
      </p:sp>
      <p:sp>
        <p:nvSpPr>
          <p:cNvPr id="13" name="Subtítulo 2">
            <a:extLst>
              <a:ext uri="{FF2B5EF4-FFF2-40B4-BE49-F238E27FC236}">
                <a16:creationId xmlns:a16="http://schemas.microsoft.com/office/drawing/2014/main" id="{00B1AEDC-7D96-4DE1-B8DF-DCD9B40C88B7}"/>
              </a:ext>
            </a:extLst>
          </p:cNvPr>
          <p:cNvSpPr txBox="1">
            <a:spLocks/>
          </p:cNvSpPr>
          <p:nvPr/>
        </p:nvSpPr>
        <p:spPr>
          <a:xfrm>
            <a:off x="1108607" y="1501516"/>
            <a:ext cx="3969503" cy="5953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Euphemia" pitchFamily="34" charset="0"/>
              <a:buNone/>
            </a:pPr>
            <a:r>
              <a:rPr lang="pt-BR" sz="1800" dirty="0"/>
              <a:t>Desenvolvimento de Sistemas</a:t>
            </a: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A40F2AE1-D35B-45F6-B403-7441794FAC04}"/>
              </a:ext>
            </a:extLst>
          </p:cNvPr>
          <p:cNvGrpSpPr/>
          <p:nvPr/>
        </p:nvGrpSpPr>
        <p:grpSpPr>
          <a:xfrm>
            <a:off x="2629213" y="0"/>
            <a:ext cx="6913821" cy="620688"/>
            <a:chOff x="2629213" y="0"/>
            <a:chExt cx="6913821" cy="620688"/>
          </a:xfrm>
        </p:grpSpPr>
        <p:pic>
          <p:nvPicPr>
            <p:cNvPr id="15" name="Imagem 14">
              <a:extLst>
                <a:ext uri="{FF2B5EF4-FFF2-40B4-BE49-F238E27FC236}">
                  <a16:creationId xmlns:a16="http://schemas.microsoft.com/office/drawing/2014/main" id="{097D918F-CC2B-42C3-AA79-7935C824CE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44163" y="84791"/>
              <a:ext cx="1998871" cy="444194"/>
            </a:xfrm>
            <a:prstGeom prst="rect">
              <a:avLst/>
            </a:prstGeom>
          </p:spPr>
        </p:pic>
        <p:pic>
          <p:nvPicPr>
            <p:cNvPr id="16" name="Imagem 15" descr="Desenho com traços pretos em fundo branco e letras pretas em fundo branco&#10;&#10;Descrição gerada automaticamente com confiança média">
              <a:extLst>
                <a:ext uri="{FF2B5EF4-FFF2-40B4-BE49-F238E27FC236}">
                  <a16:creationId xmlns:a16="http://schemas.microsoft.com/office/drawing/2014/main" id="{2DC19A36-0916-4BCB-AB5D-E7A2A48E1E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48617" y="116632"/>
              <a:ext cx="673021" cy="4441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Imagem 16">
              <a:extLst>
                <a:ext uri="{FF2B5EF4-FFF2-40B4-BE49-F238E27FC236}">
                  <a16:creationId xmlns:a16="http://schemas.microsoft.com/office/drawing/2014/main" id="{68398C3D-8562-4F85-B4C6-86BBDA332CF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50549" y="116632"/>
              <a:ext cx="663678" cy="444194"/>
            </a:xfrm>
            <a:prstGeom prst="rect">
              <a:avLst/>
            </a:prstGeom>
          </p:spPr>
        </p:pic>
        <p:sp>
          <p:nvSpPr>
            <p:cNvPr id="18" name="Fluxograma: Processo 17">
              <a:extLst>
                <a:ext uri="{FF2B5EF4-FFF2-40B4-BE49-F238E27FC236}">
                  <a16:creationId xmlns:a16="http://schemas.microsoft.com/office/drawing/2014/main" id="{974A88B2-9B2F-46D6-AA77-38E50B00D999}"/>
                </a:ext>
              </a:extLst>
            </p:cNvPr>
            <p:cNvSpPr/>
            <p:nvPr/>
          </p:nvSpPr>
          <p:spPr>
            <a:xfrm>
              <a:off x="2629213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9" name="Fluxograma: Processo 18">
              <a:extLst>
                <a:ext uri="{FF2B5EF4-FFF2-40B4-BE49-F238E27FC236}">
                  <a16:creationId xmlns:a16="http://schemas.microsoft.com/office/drawing/2014/main" id="{D1B5B00C-0D47-4611-81F3-7F90BB12AA59}"/>
                </a:ext>
              </a:extLst>
            </p:cNvPr>
            <p:cNvSpPr/>
            <p:nvPr/>
          </p:nvSpPr>
          <p:spPr>
            <a:xfrm>
              <a:off x="4909367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20" name="Fluxograma: Processo 19">
              <a:extLst>
                <a:ext uri="{FF2B5EF4-FFF2-40B4-BE49-F238E27FC236}">
                  <a16:creationId xmlns:a16="http://schemas.microsoft.com/office/drawing/2014/main" id="{EC49A414-0956-4A38-BDDF-956BCCE78AEE}"/>
                </a:ext>
              </a:extLst>
            </p:cNvPr>
            <p:cNvSpPr/>
            <p:nvPr/>
          </p:nvSpPr>
          <p:spPr>
            <a:xfrm>
              <a:off x="7215168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sp>
        <p:nvSpPr>
          <p:cNvPr id="3" name="Espaço reservado para conteúdo 13">
            <a:extLst>
              <a:ext uri="{FF2B5EF4-FFF2-40B4-BE49-F238E27FC236}">
                <a16:creationId xmlns:a16="http://schemas.microsoft.com/office/drawing/2014/main" id="{D6F014D4-3F22-ED80-3E14-FF5C41B39D5C}"/>
              </a:ext>
            </a:extLst>
          </p:cNvPr>
          <p:cNvSpPr txBox="1">
            <a:spLocks/>
          </p:cNvSpPr>
          <p:nvPr/>
        </p:nvSpPr>
        <p:spPr>
          <a:xfrm>
            <a:off x="1125861" y="3003786"/>
            <a:ext cx="5760640" cy="2152826"/>
          </a:xfrm>
          <a:prstGeom prst="rect">
            <a:avLst/>
          </a:prstGeom>
        </p:spPr>
        <p:txBody>
          <a:bodyPr rtlCol="0"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400" dirty="0"/>
              <a:t>Projetar </a:t>
            </a:r>
            <a:r>
              <a:rPr lang="pt-BR" sz="1400" b="1" dirty="0">
                <a:solidFill>
                  <a:schemeClr val="tx2">
                    <a:lumMod val="85000"/>
                    <a:lumOff val="15000"/>
                  </a:schemeClr>
                </a:solidFill>
              </a:rPr>
              <a:t>interface acessível </a:t>
            </a:r>
            <a:r>
              <a:rPr lang="pt-BR" sz="1400" dirty="0"/>
              <a:t>e fácil de usar.</a:t>
            </a:r>
          </a:p>
          <a:p>
            <a:r>
              <a:rPr lang="pt-BR" sz="1400" dirty="0"/>
              <a:t>Analisar aplicativos existentes e </a:t>
            </a:r>
            <a:r>
              <a:rPr lang="pt-BR" sz="1400" b="1" dirty="0">
                <a:solidFill>
                  <a:schemeClr val="tx2">
                    <a:lumMod val="85000"/>
                    <a:lumOff val="15000"/>
                  </a:schemeClr>
                </a:solidFill>
              </a:rPr>
              <a:t>identificar pontos fortes e fracos.</a:t>
            </a:r>
          </a:p>
          <a:p>
            <a:r>
              <a:rPr lang="pt-BR" sz="1400" dirty="0"/>
              <a:t>Criar módulo de </a:t>
            </a:r>
            <a:r>
              <a:rPr lang="pt-BR" sz="1400" b="1" dirty="0">
                <a:solidFill>
                  <a:schemeClr val="tx2">
                    <a:lumMod val="85000"/>
                    <a:lumOff val="15000"/>
                  </a:schemeClr>
                </a:solidFill>
              </a:rPr>
              <a:t>agendamento</a:t>
            </a:r>
            <a:r>
              <a:rPr lang="pt-BR" sz="1400" dirty="0"/>
              <a:t> de consultas e exames.</a:t>
            </a:r>
          </a:p>
          <a:p>
            <a:r>
              <a:rPr lang="pt-BR" sz="1400" dirty="0"/>
              <a:t>Testar o aplicativo com idosos e </a:t>
            </a:r>
            <a:r>
              <a:rPr lang="pt-BR" sz="1400" b="1" dirty="0">
                <a:solidFill>
                  <a:schemeClr val="tx2">
                    <a:lumMod val="85000"/>
                    <a:lumOff val="15000"/>
                  </a:schemeClr>
                </a:solidFill>
              </a:rPr>
              <a:t>ajustar conforme feedback</a:t>
            </a:r>
            <a:r>
              <a:rPr lang="pt-BR" sz="1400" dirty="0"/>
              <a:t>.</a:t>
            </a:r>
          </a:p>
          <a:p>
            <a:r>
              <a:rPr lang="pt-BR" sz="1400" dirty="0"/>
              <a:t>Avaliar </a:t>
            </a:r>
            <a:r>
              <a:rPr lang="pt-BR" sz="1400" b="1" dirty="0">
                <a:solidFill>
                  <a:schemeClr val="tx2">
                    <a:lumMod val="85000"/>
                    <a:lumOff val="15000"/>
                  </a:schemeClr>
                </a:solidFill>
              </a:rPr>
              <a:t>impacto </a:t>
            </a:r>
            <a:r>
              <a:rPr lang="pt-BR" sz="1400" dirty="0"/>
              <a:t>do app na </a:t>
            </a:r>
            <a:r>
              <a:rPr lang="pt-BR" sz="1400" b="1" dirty="0">
                <a:solidFill>
                  <a:schemeClr val="tx2">
                    <a:lumMod val="85000"/>
                    <a:lumOff val="15000"/>
                  </a:schemeClr>
                </a:solidFill>
              </a:rPr>
              <a:t>autonomia</a:t>
            </a:r>
            <a:r>
              <a:rPr lang="pt-BR" sz="1400" dirty="0"/>
              <a:t> dos idosos.</a:t>
            </a:r>
          </a:p>
          <a:p>
            <a:r>
              <a:rPr lang="pt-BR" sz="1400" b="1" dirty="0">
                <a:solidFill>
                  <a:schemeClr val="tx2">
                    <a:lumMod val="85000"/>
                    <a:lumOff val="15000"/>
                  </a:schemeClr>
                </a:solidFill>
              </a:rPr>
              <a:t>Integrar contatos </a:t>
            </a:r>
            <a:r>
              <a:rPr lang="pt-BR" sz="1400" dirty="0"/>
              <a:t>de emergência e hospitais.</a:t>
            </a:r>
          </a:p>
          <a:p>
            <a:endParaRPr lang="pt-BR" sz="1050" dirty="0"/>
          </a:p>
          <a:p>
            <a:endParaRPr lang="pt-BR" sz="1400" dirty="0"/>
          </a:p>
        </p:txBody>
      </p:sp>
      <p:pic>
        <p:nvPicPr>
          <p:cNvPr id="1032" name="Picture 8" descr="Alignment, business, management, process, strategy icon ...">
            <a:extLst>
              <a:ext uri="{FF2B5EF4-FFF2-40B4-BE49-F238E27FC236}">
                <a16:creationId xmlns:a16="http://schemas.microsoft.com/office/drawing/2014/main" id="{C5829A8D-9D94-93A7-24FE-9AB79BA1BD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4225" y="3036159"/>
            <a:ext cx="1836089" cy="18360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Retângulo 20">
            <a:extLst>
              <a:ext uri="{FF2B5EF4-FFF2-40B4-BE49-F238E27FC236}">
                <a16:creationId xmlns:a16="http://schemas.microsoft.com/office/drawing/2014/main" id="{15B49E5A-7DA7-4809-17AA-25076CA32306}"/>
              </a:ext>
            </a:extLst>
          </p:cNvPr>
          <p:cNvSpPr/>
          <p:nvPr/>
        </p:nvSpPr>
        <p:spPr>
          <a:xfrm>
            <a:off x="7972728" y="4941168"/>
            <a:ext cx="1759081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800" dirty="0">
                <a:solidFill>
                  <a:schemeClr val="accent6">
                    <a:lumMod val="50000"/>
                  </a:schemeClr>
                </a:solidFill>
                <a:latin typeface="Quicksand-Regular"/>
              </a:rPr>
              <a:t>Foto: https://www.iconfinder.com/</a:t>
            </a:r>
            <a:endParaRPr lang="pt-BR" sz="800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22" name="Imagem 21">
            <a:extLst>
              <a:ext uri="{FF2B5EF4-FFF2-40B4-BE49-F238E27FC236}">
                <a16:creationId xmlns:a16="http://schemas.microsoft.com/office/drawing/2014/main" id="{7BCFCAC9-6EBE-4AE8-ADCC-598428C810C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4256" y="96696"/>
            <a:ext cx="1514156" cy="523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0435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Rodapé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BR" noProof="0" dirty="0"/>
              <a:t>Equipe_03</a:t>
            </a: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DC1BBB0-96F0-4077-A278-0F3FB5C104D3}" type="slidenum">
              <a:rPr lang="pt-BR" noProof="0" smtClean="0"/>
              <a:pPr rtl="0"/>
              <a:t>12</a:t>
            </a:fld>
            <a:endParaRPr lang="pt-BR" noProof="0" dirty="0"/>
          </a:p>
        </p:txBody>
      </p:sp>
      <p:sp>
        <p:nvSpPr>
          <p:cNvPr id="5" name="Espaço reservado para conteúdo 13">
            <a:extLst>
              <a:ext uri="{FF2B5EF4-FFF2-40B4-BE49-F238E27FC236}">
                <a16:creationId xmlns:a16="http://schemas.microsoft.com/office/drawing/2014/main" id="{68EA1406-9D0A-F316-CA4B-D6FA46DEDD20}"/>
              </a:ext>
            </a:extLst>
          </p:cNvPr>
          <p:cNvSpPr txBox="1">
            <a:spLocks/>
          </p:cNvSpPr>
          <p:nvPr/>
        </p:nvSpPr>
        <p:spPr>
          <a:xfrm>
            <a:off x="1125860" y="2237286"/>
            <a:ext cx="1822757" cy="399626"/>
          </a:xfrm>
          <a:prstGeom prst="rect">
            <a:avLst/>
          </a:prstGeom>
        </p:spPr>
        <p:txBody>
          <a:bodyPr rtlCol="0"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000" b="1" dirty="0">
                <a:solidFill>
                  <a:schemeClr val="tx2">
                    <a:lumMod val="85000"/>
                    <a:lumOff val="15000"/>
                  </a:schemeClr>
                </a:solidFill>
              </a:rPr>
              <a:t>Justificativa</a:t>
            </a: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306CF383-86BE-4807-90B1-358A5BECE709}"/>
              </a:ext>
            </a:extLst>
          </p:cNvPr>
          <p:cNvSpPr txBox="1">
            <a:spLocks/>
          </p:cNvSpPr>
          <p:nvPr/>
        </p:nvSpPr>
        <p:spPr>
          <a:xfrm>
            <a:off x="1053852" y="836712"/>
            <a:ext cx="6397054" cy="7312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400" b="1" dirty="0"/>
              <a:t>Trabalho de Conclusão de Curso</a:t>
            </a:r>
          </a:p>
        </p:txBody>
      </p:sp>
      <p:sp>
        <p:nvSpPr>
          <p:cNvPr id="13" name="Subtítulo 2">
            <a:extLst>
              <a:ext uri="{FF2B5EF4-FFF2-40B4-BE49-F238E27FC236}">
                <a16:creationId xmlns:a16="http://schemas.microsoft.com/office/drawing/2014/main" id="{00B1AEDC-7D96-4DE1-B8DF-DCD9B40C88B7}"/>
              </a:ext>
            </a:extLst>
          </p:cNvPr>
          <p:cNvSpPr txBox="1">
            <a:spLocks/>
          </p:cNvSpPr>
          <p:nvPr/>
        </p:nvSpPr>
        <p:spPr>
          <a:xfrm>
            <a:off x="1108607" y="1501516"/>
            <a:ext cx="3969503" cy="5953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Euphemia" pitchFamily="34" charset="0"/>
              <a:buNone/>
            </a:pPr>
            <a:r>
              <a:rPr lang="pt-BR" sz="1800" dirty="0"/>
              <a:t>Desenvolvimento de Sistemas</a:t>
            </a: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A40F2AE1-D35B-45F6-B403-7441794FAC04}"/>
              </a:ext>
            </a:extLst>
          </p:cNvPr>
          <p:cNvGrpSpPr/>
          <p:nvPr/>
        </p:nvGrpSpPr>
        <p:grpSpPr>
          <a:xfrm>
            <a:off x="2629213" y="0"/>
            <a:ext cx="6913821" cy="620688"/>
            <a:chOff x="2629213" y="0"/>
            <a:chExt cx="6913821" cy="620688"/>
          </a:xfrm>
        </p:grpSpPr>
        <p:pic>
          <p:nvPicPr>
            <p:cNvPr id="15" name="Imagem 14">
              <a:extLst>
                <a:ext uri="{FF2B5EF4-FFF2-40B4-BE49-F238E27FC236}">
                  <a16:creationId xmlns:a16="http://schemas.microsoft.com/office/drawing/2014/main" id="{097D918F-CC2B-42C3-AA79-7935C824CE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44163" y="84791"/>
              <a:ext cx="1998871" cy="444194"/>
            </a:xfrm>
            <a:prstGeom prst="rect">
              <a:avLst/>
            </a:prstGeom>
          </p:spPr>
        </p:pic>
        <p:pic>
          <p:nvPicPr>
            <p:cNvPr id="16" name="Imagem 15" descr="Desenho com traços pretos em fundo branco e letras pretas em fundo branco&#10;&#10;Descrição gerada automaticamente com confiança média">
              <a:extLst>
                <a:ext uri="{FF2B5EF4-FFF2-40B4-BE49-F238E27FC236}">
                  <a16:creationId xmlns:a16="http://schemas.microsoft.com/office/drawing/2014/main" id="{2DC19A36-0916-4BCB-AB5D-E7A2A48E1E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48617" y="116632"/>
              <a:ext cx="673021" cy="4441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Imagem 16">
              <a:extLst>
                <a:ext uri="{FF2B5EF4-FFF2-40B4-BE49-F238E27FC236}">
                  <a16:creationId xmlns:a16="http://schemas.microsoft.com/office/drawing/2014/main" id="{68398C3D-8562-4F85-B4C6-86BBDA332CF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50549" y="116632"/>
              <a:ext cx="663678" cy="444194"/>
            </a:xfrm>
            <a:prstGeom prst="rect">
              <a:avLst/>
            </a:prstGeom>
          </p:spPr>
        </p:pic>
        <p:sp>
          <p:nvSpPr>
            <p:cNvPr id="18" name="Fluxograma: Processo 17">
              <a:extLst>
                <a:ext uri="{FF2B5EF4-FFF2-40B4-BE49-F238E27FC236}">
                  <a16:creationId xmlns:a16="http://schemas.microsoft.com/office/drawing/2014/main" id="{974A88B2-9B2F-46D6-AA77-38E50B00D999}"/>
                </a:ext>
              </a:extLst>
            </p:cNvPr>
            <p:cNvSpPr/>
            <p:nvPr/>
          </p:nvSpPr>
          <p:spPr>
            <a:xfrm>
              <a:off x="2629213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9" name="Fluxograma: Processo 18">
              <a:extLst>
                <a:ext uri="{FF2B5EF4-FFF2-40B4-BE49-F238E27FC236}">
                  <a16:creationId xmlns:a16="http://schemas.microsoft.com/office/drawing/2014/main" id="{D1B5B00C-0D47-4611-81F3-7F90BB12AA59}"/>
                </a:ext>
              </a:extLst>
            </p:cNvPr>
            <p:cNvSpPr/>
            <p:nvPr/>
          </p:nvSpPr>
          <p:spPr>
            <a:xfrm>
              <a:off x="4909367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20" name="Fluxograma: Processo 19">
              <a:extLst>
                <a:ext uri="{FF2B5EF4-FFF2-40B4-BE49-F238E27FC236}">
                  <a16:creationId xmlns:a16="http://schemas.microsoft.com/office/drawing/2014/main" id="{EC49A414-0956-4A38-BDDF-956BCCE78AEE}"/>
                </a:ext>
              </a:extLst>
            </p:cNvPr>
            <p:cNvSpPr/>
            <p:nvPr/>
          </p:nvSpPr>
          <p:spPr>
            <a:xfrm>
              <a:off x="7215168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sp>
        <p:nvSpPr>
          <p:cNvPr id="2" name="Espaço reservado para conteúdo 13">
            <a:extLst>
              <a:ext uri="{FF2B5EF4-FFF2-40B4-BE49-F238E27FC236}">
                <a16:creationId xmlns:a16="http://schemas.microsoft.com/office/drawing/2014/main" id="{540075A1-E500-609B-C733-4FCA4BEE2EC6}"/>
              </a:ext>
            </a:extLst>
          </p:cNvPr>
          <p:cNvSpPr txBox="1">
            <a:spLocks/>
          </p:cNvSpPr>
          <p:nvPr/>
        </p:nvSpPr>
        <p:spPr>
          <a:xfrm>
            <a:off x="1194406" y="3063370"/>
            <a:ext cx="6397054" cy="1517758"/>
          </a:xfrm>
          <a:prstGeom prst="rect">
            <a:avLst/>
          </a:prstGeom>
        </p:spPr>
        <p:txBody>
          <a:bodyPr rtlCol="0"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sz="1600" dirty="0"/>
              <a:t>Estima-se que </a:t>
            </a:r>
            <a:r>
              <a:rPr lang="pt-BR" sz="1600" b="1" dirty="0">
                <a:solidFill>
                  <a:schemeClr val="tx2">
                    <a:lumMod val="85000"/>
                    <a:lumOff val="15000"/>
                  </a:schemeClr>
                </a:solidFill>
              </a:rPr>
              <a:t>70%</a:t>
            </a:r>
            <a:r>
              <a:rPr lang="pt-BR" sz="1600" dirty="0">
                <a:solidFill>
                  <a:schemeClr val="tx2">
                    <a:lumMod val="85000"/>
                    <a:lumOff val="15000"/>
                  </a:schemeClr>
                </a:solidFill>
              </a:rPr>
              <a:t> </a:t>
            </a:r>
            <a:r>
              <a:rPr lang="pt-BR" sz="1600" dirty="0"/>
              <a:t>dos idosos </a:t>
            </a:r>
            <a:r>
              <a:rPr lang="pt-BR" sz="1600" b="1" dirty="0">
                <a:solidFill>
                  <a:schemeClr val="tx2">
                    <a:lumMod val="85000"/>
                    <a:lumOff val="15000"/>
                  </a:schemeClr>
                </a:solidFill>
              </a:rPr>
              <a:t>enfrentam dificuldades </a:t>
            </a:r>
            <a:r>
              <a:rPr lang="pt-BR" sz="1600" dirty="0"/>
              <a:t>em alguma determinada situação, seja em relação a </a:t>
            </a:r>
            <a:r>
              <a:rPr lang="pt-BR" sz="1600" b="1" dirty="0">
                <a:solidFill>
                  <a:schemeClr val="tx2">
                    <a:lumMod val="85000"/>
                    <a:lumOff val="15000"/>
                  </a:schemeClr>
                </a:solidFill>
              </a:rPr>
              <a:t>medicamentos</a:t>
            </a:r>
            <a:r>
              <a:rPr lang="pt-BR" sz="1600" dirty="0"/>
              <a:t>, agendamento de consultas e uso de tecnologia, o que compromete sua </a:t>
            </a:r>
            <a:r>
              <a:rPr lang="pt-BR" sz="1600" b="1" dirty="0">
                <a:solidFill>
                  <a:schemeClr val="tx2">
                    <a:lumMod val="85000"/>
                    <a:lumOff val="15000"/>
                  </a:schemeClr>
                </a:solidFill>
              </a:rPr>
              <a:t>autonomia e</a:t>
            </a:r>
            <a:r>
              <a:rPr lang="pt-BR" sz="1600" dirty="0">
                <a:solidFill>
                  <a:schemeClr val="tx2">
                    <a:lumMod val="85000"/>
                    <a:lumOff val="15000"/>
                  </a:schemeClr>
                </a:solidFill>
              </a:rPr>
              <a:t> </a:t>
            </a:r>
            <a:r>
              <a:rPr lang="pt-BR" sz="1600" b="1" dirty="0">
                <a:solidFill>
                  <a:schemeClr val="tx2">
                    <a:lumMod val="85000"/>
                    <a:lumOff val="15000"/>
                  </a:schemeClr>
                </a:solidFill>
              </a:rPr>
              <a:t>saúde</a:t>
            </a:r>
            <a:r>
              <a:rPr lang="pt-BR" sz="1600" dirty="0"/>
              <a:t>. O desenvolvimento deste aplicativo busca facilitar essas </a:t>
            </a:r>
            <a:r>
              <a:rPr lang="pt-BR" sz="1600" b="1" dirty="0"/>
              <a:t>tarefas,</a:t>
            </a:r>
            <a:r>
              <a:rPr lang="pt-BR" sz="1600" dirty="0"/>
              <a:t> oferecendo </a:t>
            </a:r>
            <a:r>
              <a:rPr lang="pt-BR" sz="1600" b="1" dirty="0">
                <a:solidFill>
                  <a:schemeClr val="tx2">
                    <a:lumMod val="85000"/>
                    <a:lumOff val="15000"/>
                  </a:schemeClr>
                </a:solidFill>
              </a:rPr>
              <a:t>lembretes</a:t>
            </a:r>
            <a:r>
              <a:rPr lang="pt-BR" sz="1600" b="1" dirty="0"/>
              <a:t>,</a:t>
            </a:r>
            <a:r>
              <a:rPr lang="pt-BR" sz="1600" dirty="0"/>
              <a:t> </a:t>
            </a:r>
            <a:r>
              <a:rPr lang="pt-BR" sz="1600" b="1" dirty="0">
                <a:solidFill>
                  <a:schemeClr val="tx2">
                    <a:lumMod val="85000"/>
                    <a:lumOff val="15000"/>
                  </a:schemeClr>
                </a:solidFill>
              </a:rPr>
              <a:t>agendamentos</a:t>
            </a:r>
            <a:r>
              <a:rPr lang="pt-BR" sz="1600" dirty="0"/>
              <a:t> e </a:t>
            </a:r>
            <a:r>
              <a:rPr lang="pt-BR" sz="1600" b="1" dirty="0">
                <a:solidFill>
                  <a:schemeClr val="tx2">
                    <a:lumMod val="85000"/>
                    <a:lumOff val="15000"/>
                  </a:schemeClr>
                </a:solidFill>
              </a:rPr>
              <a:t>interface</a:t>
            </a:r>
            <a:r>
              <a:rPr lang="pt-BR" sz="1600" b="1" dirty="0"/>
              <a:t> </a:t>
            </a:r>
            <a:r>
              <a:rPr lang="pt-BR" sz="1600" b="1" dirty="0">
                <a:solidFill>
                  <a:schemeClr val="tx2">
                    <a:lumMod val="85000"/>
                    <a:lumOff val="15000"/>
                  </a:schemeClr>
                </a:solidFill>
              </a:rPr>
              <a:t>simples</a:t>
            </a:r>
            <a:r>
              <a:rPr lang="pt-BR" sz="1600" dirty="0"/>
              <a:t>, promovendo maior </a:t>
            </a:r>
            <a:r>
              <a:rPr lang="pt-BR" sz="1600" b="1" dirty="0">
                <a:solidFill>
                  <a:schemeClr val="tx2">
                    <a:lumMod val="85000"/>
                    <a:lumOff val="15000"/>
                  </a:schemeClr>
                </a:solidFill>
              </a:rPr>
              <a:t>segurança</a:t>
            </a:r>
            <a:r>
              <a:rPr lang="pt-BR" sz="1600" b="1" dirty="0"/>
              <a:t> </a:t>
            </a:r>
            <a:r>
              <a:rPr lang="pt-BR" sz="1600" dirty="0"/>
              <a:t>e </a:t>
            </a:r>
            <a:r>
              <a:rPr lang="pt-BR" sz="1600" b="1" dirty="0">
                <a:solidFill>
                  <a:schemeClr val="tx2">
                    <a:lumMod val="85000"/>
                    <a:lumOff val="15000"/>
                  </a:schemeClr>
                </a:solidFill>
              </a:rPr>
              <a:t>independência</a:t>
            </a:r>
            <a:r>
              <a:rPr lang="pt-BR" sz="1600" dirty="0"/>
              <a:t> para o público idoso.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BE4AC62F-6797-62F2-A002-F23A0D275F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90655" y="2966460"/>
            <a:ext cx="1681297" cy="1992516"/>
          </a:xfrm>
          <a:prstGeom prst="rect">
            <a:avLst/>
          </a:prstGeom>
        </p:spPr>
      </p:pic>
      <p:sp>
        <p:nvSpPr>
          <p:cNvPr id="10" name="Retângulo 9">
            <a:extLst>
              <a:ext uri="{FF2B5EF4-FFF2-40B4-BE49-F238E27FC236}">
                <a16:creationId xmlns:a16="http://schemas.microsoft.com/office/drawing/2014/main" id="{F9C6C773-28BC-0A07-1922-753FD7E98B81}"/>
              </a:ext>
            </a:extLst>
          </p:cNvPr>
          <p:cNvSpPr/>
          <p:nvPr/>
        </p:nvSpPr>
        <p:spPr>
          <a:xfrm>
            <a:off x="8516680" y="5145574"/>
            <a:ext cx="1455272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800" dirty="0">
                <a:solidFill>
                  <a:schemeClr val="accent6">
                    <a:lumMod val="50000"/>
                  </a:schemeClr>
                </a:solidFill>
                <a:latin typeface="Quicksand-Regular"/>
              </a:rPr>
              <a:t>Foto: https://pngtree.com/</a:t>
            </a:r>
            <a:endParaRPr lang="pt-BR" sz="800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AAEC1E6D-82B7-4BC4-9EDE-A9BF5BDB156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4256" y="96696"/>
            <a:ext cx="1514156" cy="523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9867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Rodapé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BR" noProof="0" dirty="0"/>
              <a:t>Equipe_03</a:t>
            </a: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DC1BBB0-96F0-4077-A278-0F3FB5C104D3}" type="slidenum">
              <a:rPr lang="pt-BR" noProof="0" smtClean="0"/>
              <a:pPr rtl="0"/>
              <a:t>13</a:t>
            </a:fld>
            <a:endParaRPr lang="pt-BR" noProof="0" dirty="0"/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306CF383-86BE-4807-90B1-358A5BECE709}"/>
              </a:ext>
            </a:extLst>
          </p:cNvPr>
          <p:cNvSpPr txBox="1">
            <a:spLocks/>
          </p:cNvSpPr>
          <p:nvPr/>
        </p:nvSpPr>
        <p:spPr>
          <a:xfrm>
            <a:off x="1053852" y="836712"/>
            <a:ext cx="6397054" cy="7312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400" b="1" dirty="0"/>
              <a:t>Trabalho de Conclusão de Curso</a:t>
            </a:r>
          </a:p>
        </p:txBody>
      </p:sp>
      <p:sp>
        <p:nvSpPr>
          <p:cNvPr id="13" name="Subtítulo 2">
            <a:extLst>
              <a:ext uri="{FF2B5EF4-FFF2-40B4-BE49-F238E27FC236}">
                <a16:creationId xmlns:a16="http://schemas.microsoft.com/office/drawing/2014/main" id="{00B1AEDC-7D96-4DE1-B8DF-DCD9B40C88B7}"/>
              </a:ext>
            </a:extLst>
          </p:cNvPr>
          <p:cNvSpPr txBox="1">
            <a:spLocks/>
          </p:cNvSpPr>
          <p:nvPr/>
        </p:nvSpPr>
        <p:spPr>
          <a:xfrm>
            <a:off x="1099566" y="1505762"/>
            <a:ext cx="3969503" cy="5953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Euphemia" pitchFamily="34" charset="0"/>
              <a:buNone/>
            </a:pPr>
            <a:r>
              <a:rPr lang="pt-BR" sz="1800" dirty="0"/>
              <a:t>Desenvolvimento de Sistemas</a:t>
            </a: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A40F2AE1-D35B-45F6-B403-7441794FAC04}"/>
              </a:ext>
            </a:extLst>
          </p:cNvPr>
          <p:cNvGrpSpPr/>
          <p:nvPr/>
        </p:nvGrpSpPr>
        <p:grpSpPr>
          <a:xfrm>
            <a:off x="2629213" y="0"/>
            <a:ext cx="6913821" cy="620688"/>
            <a:chOff x="2629213" y="0"/>
            <a:chExt cx="6913821" cy="620688"/>
          </a:xfrm>
        </p:grpSpPr>
        <p:pic>
          <p:nvPicPr>
            <p:cNvPr id="15" name="Imagem 14">
              <a:extLst>
                <a:ext uri="{FF2B5EF4-FFF2-40B4-BE49-F238E27FC236}">
                  <a16:creationId xmlns:a16="http://schemas.microsoft.com/office/drawing/2014/main" id="{097D918F-CC2B-42C3-AA79-7935C824CE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44163" y="84791"/>
              <a:ext cx="1998871" cy="444194"/>
            </a:xfrm>
            <a:prstGeom prst="rect">
              <a:avLst/>
            </a:prstGeom>
          </p:spPr>
        </p:pic>
        <p:pic>
          <p:nvPicPr>
            <p:cNvPr id="16" name="Imagem 15" descr="Desenho com traços pretos em fundo branco e letras pretas em fundo branco&#10;&#10;Descrição gerada automaticamente com confiança média">
              <a:extLst>
                <a:ext uri="{FF2B5EF4-FFF2-40B4-BE49-F238E27FC236}">
                  <a16:creationId xmlns:a16="http://schemas.microsoft.com/office/drawing/2014/main" id="{2DC19A36-0916-4BCB-AB5D-E7A2A48E1E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48617" y="116632"/>
              <a:ext cx="673021" cy="4441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Imagem 16">
              <a:extLst>
                <a:ext uri="{FF2B5EF4-FFF2-40B4-BE49-F238E27FC236}">
                  <a16:creationId xmlns:a16="http://schemas.microsoft.com/office/drawing/2014/main" id="{68398C3D-8562-4F85-B4C6-86BBDA332CF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50549" y="116632"/>
              <a:ext cx="663678" cy="444194"/>
            </a:xfrm>
            <a:prstGeom prst="rect">
              <a:avLst/>
            </a:prstGeom>
          </p:spPr>
        </p:pic>
        <p:sp>
          <p:nvSpPr>
            <p:cNvPr id="18" name="Fluxograma: Processo 17">
              <a:extLst>
                <a:ext uri="{FF2B5EF4-FFF2-40B4-BE49-F238E27FC236}">
                  <a16:creationId xmlns:a16="http://schemas.microsoft.com/office/drawing/2014/main" id="{974A88B2-9B2F-46D6-AA77-38E50B00D999}"/>
                </a:ext>
              </a:extLst>
            </p:cNvPr>
            <p:cNvSpPr/>
            <p:nvPr/>
          </p:nvSpPr>
          <p:spPr>
            <a:xfrm>
              <a:off x="2629213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9" name="Fluxograma: Processo 18">
              <a:extLst>
                <a:ext uri="{FF2B5EF4-FFF2-40B4-BE49-F238E27FC236}">
                  <a16:creationId xmlns:a16="http://schemas.microsoft.com/office/drawing/2014/main" id="{D1B5B00C-0D47-4611-81F3-7F90BB12AA59}"/>
                </a:ext>
              </a:extLst>
            </p:cNvPr>
            <p:cNvSpPr/>
            <p:nvPr/>
          </p:nvSpPr>
          <p:spPr>
            <a:xfrm>
              <a:off x="4909367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20" name="Fluxograma: Processo 19">
              <a:extLst>
                <a:ext uri="{FF2B5EF4-FFF2-40B4-BE49-F238E27FC236}">
                  <a16:creationId xmlns:a16="http://schemas.microsoft.com/office/drawing/2014/main" id="{EC49A414-0956-4A38-BDDF-956BCCE78AEE}"/>
                </a:ext>
              </a:extLst>
            </p:cNvPr>
            <p:cNvSpPr/>
            <p:nvPr/>
          </p:nvSpPr>
          <p:spPr>
            <a:xfrm>
              <a:off x="7215168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pic>
        <p:nvPicPr>
          <p:cNvPr id="4" name="Imagem 3">
            <a:extLst>
              <a:ext uri="{FF2B5EF4-FFF2-40B4-BE49-F238E27FC236}">
                <a16:creationId xmlns:a16="http://schemas.microsoft.com/office/drawing/2014/main" id="{B87216F2-B448-45E6-8436-31B8779C71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1497" y="2514743"/>
            <a:ext cx="3171299" cy="2560143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494C0A6B-28C9-4DC8-9EAE-62C4D3C2F602}"/>
              </a:ext>
            </a:extLst>
          </p:cNvPr>
          <p:cNvSpPr/>
          <p:nvPr/>
        </p:nvSpPr>
        <p:spPr>
          <a:xfrm>
            <a:off x="7805973" y="5209642"/>
            <a:ext cx="147525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800" dirty="0">
                <a:solidFill>
                  <a:schemeClr val="accent6">
                    <a:lumMod val="50000"/>
                  </a:schemeClr>
                </a:solidFill>
                <a:latin typeface="Quicksand-Regular"/>
              </a:rPr>
              <a:t>Foto: </a:t>
            </a:r>
            <a:r>
              <a:rPr lang="pt-BR" sz="800" dirty="0">
                <a:solidFill>
                  <a:schemeClr val="accent6">
                    <a:lumMod val="75000"/>
                  </a:schemeClr>
                </a:solidFill>
                <a:latin typeface="Quicksand-Regular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'https://br.freepik.com</a:t>
            </a:r>
            <a:endParaRPr lang="pt-BR" sz="8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D05B37F-0845-7DA8-95B8-01F860CE5E17}"/>
              </a:ext>
            </a:extLst>
          </p:cNvPr>
          <p:cNvSpPr/>
          <p:nvPr/>
        </p:nvSpPr>
        <p:spPr>
          <a:xfrm>
            <a:off x="1424918" y="3356992"/>
            <a:ext cx="439344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pt-BR" sz="1800" dirty="0"/>
              <a:t>Entregar pequenas partes do projeto </a:t>
            </a:r>
            <a:r>
              <a:rPr lang="pt-BR" sz="1800" b="1" dirty="0">
                <a:solidFill>
                  <a:schemeClr val="tx2">
                    <a:lumMod val="85000"/>
                    <a:lumOff val="15000"/>
                  </a:schemeClr>
                </a:solidFill>
              </a:rPr>
              <a:t>rapidamente</a:t>
            </a:r>
            <a:r>
              <a:rPr lang="pt-BR" sz="1800" dirty="0"/>
              <a:t>, ajustando sempre que necessário, com foco em </a:t>
            </a:r>
            <a:r>
              <a:rPr lang="pt-BR" sz="1800" b="1" dirty="0">
                <a:solidFill>
                  <a:schemeClr val="tx2">
                    <a:lumMod val="85000"/>
                    <a:lumOff val="15000"/>
                  </a:schemeClr>
                </a:solidFill>
              </a:rPr>
              <a:t>colaboração</a:t>
            </a:r>
            <a:r>
              <a:rPr lang="pt-BR" sz="1800" dirty="0"/>
              <a:t> e resultados.</a:t>
            </a:r>
          </a:p>
          <a:p>
            <a:endParaRPr lang="pt-BR" dirty="0"/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1AF808A0-F45E-453C-B987-6728FDA2E41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4256" y="96696"/>
            <a:ext cx="1514156" cy="523992"/>
          </a:xfrm>
          <a:prstGeom prst="rect">
            <a:avLst/>
          </a:prstGeom>
        </p:spPr>
      </p:pic>
      <p:sp>
        <p:nvSpPr>
          <p:cNvPr id="22" name="Espaço reservado para conteúdo 13">
            <a:extLst>
              <a:ext uri="{FF2B5EF4-FFF2-40B4-BE49-F238E27FC236}">
                <a16:creationId xmlns:a16="http://schemas.microsoft.com/office/drawing/2014/main" id="{EA0112CB-5015-40C5-98F1-7A72482F444F}"/>
              </a:ext>
            </a:extLst>
          </p:cNvPr>
          <p:cNvSpPr txBox="1">
            <a:spLocks/>
          </p:cNvSpPr>
          <p:nvPr/>
        </p:nvSpPr>
        <p:spPr>
          <a:xfrm>
            <a:off x="1076919" y="2204864"/>
            <a:ext cx="4505469" cy="289043"/>
          </a:xfrm>
          <a:prstGeom prst="rect">
            <a:avLst/>
          </a:prstGeom>
        </p:spPr>
        <p:txBody>
          <a:bodyPr rtlCol="0"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000" b="1" dirty="0">
                <a:solidFill>
                  <a:schemeClr val="tx2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Metodologia Utilizada foi o Scrum</a:t>
            </a:r>
          </a:p>
          <a:p>
            <a:endParaRPr lang="pt-BR" sz="2000" b="1" dirty="0">
              <a:solidFill>
                <a:schemeClr val="tx2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0390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Rodapé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BR" noProof="0" dirty="0"/>
              <a:t>Equipe_03</a:t>
            </a: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DC1BBB0-96F0-4077-A278-0F3FB5C104D3}" type="slidenum">
              <a:rPr lang="pt-BR" noProof="0" smtClean="0"/>
              <a:pPr rtl="0"/>
              <a:t>14</a:t>
            </a:fld>
            <a:endParaRPr lang="pt-BR" noProof="0" dirty="0"/>
          </a:p>
        </p:txBody>
      </p:sp>
      <p:sp>
        <p:nvSpPr>
          <p:cNvPr id="5" name="Espaço reservado para conteúdo 13">
            <a:extLst>
              <a:ext uri="{FF2B5EF4-FFF2-40B4-BE49-F238E27FC236}">
                <a16:creationId xmlns:a16="http://schemas.microsoft.com/office/drawing/2014/main" id="{68EA1406-9D0A-F316-CA4B-D6FA46DEDD20}"/>
              </a:ext>
            </a:extLst>
          </p:cNvPr>
          <p:cNvSpPr txBox="1">
            <a:spLocks/>
          </p:cNvSpPr>
          <p:nvPr/>
        </p:nvSpPr>
        <p:spPr>
          <a:xfrm>
            <a:off x="1156895" y="1988840"/>
            <a:ext cx="1822757" cy="365125"/>
          </a:xfrm>
          <a:prstGeom prst="rect">
            <a:avLst/>
          </a:prstGeom>
        </p:spPr>
        <p:txBody>
          <a:bodyPr rtlCol="0"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000" b="1" dirty="0">
                <a:solidFill>
                  <a:schemeClr val="tx2">
                    <a:lumMod val="85000"/>
                    <a:lumOff val="15000"/>
                  </a:schemeClr>
                </a:solidFill>
              </a:rPr>
              <a:t>Tecnologias</a:t>
            </a: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306CF383-86BE-4807-90B1-358A5BECE709}"/>
              </a:ext>
            </a:extLst>
          </p:cNvPr>
          <p:cNvSpPr txBox="1">
            <a:spLocks/>
          </p:cNvSpPr>
          <p:nvPr/>
        </p:nvSpPr>
        <p:spPr>
          <a:xfrm>
            <a:off x="1053852" y="836712"/>
            <a:ext cx="6397054" cy="7312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400" b="1" dirty="0"/>
              <a:t>Trabalho de Conclusão de Curso</a:t>
            </a:r>
          </a:p>
        </p:txBody>
      </p:sp>
      <p:sp>
        <p:nvSpPr>
          <p:cNvPr id="13" name="Subtítulo 2">
            <a:extLst>
              <a:ext uri="{FF2B5EF4-FFF2-40B4-BE49-F238E27FC236}">
                <a16:creationId xmlns:a16="http://schemas.microsoft.com/office/drawing/2014/main" id="{00B1AEDC-7D96-4DE1-B8DF-DCD9B40C88B7}"/>
              </a:ext>
            </a:extLst>
          </p:cNvPr>
          <p:cNvSpPr txBox="1">
            <a:spLocks/>
          </p:cNvSpPr>
          <p:nvPr/>
        </p:nvSpPr>
        <p:spPr>
          <a:xfrm>
            <a:off x="1089494" y="1506026"/>
            <a:ext cx="3969503" cy="5953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Euphemia" pitchFamily="34" charset="0"/>
              <a:buNone/>
            </a:pPr>
            <a:r>
              <a:rPr lang="pt-BR" sz="1800" dirty="0"/>
              <a:t>Desenvolvimento de Sistemas</a:t>
            </a: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A40F2AE1-D35B-45F6-B403-7441794FAC04}"/>
              </a:ext>
            </a:extLst>
          </p:cNvPr>
          <p:cNvGrpSpPr/>
          <p:nvPr/>
        </p:nvGrpSpPr>
        <p:grpSpPr>
          <a:xfrm>
            <a:off x="2629213" y="0"/>
            <a:ext cx="6913821" cy="620688"/>
            <a:chOff x="2629213" y="0"/>
            <a:chExt cx="6913821" cy="620688"/>
          </a:xfrm>
        </p:grpSpPr>
        <p:pic>
          <p:nvPicPr>
            <p:cNvPr id="15" name="Imagem 14">
              <a:extLst>
                <a:ext uri="{FF2B5EF4-FFF2-40B4-BE49-F238E27FC236}">
                  <a16:creationId xmlns:a16="http://schemas.microsoft.com/office/drawing/2014/main" id="{097D918F-CC2B-42C3-AA79-7935C824CE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44163" y="84791"/>
              <a:ext cx="1998871" cy="444194"/>
            </a:xfrm>
            <a:prstGeom prst="rect">
              <a:avLst/>
            </a:prstGeom>
          </p:spPr>
        </p:pic>
        <p:pic>
          <p:nvPicPr>
            <p:cNvPr id="16" name="Imagem 15" descr="Desenho com traços pretos em fundo branco e letras pretas em fundo branco&#10;&#10;Descrição gerada automaticamente com confiança média">
              <a:extLst>
                <a:ext uri="{FF2B5EF4-FFF2-40B4-BE49-F238E27FC236}">
                  <a16:creationId xmlns:a16="http://schemas.microsoft.com/office/drawing/2014/main" id="{2DC19A36-0916-4BCB-AB5D-E7A2A48E1E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48617" y="116632"/>
              <a:ext cx="673021" cy="4441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Imagem 16">
              <a:extLst>
                <a:ext uri="{FF2B5EF4-FFF2-40B4-BE49-F238E27FC236}">
                  <a16:creationId xmlns:a16="http://schemas.microsoft.com/office/drawing/2014/main" id="{68398C3D-8562-4F85-B4C6-86BBDA332CF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50549" y="116632"/>
              <a:ext cx="663678" cy="444194"/>
            </a:xfrm>
            <a:prstGeom prst="rect">
              <a:avLst/>
            </a:prstGeom>
          </p:spPr>
        </p:pic>
        <p:sp>
          <p:nvSpPr>
            <p:cNvPr id="18" name="Fluxograma: Processo 17">
              <a:extLst>
                <a:ext uri="{FF2B5EF4-FFF2-40B4-BE49-F238E27FC236}">
                  <a16:creationId xmlns:a16="http://schemas.microsoft.com/office/drawing/2014/main" id="{974A88B2-9B2F-46D6-AA77-38E50B00D999}"/>
                </a:ext>
              </a:extLst>
            </p:cNvPr>
            <p:cNvSpPr/>
            <p:nvPr/>
          </p:nvSpPr>
          <p:spPr>
            <a:xfrm>
              <a:off x="2629213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9" name="Fluxograma: Processo 18">
              <a:extLst>
                <a:ext uri="{FF2B5EF4-FFF2-40B4-BE49-F238E27FC236}">
                  <a16:creationId xmlns:a16="http://schemas.microsoft.com/office/drawing/2014/main" id="{D1B5B00C-0D47-4611-81F3-7F90BB12AA59}"/>
                </a:ext>
              </a:extLst>
            </p:cNvPr>
            <p:cNvSpPr/>
            <p:nvPr/>
          </p:nvSpPr>
          <p:spPr>
            <a:xfrm>
              <a:off x="4909367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20" name="Fluxograma: Processo 19">
              <a:extLst>
                <a:ext uri="{FF2B5EF4-FFF2-40B4-BE49-F238E27FC236}">
                  <a16:creationId xmlns:a16="http://schemas.microsoft.com/office/drawing/2014/main" id="{EC49A414-0956-4A38-BDDF-956BCCE78AEE}"/>
                </a:ext>
              </a:extLst>
            </p:cNvPr>
            <p:cNvSpPr/>
            <p:nvPr/>
          </p:nvSpPr>
          <p:spPr>
            <a:xfrm>
              <a:off x="7215168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sp>
        <p:nvSpPr>
          <p:cNvPr id="2" name="Retângulo 1">
            <a:extLst>
              <a:ext uri="{FF2B5EF4-FFF2-40B4-BE49-F238E27FC236}">
                <a16:creationId xmlns:a16="http://schemas.microsoft.com/office/drawing/2014/main" id="{F089F89C-65DB-4B1A-B56D-C65673B848C7}"/>
              </a:ext>
            </a:extLst>
          </p:cNvPr>
          <p:cNvSpPr/>
          <p:nvPr/>
        </p:nvSpPr>
        <p:spPr>
          <a:xfrm>
            <a:off x="1161461" y="2348880"/>
            <a:ext cx="41165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/>
              <a:t>Utilizamos as seguintes Ferramentas: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C1C2924C-EC15-4B6C-9C43-EAC79B11500B}"/>
              </a:ext>
            </a:extLst>
          </p:cNvPr>
          <p:cNvSpPr/>
          <p:nvPr/>
        </p:nvSpPr>
        <p:spPr>
          <a:xfrm>
            <a:off x="1156895" y="2628280"/>
            <a:ext cx="2129205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pt-BR" dirty="0"/>
              <a:t>Teams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pt-BR" dirty="0"/>
              <a:t>Bloco de Notas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pt-BR" dirty="0"/>
              <a:t>WhatsApp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pt-BR" dirty="0"/>
              <a:t>Google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pt-BR" dirty="0"/>
              <a:t>GitHub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pt-BR" dirty="0"/>
              <a:t>Word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pt-BR" dirty="0"/>
              <a:t>Figma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pt-BR" dirty="0"/>
              <a:t>Canva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pt-BR" dirty="0"/>
              <a:t>PowerPoint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pt-BR" dirty="0"/>
              <a:t>Draw.io</a:t>
            </a:r>
          </a:p>
          <a:p>
            <a:pPr marL="285750" indent="-285750">
              <a:buFontTx/>
              <a:buChar char="-"/>
            </a:pPr>
            <a:endParaRPr lang="pt-BR" dirty="0"/>
          </a:p>
        </p:txBody>
      </p:sp>
      <p:pic>
        <p:nvPicPr>
          <p:cNvPr id="1026" name="Picture 2" descr="Design PNG E SVG De Ícone De Ferramentas De Configuração Para Camisetas">
            <a:extLst>
              <a:ext uri="{FF2B5EF4-FFF2-40B4-BE49-F238E27FC236}">
                <a16:creationId xmlns:a16="http://schemas.microsoft.com/office/drawing/2014/main" id="{1330E849-DD85-62B5-4435-66B43ABBF6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9272" y="3633920"/>
            <a:ext cx="1467386" cy="1467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8C99C18B-85A3-7586-9D85-0C45E2C2870E}"/>
              </a:ext>
            </a:extLst>
          </p:cNvPr>
          <p:cNvSpPr/>
          <p:nvPr/>
        </p:nvSpPr>
        <p:spPr>
          <a:xfrm>
            <a:off x="7815962" y="5137153"/>
            <a:ext cx="1455272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800" dirty="0">
                <a:solidFill>
                  <a:schemeClr val="accent6">
                    <a:lumMod val="50000"/>
                  </a:schemeClr>
                </a:solidFill>
                <a:latin typeface="Quicksand-Regular"/>
              </a:rPr>
              <a:t>Foto: </a:t>
            </a:r>
            <a:r>
              <a:rPr lang="pt-BR" sz="800" dirty="0">
                <a:solidFill>
                  <a:schemeClr val="accent6">
                    <a:lumMod val="75000"/>
                  </a:schemeClr>
                </a:solidFill>
                <a:latin typeface="Quicksand-Regular"/>
              </a:rPr>
              <a:t>https://br.vexels.com</a:t>
            </a:r>
            <a:endParaRPr lang="pt-BR" sz="800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6" name="Picture 2" descr="File:Microsoft Office Teams (2018–present).svg - Wikimedia ...">
            <a:extLst>
              <a:ext uri="{FF2B5EF4-FFF2-40B4-BE49-F238E27FC236}">
                <a16:creationId xmlns:a16="http://schemas.microsoft.com/office/drawing/2014/main" id="{81EE6CAA-3C4A-461E-9B01-E52A05193E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0701" y="2749513"/>
            <a:ext cx="306000" cy="28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Ficheiro:Logo Bloco de Notas-pt.PNG – Wikipédia, a ...">
            <a:extLst>
              <a:ext uri="{FF2B5EF4-FFF2-40B4-BE49-F238E27FC236}">
                <a16:creationId xmlns:a16="http://schemas.microsoft.com/office/drawing/2014/main" id="{CC3C442B-6493-4C98-A4EE-B8D5E2303D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3852" y="3200170"/>
            <a:ext cx="303568" cy="28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Whatsapp PNG Images | Vetores E Arquivos PSD | Download ...">
            <a:extLst>
              <a:ext uri="{FF2B5EF4-FFF2-40B4-BE49-F238E27FC236}">
                <a16:creationId xmlns:a16="http://schemas.microsoft.com/office/drawing/2014/main" id="{AC1F5A06-F49E-4177-826F-7689104A83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9446" y="3594629"/>
            <a:ext cx="288000" cy="28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Ícone colorido de Google Logo em PNG, SVG">
            <a:extLst>
              <a:ext uri="{FF2B5EF4-FFF2-40B4-BE49-F238E27FC236}">
                <a16:creationId xmlns:a16="http://schemas.microsoft.com/office/drawing/2014/main" id="{6948858C-7C4C-4C7A-BD7D-5D34E3B723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7431" y="4010580"/>
            <a:ext cx="263252" cy="247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Logotipo do github - ícones de mídia social grátis">
            <a:extLst>
              <a:ext uri="{FF2B5EF4-FFF2-40B4-BE49-F238E27FC236}">
                <a16:creationId xmlns:a16="http://schemas.microsoft.com/office/drawing/2014/main" id="{BAAE0C50-D97C-45C5-BA2C-CFC2392B8C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7701" y="4435358"/>
            <a:ext cx="247767" cy="247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Ícones, Logotipos, Símbolos de Microsoft word – Baixe ...">
            <a:extLst>
              <a:ext uri="{FF2B5EF4-FFF2-40B4-BE49-F238E27FC236}">
                <a16:creationId xmlns:a16="http://schemas.microsoft.com/office/drawing/2014/main" id="{51452C51-A56C-473C-862F-29F376DAED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0701" y="4852687"/>
            <a:ext cx="311352" cy="28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Figma logo - Ícones Social media e Logos">
            <a:extLst>
              <a:ext uri="{FF2B5EF4-FFF2-40B4-BE49-F238E27FC236}">
                <a16:creationId xmlns:a16="http://schemas.microsoft.com/office/drawing/2014/main" id="{6C8522FA-5B78-4C0B-84D5-2B3D8FAFA7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7701" y="5261591"/>
            <a:ext cx="252000" cy="25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AutoShape 30" descr="Ícone colorido de Microsoft PowerPoint 2019 em PNG, SVG">
            <a:extLst>
              <a:ext uri="{FF2B5EF4-FFF2-40B4-BE49-F238E27FC236}">
                <a16:creationId xmlns:a16="http://schemas.microsoft.com/office/drawing/2014/main" id="{048F3914-166C-45E2-BF9B-7498DBC9B19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102027" y="3436614"/>
            <a:ext cx="144786" cy="1447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1056" name="Picture 32" descr="Ícone colorido de Microsoft PowerPoint 2019 em PNG, SVG">
            <a:extLst>
              <a:ext uri="{FF2B5EF4-FFF2-40B4-BE49-F238E27FC236}">
                <a16:creationId xmlns:a16="http://schemas.microsoft.com/office/drawing/2014/main" id="{8ACC3D40-7C84-4618-94F8-7593460AAE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0893" y="6047514"/>
            <a:ext cx="288000" cy="28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8" name="Picture 34" descr="canva transparente ícone 48759334 PNG">
            <a:extLst>
              <a:ext uri="{FF2B5EF4-FFF2-40B4-BE49-F238E27FC236}">
                <a16:creationId xmlns:a16="http://schemas.microsoft.com/office/drawing/2014/main" id="{5C584D1C-85EB-47B9-8F91-3AD850DD07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0241" y="5608325"/>
            <a:ext cx="369332" cy="369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Imagem 28">
            <a:extLst>
              <a:ext uri="{FF2B5EF4-FFF2-40B4-BE49-F238E27FC236}">
                <a16:creationId xmlns:a16="http://schemas.microsoft.com/office/drawing/2014/main" id="{1D05C3C7-62A9-4ED9-9242-60EBFAEC4992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14256" y="96696"/>
            <a:ext cx="1514156" cy="523992"/>
          </a:xfrm>
          <a:prstGeom prst="rect">
            <a:avLst/>
          </a:prstGeom>
        </p:spPr>
      </p:pic>
      <p:pic>
        <p:nvPicPr>
          <p:cNvPr id="9" name="Picture 2" descr="Draw.io Avaliações 2025: Detalhes, Preços e Recursos | G2">
            <a:extLst>
              <a:ext uri="{FF2B5EF4-FFF2-40B4-BE49-F238E27FC236}">
                <a16:creationId xmlns:a16="http://schemas.microsoft.com/office/drawing/2014/main" id="{6FEB097D-F31B-4002-8CB4-5C83A1662E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8582" y="6476644"/>
            <a:ext cx="503462" cy="264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003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Rodapé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BR" noProof="0" dirty="0"/>
              <a:t>Equipe_03</a:t>
            </a: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DC1BBB0-96F0-4077-A278-0F3FB5C104D3}" type="slidenum">
              <a:rPr lang="pt-BR" noProof="0" smtClean="0"/>
              <a:pPr rtl="0"/>
              <a:t>15</a:t>
            </a:fld>
            <a:endParaRPr lang="pt-BR" noProof="0" dirty="0"/>
          </a:p>
        </p:txBody>
      </p:sp>
      <p:sp>
        <p:nvSpPr>
          <p:cNvPr id="5" name="Espaço reservado para conteúdo 13">
            <a:extLst>
              <a:ext uri="{FF2B5EF4-FFF2-40B4-BE49-F238E27FC236}">
                <a16:creationId xmlns:a16="http://schemas.microsoft.com/office/drawing/2014/main" id="{68EA1406-9D0A-F316-CA4B-D6FA46DEDD20}"/>
              </a:ext>
            </a:extLst>
          </p:cNvPr>
          <p:cNvSpPr txBox="1">
            <a:spLocks/>
          </p:cNvSpPr>
          <p:nvPr/>
        </p:nvSpPr>
        <p:spPr>
          <a:xfrm>
            <a:off x="1040331" y="1703916"/>
            <a:ext cx="3709385" cy="399626"/>
          </a:xfrm>
          <a:prstGeom prst="rect">
            <a:avLst/>
          </a:prstGeom>
        </p:spPr>
        <p:txBody>
          <a:bodyPr rtlCol="0"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000" b="1" dirty="0">
                <a:solidFill>
                  <a:schemeClr val="tx2">
                    <a:lumMod val="85000"/>
                    <a:lumOff val="15000"/>
                  </a:schemeClr>
                </a:solidFill>
              </a:rPr>
              <a:t>Requisitos Funcionais</a:t>
            </a:r>
          </a:p>
          <a:p>
            <a:endParaRPr lang="pt-BR" sz="2000" dirty="0"/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306CF383-86BE-4807-90B1-358A5BECE709}"/>
              </a:ext>
            </a:extLst>
          </p:cNvPr>
          <p:cNvSpPr txBox="1">
            <a:spLocks/>
          </p:cNvSpPr>
          <p:nvPr/>
        </p:nvSpPr>
        <p:spPr>
          <a:xfrm>
            <a:off x="1056743" y="587869"/>
            <a:ext cx="6397054" cy="7312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400" b="1" dirty="0"/>
              <a:t>Trabalho de Conclusão de Curso</a:t>
            </a:r>
          </a:p>
        </p:txBody>
      </p:sp>
      <p:sp>
        <p:nvSpPr>
          <p:cNvPr id="13" name="Subtítulo 2">
            <a:extLst>
              <a:ext uri="{FF2B5EF4-FFF2-40B4-BE49-F238E27FC236}">
                <a16:creationId xmlns:a16="http://schemas.microsoft.com/office/drawing/2014/main" id="{00B1AEDC-7D96-4DE1-B8DF-DCD9B40C88B7}"/>
              </a:ext>
            </a:extLst>
          </p:cNvPr>
          <p:cNvSpPr txBox="1">
            <a:spLocks/>
          </p:cNvSpPr>
          <p:nvPr/>
        </p:nvSpPr>
        <p:spPr>
          <a:xfrm>
            <a:off x="1099566" y="1238986"/>
            <a:ext cx="3969503" cy="5953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Euphemia" pitchFamily="34" charset="0"/>
              <a:buNone/>
            </a:pPr>
            <a:r>
              <a:rPr lang="pt-BR" sz="1800" dirty="0"/>
              <a:t>Desenvolvimento de Sistemas</a:t>
            </a: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A40F2AE1-D35B-45F6-B403-7441794FAC04}"/>
              </a:ext>
            </a:extLst>
          </p:cNvPr>
          <p:cNvGrpSpPr/>
          <p:nvPr/>
        </p:nvGrpSpPr>
        <p:grpSpPr>
          <a:xfrm>
            <a:off x="2629213" y="0"/>
            <a:ext cx="6913821" cy="620688"/>
            <a:chOff x="2629213" y="0"/>
            <a:chExt cx="6913821" cy="620688"/>
          </a:xfrm>
        </p:grpSpPr>
        <p:pic>
          <p:nvPicPr>
            <p:cNvPr id="15" name="Imagem 14">
              <a:extLst>
                <a:ext uri="{FF2B5EF4-FFF2-40B4-BE49-F238E27FC236}">
                  <a16:creationId xmlns:a16="http://schemas.microsoft.com/office/drawing/2014/main" id="{097D918F-CC2B-42C3-AA79-7935C824CE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44163" y="84791"/>
              <a:ext cx="1998871" cy="444194"/>
            </a:xfrm>
            <a:prstGeom prst="rect">
              <a:avLst/>
            </a:prstGeom>
          </p:spPr>
        </p:pic>
        <p:pic>
          <p:nvPicPr>
            <p:cNvPr id="16" name="Imagem 15" descr="Desenho com traços pretos em fundo branco e letras pretas em fundo branco&#10;&#10;Descrição gerada automaticamente com confiança média">
              <a:extLst>
                <a:ext uri="{FF2B5EF4-FFF2-40B4-BE49-F238E27FC236}">
                  <a16:creationId xmlns:a16="http://schemas.microsoft.com/office/drawing/2014/main" id="{2DC19A36-0916-4BCB-AB5D-E7A2A48E1E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48617" y="116632"/>
              <a:ext cx="673021" cy="4441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Imagem 16">
              <a:extLst>
                <a:ext uri="{FF2B5EF4-FFF2-40B4-BE49-F238E27FC236}">
                  <a16:creationId xmlns:a16="http://schemas.microsoft.com/office/drawing/2014/main" id="{68398C3D-8562-4F85-B4C6-86BBDA332CF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50549" y="116632"/>
              <a:ext cx="663678" cy="444194"/>
            </a:xfrm>
            <a:prstGeom prst="rect">
              <a:avLst/>
            </a:prstGeom>
          </p:spPr>
        </p:pic>
        <p:sp>
          <p:nvSpPr>
            <p:cNvPr id="18" name="Fluxograma: Processo 17">
              <a:extLst>
                <a:ext uri="{FF2B5EF4-FFF2-40B4-BE49-F238E27FC236}">
                  <a16:creationId xmlns:a16="http://schemas.microsoft.com/office/drawing/2014/main" id="{974A88B2-9B2F-46D6-AA77-38E50B00D999}"/>
                </a:ext>
              </a:extLst>
            </p:cNvPr>
            <p:cNvSpPr/>
            <p:nvPr/>
          </p:nvSpPr>
          <p:spPr>
            <a:xfrm>
              <a:off x="2629213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9" name="Fluxograma: Processo 18">
              <a:extLst>
                <a:ext uri="{FF2B5EF4-FFF2-40B4-BE49-F238E27FC236}">
                  <a16:creationId xmlns:a16="http://schemas.microsoft.com/office/drawing/2014/main" id="{D1B5B00C-0D47-4611-81F3-7F90BB12AA59}"/>
                </a:ext>
              </a:extLst>
            </p:cNvPr>
            <p:cNvSpPr/>
            <p:nvPr/>
          </p:nvSpPr>
          <p:spPr>
            <a:xfrm>
              <a:off x="4909367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20" name="Fluxograma: Processo 19">
              <a:extLst>
                <a:ext uri="{FF2B5EF4-FFF2-40B4-BE49-F238E27FC236}">
                  <a16:creationId xmlns:a16="http://schemas.microsoft.com/office/drawing/2014/main" id="{EC49A414-0956-4A38-BDDF-956BCCE78AEE}"/>
                </a:ext>
              </a:extLst>
            </p:cNvPr>
            <p:cNvSpPr/>
            <p:nvPr/>
          </p:nvSpPr>
          <p:spPr>
            <a:xfrm>
              <a:off x="7215168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sp>
        <p:nvSpPr>
          <p:cNvPr id="21" name="Espaço reservado para conteúdo 13">
            <a:extLst>
              <a:ext uri="{FF2B5EF4-FFF2-40B4-BE49-F238E27FC236}">
                <a16:creationId xmlns:a16="http://schemas.microsoft.com/office/drawing/2014/main" id="{53DB4806-85C0-4DEB-961B-1547851B1257}"/>
              </a:ext>
            </a:extLst>
          </p:cNvPr>
          <p:cNvSpPr txBox="1">
            <a:spLocks/>
          </p:cNvSpPr>
          <p:nvPr/>
        </p:nvSpPr>
        <p:spPr>
          <a:xfrm>
            <a:off x="1328210" y="2219086"/>
            <a:ext cx="2088232" cy="4128138"/>
          </a:xfrm>
          <a:prstGeom prst="rect">
            <a:avLst/>
          </a:prstGeom>
        </p:spPr>
        <p:txBody>
          <a:bodyPr rtlCol="0"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600" dirty="0"/>
              <a:t>Telas intuitivas</a:t>
            </a:r>
          </a:p>
          <a:p>
            <a:r>
              <a:rPr lang="pt-BR" sz="1600" dirty="0"/>
              <a:t>Tela para idosos e cuidadores </a:t>
            </a:r>
          </a:p>
          <a:p>
            <a:r>
              <a:rPr lang="pt-BR" sz="1600" dirty="0"/>
              <a:t>Relatórios;</a:t>
            </a:r>
          </a:p>
          <a:p>
            <a:r>
              <a:rPr lang="pt-BR" sz="1600" dirty="0"/>
              <a:t>Alertas;</a:t>
            </a:r>
          </a:p>
          <a:p>
            <a:r>
              <a:rPr lang="pt-BR" sz="1600" dirty="0"/>
              <a:t>Exames e consultas;</a:t>
            </a:r>
          </a:p>
          <a:p>
            <a:r>
              <a:rPr lang="pt-BR" sz="1600" dirty="0"/>
              <a:t>Leitura de voz;</a:t>
            </a:r>
          </a:p>
          <a:p>
            <a:r>
              <a:rPr lang="pt-BR" sz="1600" dirty="0"/>
              <a:t>Botão de ajuda;</a:t>
            </a:r>
          </a:p>
          <a:p>
            <a:r>
              <a:rPr lang="pt-BR" sz="1600" dirty="0"/>
              <a:t>Contato com os médicos;</a:t>
            </a:r>
          </a:p>
          <a:p>
            <a:r>
              <a:rPr lang="pt-BR" sz="1600" dirty="0" err="1"/>
              <a:t>Chatbot</a:t>
            </a:r>
            <a:r>
              <a:rPr lang="pt-BR" sz="1600" dirty="0"/>
              <a:t> </a:t>
            </a:r>
          </a:p>
          <a:p>
            <a:endParaRPr lang="pt-BR" sz="1600" dirty="0"/>
          </a:p>
          <a:p>
            <a:endParaRPr lang="pt-BR" sz="1600" dirty="0"/>
          </a:p>
          <a:p>
            <a:endParaRPr lang="pt-BR" sz="1600" dirty="0"/>
          </a:p>
        </p:txBody>
      </p:sp>
      <p:sp>
        <p:nvSpPr>
          <p:cNvPr id="22" name="Espaço reservado para conteúdo 13">
            <a:extLst>
              <a:ext uri="{FF2B5EF4-FFF2-40B4-BE49-F238E27FC236}">
                <a16:creationId xmlns:a16="http://schemas.microsoft.com/office/drawing/2014/main" id="{AD38B335-9A03-49CE-8998-7B84A8B620A3}"/>
              </a:ext>
            </a:extLst>
          </p:cNvPr>
          <p:cNvSpPr txBox="1">
            <a:spLocks/>
          </p:cNvSpPr>
          <p:nvPr/>
        </p:nvSpPr>
        <p:spPr>
          <a:xfrm>
            <a:off x="6330754" y="2219085"/>
            <a:ext cx="2088232" cy="4128139"/>
          </a:xfrm>
          <a:prstGeom prst="rect">
            <a:avLst/>
          </a:prstGeom>
        </p:spPr>
        <p:txBody>
          <a:bodyPr rtlCol="0"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600" dirty="0"/>
              <a:t>Exibir informações da saúde do usuário </a:t>
            </a:r>
          </a:p>
          <a:p>
            <a:r>
              <a:rPr lang="pt-BR" sz="1600" dirty="0"/>
              <a:t>Solicitar medicamentos;</a:t>
            </a:r>
          </a:p>
          <a:p>
            <a:r>
              <a:rPr lang="pt-BR" sz="1600" dirty="0"/>
              <a:t>Receitas medicas;</a:t>
            </a:r>
          </a:p>
          <a:p>
            <a:r>
              <a:rPr lang="pt-BR" sz="1600" dirty="0"/>
              <a:t>Aplicativo e Site </a:t>
            </a:r>
          </a:p>
          <a:p>
            <a:r>
              <a:rPr lang="pt-BR" sz="1600" dirty="0"/>
              <a:t>Notificações</a:t>
            </a:r>
          </a:p>
          <a:p>
            <a:r>
              <a:rPr lang="pt-BR" sz="1600" dirty="0"/>
              <a:t>Lembretes</a:t>
            </a:r>
          </a:p>
          <a:p>
            <a:r>
              <a:rPr lang="pt-BR" sz="1600" dirty="0"/>
              <a:t>Conexão com hospitais e farmácias </a:t>
            </a:r>
          </a:p>
          <a:p>
            <a:endParaRPr lang="pt-BR" sz="1600" dirty="0"/>
          </a:p>
          <a:p>
            <a:endParaRPr lang="pt-BR" sz="1600" dirty="0"/>
          </a:p>
        </p:txBody>
      </p:sp>
      <p:pic>
        <p:nvPicPr>
          <p:cNvPr id="23" name="Imagem 22">
            <a:extLst>
              <a:ext uri="{FF2B5EF4-FFF2-40B4-BE49-F238E27FC236}">
                <a16:creationId xmlns:a16="http://schemas.microsoft.com/office/drawing/2014/main" id="{768AD0AA-6E68-4B87-8AB7-B5512CB3E5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256" y="96696"/>
            <a:ext cx="1514156" cy="523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037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Rodapé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BR" noProof="0" dirty="0"/>
              <a:t>Equipe_03</a:t>
            </a: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DC1BBB0-96F0-4077-A278-0F3FB5C104D3}" type="slidenum">
              <a:rPr lang="pt-BR" noProof="0" smtClean="0"/>
              <a:pPr rtl="0"/>
              <a:t>16</a:t>
            </a:fld>
            <a:endParaRPr lang="pt-BR" noProof="0" dirty="0"/>
          </a:p>
        </p:txBody>
      </p:sp>
      <p:sp>
        <p:nvSpPr>
          <p:cNvPr id="5" name="Espaço reservado para conteúdo 13">
            <a:extLst>
              <a:ext uri="{FF2B5EF4-FFF2-40B4-BE49-F238E27FC236}">
                <a16:creationId xmlns:a16="http://schemas.microsoft.com/office/drawing/2014/main" id="{68EA1406-9D0A-F316-CA4B-D6FA46DEDD20}"/>
              </a:ext>
            </a:extLst>
          </p:cNvPr>
          <p:cNvSpPr txBox="1">
            <a:spLocks/>
          </p:cNvSpPr>
          <p:nvPr/>
        </p:nvSpPr>
        <p:spPr>
          <a:xfrm>
            <a:off x="1040331" y="1703916"/>
            <a:ext cx="3709385" cy="399626"/>
          </a:xfrm>
          <a:prstGeom prst="rect">
            <a:avLst/>
          </a:prstGeom>
        </p:spPr>
        <p:txBody>
          <a:bodyPr rtlCol="0"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000" b="1" dirty="0">
                <a:solidFill>
                  <a:schemeClr val="tx2">
                    <a:lumMod val="85000"/>
                    <a:lumOff val="15000"/>
                  </a:schemeClr>
                </a:solidFill>
              </a:rPr>
              <a:t>Requisitos Não Funcionais</a:t>
            </a:r>
          </a:p>
          <a:p>
            <a:endParaRPr lang="pt-BR" sz="2000" dirty="0"/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306CF383-86BE-4807-90B1-358A5BECE709}"/>
              </a:ext>
            </a:extLst>
          </p:cNvPr>
          <p:cNvSpPr txBox="1">
            <a:spLocks/>
          </p:cNvSpPr>
          <p:nvPr/>
        </p:nvSpPr>
        <p:spPr>
          <a:xfrm>
            <a:off x="1056743" y="587869"/>
            <a:ext cx="6397054" cy="7312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400" b="1" dirty="0"/>
              <a:t>Trabalho de Conclusão de Curso</a:t>
            </a:r>
          </a:p>
        </p:txBody>
      </p:sp>
      <p:sp>
        <p:nvSpPr>
          <p:cNvPr id="13" name="Subtítulo 2">
            <a:extLst>
              <a:ext uri="{FF2B5EF4-FFF2-40B4-BE49-F238E27FC236}">
                <a16:creationId xmlns:a16="http://schemas.microsoft.com/office/drawing/2014/main" id="{00B1AEDC-7D96-4DE1-B8DF-DCD9B40C88B7}"/>
              </a:ext>
            </a:extLst>
          </p:cNvPr>
          <p:cNvSpPr txBox="1">
            <a:spLocks/>
          </p:cNvSpPr>
          <p:nvPr/>
        </p:nvSpPr>
        <p:spPr>
          <a:xfrm>
            <a:off x="1099566" y="1241188"/>
            <a:ext cx="3969503" cy="5953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Euphemia" pitchFamily="34" charset="0"/>
              <a:buNone/>
            </a:pPr>
            <a:r>
              <a:rPr lang="pt-BR" sz="1800" dirty="0"/>
              <a:t>Desenvolvimento de Sistemas</a:t>
            </a: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A40F2AE1-D35B-45F6-B403-7441794FAC04}"/>
              </a:ext>
            </a:extLst>
          </p:cNvPr>
          <p:cNvGrpSpPr/>
          <p:nvPr/>
        </p:nvGrpSpPr>
        <p:grpSpPr>
          <a:xfrm>
            <a:off x="2629213" y="0"/>
            <a:ext cx="6913821" cy="620688"/>
            <a:chOff x="2629213" y="0"/>
            <a:chExt cx="6913821" cy="620688"/>
          </a:xfrm>
        </p:grpSpPr>
        <p:pic>
          <p:nvPicPr>
            <p:cNvPr id="15" name="Imagem 14">
              <a:extLst>
                <a:ext uri="{FF2B5EF4-FFF2-40B4-BE49-F238E27FC236}">
                  <a16:creationId xmlns:a16="http://schemas.microsoft.com/office/drawing/2014/main" id="{097D918F-CC2B-42C3-AA79-7935C824CE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44163" y="84791"/>
              <a:ext cx="1998871" cy="444194"/>
            </a:xfrm>
            <a:prstGeom prst="rect">
              <a:avLst/>
            </a:prstGeom>
          </p:spPr>
        </p:pic>
        <p:pic>
          <p:nvPicPr>
            <p:cNvPr id="16" name="Imagem 15" descr="Desenho com traços pretos em fundo branco e letras pretas em fundo branco&#10;&#10;Descrição gerada automaticamente com confiança média">
              <a:extLst>
                <a:ext uri="{FF2B5EF4-FFF2-40B4-BE49-F238E27FC236}">
                  <a16:creationId xmlns:a16="http://schemas.microsoft.com/office/drawing/2014/main" id="{2DC19A36-0916-4BCB-AB5D-E7A2A48E1E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48617" y="116632"/>
              <a:ext cx="673021" cy="4441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Imagem 16">
              <a:extLst>
                <a:ext uri="{FF2B5EF4-FFF2-40B4-BE49-F238E27FC236}">
                  <a16:creationId xmlns:a16="http://schemas.microsoft.com/office/drawing/2014/main" id="{68398C3D-8562-4F85-B4C6-86BBDA332CF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50549" y="116632"/>
              <a:ext cx="663678" cy="444194"/>
            </a:xfrm>
            <a:prstGeom prst="rect">
              <a:avLst/>
            </a:prstGeom>
          </p:spPr>
        </p:pic>
        <p:sp>
          <p:nvSpPr>
            <p:cNvPr id="18" name="Fluxograma: Processo 17">
              <a:extLst>
                <a:ext uri="{FF2B5EF4-FFF2-40B4-BE49-F238E27FC236}">
                  <a16:creationId xmlns:a16="http://schemas.microsoft.com/office/drawing/2014/main" id="{974A88B2-9B2F-46D6-AA77-38E50B00D999}"/>
                </a:ext>
              </a:extLst>
            </p:cNvPr>
            <p:cNvSpPr/>
            <p:nvPr/>
          </p:nvSpPr>
          <p:spPr>
            <a:xfrm>
              <a:off x="2629213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9" name="Fluxograma: Processo 18">
              <a:extLst>
                <a:ext uri="{FF2B5EF4-FFF2-40B4-BE49-F238E27FC236}">
                  <a16:creationId xmlns:a16="http://schemas.microsoft.com/office/drawing/2014/main" id="{D1B5B00C-0D47-4611-81F3-7F90BB12AA59}"/>
                </a:ext>
              </a:extLst>
            </p:cNvPr>
            <p:cNvSpPr/>
            <p:nvPr/>
          </p:nvSpPr>
          <p:spPr>
            <a:xfrm>
              <a:off x="4909367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20" name="Fluxograma: Processo 19">
              <a:extLst>
                <a:ext uri="{FF2B5EF4-FFF2-40B4-BE49-F238E27FC236}">
                  <a16:creationId xmlns:a16="http://schemas.microsoft.com/office/drawing/2014/main" id="{EC49A414-0956-4A38-BDDF-956BCCE78AEE}"/>
                </a:ext>
              </a:extLst>
            </p:cNvPr>
            <p:cNvSpPr/>
            <p:nvPr/>
          </p:nvSpPr>
          <p:spPr>
            <a:xfrm>
              <a:off x="7215168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sp>
        <p:nvSpPr>
          <p:cNvPr id="2" name="Retângulo 1">
            <a:extLst>
              <a:ext uri="{FF2B5EF4-FFF2-40B4-BE49-F238E27FC236}">
                <a16:creationId xmlns:a16="http://schemas.microsoft.com/office/drawing/2014/main" id="{7454690B-DC62-4DED-9CEB-2448A1AE9FB6}"/>
              </a:ext>
            </a:extLst>
          </p:cNvPr>
          <p:cNvSpPr/>
          <p:nvPr/>
        </p:nvSpPr>
        <p:spPr>
          <a:xfrm>
            <a:off x="1341884" y="2580531"/>
            <a:ext cx="457234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pt-BR" sz="1200" dirty="0"/>
          </a:p>
        </p:txBody>
      </p:sp>
      <p:sp>
        <p:nvSpPr>
          <p:cNvPr id="22" name="Espaço reservado para conteúdo 13">
            <a:extLst>
              <a:ext uri="{FF2B5EF4-FFF2-40B4-BE49-F238E27FC236}">
                <a16:creationId xmlns:a16="http://schemas.microsoft.com/office/drawing/2014/main" id="{657B1673-177E-4AE8-840A-5C102D2B8750}"/>
              </a:ext>
            </a:extLst>
          </p:cNvPr>
          <p:cNvSpPr txBox="1">
            <a:spLocks/>
          </p:cNvSpPr>
          <p:nvPr/>
        </p:nvSpPr>
        <p:spPr>
          <a:xfrm>
            <a:off x="1342784" y="2264964"/>
            <a:ext cx="2088232" cy="3136721"/>
          </a:xfrm>
          <a:prstGeom prst="rect">
            <a:avLst/>
          </a:prstGeom>
        </p:spPr>
        <p:txBody>
          <a:bodyPr rtlCol="0"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600" dirty="0"/>
              <a:t>Segurança</a:t>
            </a:r>
          </a:p>
          <a:p>
            <a:r>
              <a:rPr lang="pt-BR" sz="1600" dirty="0"/>
              <a:t>Acessibilidade</a:t>
            </a:r>
          </a:p>
          <a:p>
            <a:r>
              <a:rPr lang="pt-BR" sz="1600" dirty="0"/>
              <a:t>Compatibilidade</a:t>
            </a:r>
          </a:p>
          <a:p>
            <a:r>
              <a:rPr lang="pt-BR" sz="1600" dirty="0"/>
              <a:t>Personalização</a:t>
            </a:r>
          </a:p>
          <a:p>
            <a:r>
              <a:rPr lang="pt-BR" sz="1600" dirty="0"/>
              <a:t>Otimização</a:t>
            </a:r>
          </a:p>
          <a:p>
            <a:r>
              <a:rPr lang="pt-BR" sz="1600" dirty="0"/>
              <a:t>Escalabilidade</a:t>
            </a:r>
          </a:p>
          <a:p>
            <a:endParaRPr lang="pt-BR" sz="1600" dirty="0"/>
          </a:p>
          <a:p>
            <a:endParaRPr lang="pt-BR" sz="1600" dirty="0"/>
          </a:p>
          <a:p>
            <a:endParaRPr lang="pt-BR" sz="1600" dirty="0"/>
          </a:p>
          <a:p>
            <a:endParaRPr lang="pt-BR" sz="1600" dirty="0"/>
          </a:p>
          <a:p>
            <a:endParaRPr lang="pt-BR" sz="1600" dirty="0"/>
          </a:p>
          <a:p>
            <a:endParaRPr lang="pt-BR" sz="1600" dirty="0"/>
          </a:p>
          <a:p>
            <a:endParaRPr lang="pt-BR" sz="1600" dirty="0"/>
          </a:p>
          <a:p>
            <a:endParaRPr lang="pt-BR" sz="1600" dirty="0"/>
          </a:p>
          <a:p>
            <a:endParaRPr lang="pt-BR" sz="1600" dirty="0"/>
          </a:p>
        </p:txBody>
      </p:sp>
      <p:sp>
        <p:nvSpPr>
          <p:cNvPr id="23" name="Espaço reservado para conteúdo 13">
            <a:extLst>
              <a:ext uri="{FF2B5EF4-FFF2-40B4-BE49-F238E27FC236}">
                <a16:creationId xmlns:a16="http://schemas.microsoft.com/office/drawing/2014/main" id="{720CFA91-FAEF-46E3-A766-574851808B46}"/>
              </a:ext>
            </a:extLst>
          </p:cNvPr>
          <p:cNvSpPr txBox="1">
            <a:spLocks/>
          </p:cNvSpPr>
          <p:nvPr/>
        </p:nvSpPr>
        <p:spPr>
          <a:xfrm>
            <a:off x="6958508" y="2264964"/>
            <a:ext cx="2088232" cy="2859911"/>
          </a:xfrm>
          <a:prstGeom prst="rect">
            <a:avLst/>
          </a:prstGeom>
        </p:spPr>
        <p:txBody>
          <a:bodyPr rtlCol="0"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600" dirty="0"/>
              <a:t>Desempenho</a:t>
            </a:r>
          </a:p>
          <a:p>
            <a:r>
              <a:rPr lang="pt-BR" sz="1600" dirty="0"/>
              <a:t>Usabilidade</a:t>
            </a:r>
          </a:p>
          <a:p>
            <a:r>
              <a:rPr lang="pt-BR" sz="1600" dirty="0"/>
              <a:t>Confiabilidade</a:t>
            </a:r>
          </a:p>
          <a:p>
            <a:r>
              <a:rPr lang="pt-BR" sz="1600" dirty="0"/>
              <a:t>Disponibilidade</a:t>
            </a:r>
          </a:p>
          <a:p>
            <a:r>
              <a:rPr lang="pt-BR" sz="1600" dirty="0"/>
              <a:t>Criptografia</a:t>
            </a:r>
          </a:p>
          <a:p>
            <a:endParaRPr lang="pt-BR" sz="1600" dirty="0"/>
          </a:p>
          <a:p>
            <a:endParaRPr lang="pt-BR" sz="1600" dirty="0"/>
          </a:p>
          <a:p>
            <a:endParaRPr lang="pt-BR" sz="1600" dirty="0"/>
          </a:p>
          <a:p>
            <a:endParaRPr lang="pt-BR" sz="1600" dirty="0"/>
          </a:p>
          <a:p>
            <a:endParaRPr lang="pt-BR" sz="1600" dirty="0"/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C68DBC4D-87EF-42F8-87D7-0567B951C5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256" y="96696"/>
            <a:ext cx="1514156" cy="523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271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Rodapé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BR" noProof="0" dirty="0"/>
              <a:t>Equipe_03</a:t>
            </a: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DC1BBB0-96F0-4077-A278-0F3FB5C104D3}" type="slidenum">
              <a:rPr lang="pt-BR" noProof="0" smtClean="0"/>
              <a:pPr rtl="0"/>
              <a:t>17</a:t>
            </a:fld>
            <a:endParaRPr lang="pt-BR" noProof="0" dirty="0"/>
          </a:p>
        </p:txBody>
      </p:sp>
      <p:sp>
        <p:nvSpPr>
          <p:cNvPr id="5" name="Espaço reservado para conteúdo 13">
            <a:extLst>
              <a:ext uri="{FF2B5EF4-FFF2-40B4-BE49-F238E27FC236}">
                <a16:creationId xmlns:a16="http://schemas.microsoft.com/office/drawing/2014/main" id="{68EA1406-9D0A-F316-CA4B-D6FA46DEDD20}"/>
              </a:ext>
            </a:extLst>
          </p:cNvPr>
          <p:cNvSpPr txBox="1">
            <a:spLocks/>
          </p:cNvSpPr>
          <p:nvPr/>
        </p:nvSpPr>
        <p:spPr>
          <a:xfrm>
            <a:off x="1040331" y="1703916"/>
            <a:ext cx="3869036" cy="399626"/>
          </a:xfrm>
          <a:prstGeom prst="rect">
            <a:avLst/>
          </a:prstGeom>
        </p:spPr>
        <p:txBody>
          <a:bodyPr rtlCol="0"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000" b="1" dirty="0">
                <a:solidFill>
                  <a:schemeClr val="tx2">
                    <a:lumMod val="85000"/>
                    <a:lumOff val="15000"/>
                  </a:schemeClr>
                </a:solidFill>
              </a:rPr>
              <a:t>Protótipo de Baixa Fidelidade</a:t>
            </a:r>
          </a:p>
          <a:p>
            <a:endParaRPr lang="pt-BR" sz="2000" dirty="0"/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306CF383-86BE-4807-90B1-358A5BECE709}"/>
              </a:ext>
            </a:extLst>
          </p:cNvPr>
          <p:cNvSpPr txBox="1">
            <a:spLocks/>
          </p:cNvSpPr>
          <p:nvPr/>
        </p:nvSpPr>
        <p:spPr>
          <a:xfrm>
            <a:off x="1056743" y="587869"/>
            <a:ext cx="6397054" cy="7312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400" b="1" dirty="0"/>
              <a:t>Trabalho de Conclusão de Curso</a:t>
            </a:r>
          </a:p>
        </p:txBody>
      </p:sp>
      <p:sp>
        <p:nvSpPr>
          <p:cNvPr id="13" name="Subtítulo 2">
            <a:extLst>
              <a:ext uri="{FF2B5EF4-FFF2-40B4-BE49-F238E27FC236}">
                <a16:creationId xmlns:a16="http://schemas.microsoft.com/office/drawing/2014/main" id="{00B1AEDC-7D96-4DE1-B8DF-DCD9B40C88B7}"/>
              </a:ext>
            </a:extLst>
          </p:cNvPr>
          <p:cNvSpPr txBox="1">
            <a:spLocks/>
          </p:cNvSpPr>
          <p:nvPr/>
        </p:nvSpPr>
        <p:spPr>
          <a:xfrm>
            <a:off x="1099566" y="1241188"/>
            <a:ext cx="3969503" cy="5953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Euphemia" pitchFamily="34" charset="0"/>
              <a:buNone/>
            </a:pPr>
            <a:r>
              <a:rPr lang="pt-BR" sz="1800" dirty="0"/>
              <a:t>Desenvolvimento de Sistemas</a:t>
            </a: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A40F2AE1-D35B-45F6-B403-7441794FAC04}"/>
              </a:ext>
            </a:extLst>
          </p:cNvPr>
          <p:cNvGrpSpPr/>
          <p:nvPr/>
        </p:nvGrpSpPr>
        <p:grpSpPr>
          <a:xfrm>
            <a:off x="2629213" y="0"/>
            <a:ext cx="6913821" cy="620688"/>
            <a:chOff x="2629213" y="0"/>
            <a:chExt cx="6913821" cy="620688"/>
          </a:xfrm>
        </p:grpSpPr>
        <p:pic>
          <p:nvPicPr>
            <p:cNvPr id="15" name="Imagem 14">
              <a:extLst>
                <a:ext uri="{FF2B5EF4-FFF2-40B4-BE49-F238E27FC236}">
                  <a16:creationId xmlns:a16="http://schemas.microsoft.com/office/drawing/2014/main" id="{097D918F-CC2B-42C3-AA79-7935C824CE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44163" y="84791"/>
              <a:ext cx="1998871" cy="444194"/>
            </a:xfrm>
            <a:prstGeom prst="rect">
              <a:avLst/>
            </a:prstGeom>
          </p:spPr>
        </p:pic>
        <p:pic>
          <p:nvPicPr>
            <p:cNvPr id="16" name="Imagem 15" descr="Desenho com traços pretos em fundo branco e letras pretas em fundo branco&#10;&#10;Descrição gerada automaticamente com confiança média">
              <a:extLst>
                <a:ext uri="{FF2B5EF4-FFF2-40B4-BE49-F238E27FC236}">
                  <a16:creationId xmlns:a16="http://schemas.microsoft.com/office/drawing/2014/main" id="{2DC19A36-0916-4BCB-AB5D-E7A2A48E1E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48617" y="116632"/>
              <a:ext cx="673021" cy="4441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Imagem 16">
              <a:extLst>
                <a:ext uri="{FF2B5EF4-FFF2-40B4-BE49-F238E27FC236}">
                  <a16:creationId xmlns:a16="http://schemas.microsoft.com/office/drawing/2014/main" id="{68398C3D-8562-4F85-B4C6-86BBDA332CF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50549" y="116632"/>
              <a:ext cx="663678" cy="444194"/>
            </a:xfrm>
            <a:prstGeom prst="rect">
              <a:avLst/>
            </a:prstGeom>
          </p:spPr>
        </p:pic>
        <p:sp>
          <p:nvSpPr>
            <p:cNvPr id="18" name="Fluxograma: Processo 17">
              <a:extLst>
                <a:ext uri="{FF2B5EF4-FFF2-40B4-BE49-F238E27FC236}">
                  <a16:creationId xmlns:a16="http://schemas.microsoft.com/office/drawing/2014/main" id="{974A88B2-9B2F-46D6-AA77-38E50B00D999}"/>
                </a:ext>
              </a:extLst>
            </p:cNvPr>
            <p:cNvSpPr/>
            <p:nvPr/>
          </p:nvSpPr>
          <p:spPr>
            <a:xfrm>
              <a:off x="2629213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9" name="Fluxograma: Processo 18">
              <a:extLst>
                <a:ext uri="{FF2B5EF4-FFF2-40B4-BE49-F238E27FC236}">
                  <a16:creationId xmlns:a16="http://schemas.microsoft.com/office/drawing/2014/main" id="{D1B5B00C-0D47-4611-81F3-7F90BB12AA59}"/>
                </a:ext>
              </a:extLst>
            </p:cNvPr>
            <p:cNvSpPr/>
            <p:nvPr/>
          </p:nvSpPr>
          <p:spPr>
            <a:xfrm>
              <a:off x="4909367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20" name="Fluxograma: Processo 19">
              <a:extLst>
                <a:ext uri="{FF2B5EF4-FFF2-40B4-BE49-F238E27FC236}">
                  <a16:creationId xmlns:a16="http://schemas.microsoft.com/office/drawing/2014/main" id="{EC49A414-0956-4A38-BDDF-956BCCE78AEE}"/>
                </a:ext>
              </a:extLst>
            </p:cNvPr>
            <p:cNvSpPr/>
            <p:nvPr/>
          </p:nvSpPr>
          <p:spPr>
            <a:xfrm>
              <a:off x="7215168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sp>
        <p:nvSpPr>
          <p:cNvPr id="2" name="Retângulo 1">
            <a:extLst>
              <a:ext uri="{FF2B5EF4-FFF2-40B4-BE49-F238E27FC236}">
                <a16:creationId xmlns:a16="http://schemas.microsoft.com/office/drawing/2014/main" id="{7454690B-DC62-4DED-9CEB-2448A1AE9FB6}"/>
              </a:ext>
            </a:extLst>
          </p:cNvPr>
          <p:cNvSpPr/>
          <p:nvPr/>
        </p:nvSpPr>
        <p:spPr>
          <a:xfrm>
            <a:off x="1341884" y="2580531"/>
            <a:ext cx="457234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pt-BR" sz="1200" dirty="0"/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C68DBC4D-87EF-42F8-87D7-0567B951C5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256" y="96696"/>
            <a:ext cx="1514156" cy="523992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D6DD1452-97DB-42D4-B0E8-1191A178422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41884" y="2071836"/>
            <a:ext cx="9105900" cy="4381500"/>
          </a:xfrm>
          <a:prstGeom prst="rect">
            <a:avLst/>
          </a:prstGeom>
        </p:spPr>
      </p:pic>
      <p:sp>
        <p:nvSpPr>
          <p:cNvPr id="24" name="Espaço reservado para conteúdo 13">
            <a:extLst>
              <a:ext uri="{FF2B5EF4-FFF2-40B4-BE49-F238E27FC236}">
                <a16:creationId xmlns:a16="http://schemas.microsoft.com/office/drawing/2014/main" id="{348B6A2F-BABE-4D3B-AA0A-AE4800031F13}"/>
              </a:ext>
            </a:extLst>
          </p:cNvPr>
          <p:cNvSpPr txBox="1">
            <a:spLocks/>
          </p:cNvSpPr>
          <p:nvPr/>
        </p:nvSpPr>
        <p:spPr>
          <a:xfrm>
            <a:off x="1688299" y="6437454"/>
            <a:ext cx="3974065" cy="251217"/>
          </a:xfrm>
          <a:prstGeom prst="rect">
            <a:avLst/>
          </a:prstGeom>
        </p:spPr>
        <p:txBody>
          <a:bodyPr rtlCol="0"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200" dirty="0"/>
              <a:t>Desenvolvido pela Equipe_03 Usando o Caderno.</a:t>
            </a:r>
          </a:p>
        </p:txBody>
      </p:sp>
    </p:spTree>
    <p:extLst>
      <p:ext uri="{BB962C8B-B14F-4D97-AF65-F5344CB8AC3E}">
        <p14:creationId xmlns:p14="http://schemas.microsoft.com/office/powerpoint/2010/main" val="3249326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Rodapé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BR" noProof="0" dirty="0"/>
              <a:t>Equipe_03</a:t>
            </a: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DC1BBB0-96F0-4077-A278-0F3FB5C104D3}" type="slidenum">
              <a:rPr lang="pt-BR" noProof="0" smtClean="0"/>
              <a:pPr rtl="0"/>
              <a:t>18</a:t>
            </a:fld>
            <a:endParaRPr lang="pt-BR" noProof="0" dirty="0"/>
          </a:p>
        </p:txBody>
      </p:sp>
      <p:sp>
        <p:nvSpPr>
          <p:cNvPr id="5" name="Espaço reservado para conteúdo 13">
            <a:extLst>
              <a:ext uri="{FF2B5EF4-FFF2-40B4-BE49-F238E27FC236}">
                <a16:creationId xmlns:a16="http://schemas.microsoft.com/office/drawing/2014/main" id="{68EA1406-9D0A-F316-CA4B-D6FA46DEDD20}"/>
              </a:ext>
            </a:extLst>
          </p:cNvPr>
          <p:cNvSpPr txBox="1">
            <a:spLocks/>
          </p:cNvSpPr>
          <p:nvPr/>
        </p:nvSpPr>
        <p:spPr>
          <a:xfrm>
            <a:off x="1040331" y="1703916"/>
            <a:ext cx="4028738" cy="399626"/>
          </a:xfrm>
          <a:prstGeom prst="rect">
            <a:avLst/>
          </a:prstGeom>
        </p:spPr>
        <p:txBody>
          <a:bodyPr rtlCol="0"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000" b="1" dirty="0">
                <a:solidFill>
                  <a:schemeClr val="tx2">
                    <a:lumMod val="85000"/>
                    <a:lumOff val="15000"/>
                  </a:schemeClr>
                </a:solidFill>
              </a:rPr>
              <a:t>Protótipo de Média Fidelidade</a:t>
            </a:r>
          </a:p>
          <a:p>
            <a:endParaRPr lang="pt-BR" sz="2000" dirty="0"/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306CF383-86BE-4807-90B1-358A5BECE709}"/>
              </a:ext>
            </a:extLst>
          </p:cNvPr>
          <p:cNvSpPr txBox="1">
            <a:spLocks/>
          </p:cNvSpPr>
          <p:nvPr/>
        </p:nvSpPr>
        <p:spPr>
          <a:xfrm>
            <a:off x="1056743" y="587869"/>
            <a:ext cx="6397054" cy="7312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400" b="1" dirty="0"/>
              <a:t>Trabalho de Conclusão de Curso</a:t>
            </a:r>
          </a:p>
        </p:txBody>
      </p:sp>
      <p:sp>
        <p:nvSpPr>
          <p:cNvPr id="13" name="Subtítulo 2">
            <a:extLst>
              <a:ext uri="{FF2B5EF4-FFF2-40B4-BE49-F238E27FC236}">
                <a16:creationId xmlns:a16="http://schemas.microsoft.com/office/drawing/2014/main" id="{00B1AEDC-7D96-4DE1-B8DF-DCD9B40C88B7}"/>
              </a:ext>
            </a:extLst>
          </p:cNvPr>
          <p:cNvSpPr txBox="1">
            <a:spLocks/>
          </p:cNvSpPr>
          <p:nvPr/>
        </p:nvSpPr>
        <p:spPr>
          <a:xfrm>
            <a:off x="1099566" y="1241188"/>
            <a:ext cx="3969503" cy="5953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Euphemia" pitchFamily="34" charset="0"/>
              <a:buNone/>
            </a:pPr>
            <a:r>
              <a:rPr lang="pt-BR" sz="1800" dirty="0"/>
              <a:t>Desenvolvimento de Sistemas</a:t>
            </a: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A40F2AE1-D35B-45F6-B403-7441794FAC04}"/>
              </a:ext>
            </a:extLst>
          </p:cNvPr>
          <p:cNvGrpSpPr/>
          <p:nvPr/>
        </p:nvGrpSpPr>
        <p:grpSpPr>
          <a:xfrm>
            <a:off x="2629213" y="0"/>
            <a:ext cx="6913821" cy="620688"/>
            <a:chOff x="2629213" y="0"/>
            <a:chExt cx="6913821" cy="620688"/>
          </a:xfrm>
        </p:grpSpPr>
        <p:pic>
          <p:nvPicPr>
            <p:cNvPr id="15" name="Imagem 14">
              <a:extLst>
                <a:ext uri="{FF2B5EF4-FFF2-40B4-BE49-F238E27FC236}">
                  <a16:creationId xmlns:a16="http://schemas.microsoft.com/office/drawing/2014/main" id="{097D918F-CC2B-42C3-AA79-7935C824CE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44163" y="84791"/>
              <a:ext cx="1998871" cy="444194"/>
            </a:xfrm>
            <a:prstGeom prst="rect">
              <a:avLst/>
            </a:prstGeom>
          </p:spPr>
        </p:pic>
        <p:pic>
          <p:nvPicPr>
            <p:cNvPr id="16" name="Imagem 15" descr="Desenho com traços pretos em fundo branco e letras pretas em fundo branco&#10;&#10;Descrição gerada automaticamente com confiança média">
              <a:extLst>
                <a:ext uri="{FF2B5EF4-FFF2-40B4-BE49-F238E27FC236}">
                  <a16:creationId xmlns:a16="http://schemas.microsoft.com/office/drawing/2014/main" id="{2DC19A36-0916-4BCB-AB5D-E7A2A48E1E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48617" y="116632"/>
              <a:ext cx="673021" cy="4441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Imagem 16">
              <a:extLst>
                <a:ext uri="{FF2B5EF4-FFF2-40B4-BE49-F238E27FC236}">
                  <a16:creationId xmlns:a16="http://schemas.microsoft.com/office/drawing/2014/main" id="{68398C3D-8562-4F85-B4C6-86BBDA332CF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50549" y="116632"/>
              <a:ext cx="663678" cy="444194"/>
            </a:xfrm>
            <a:prstGeom prst="rect">
              <a:avLst/>
            </a:prstGeom>
          </p:spPr>
        </p:pic>
        <p:sp>
          <p:nvSpPr>
            <p:cNvPr id="18" name="Fluxograma: Processo 17">
              <a:extLst>
                <a:ext uri="{FF2B5EF4-FFF2-40B4-BE49-F238E27FC236}">
                  <a16:creationId xmlns:a16="http://schemas.microsoft.com/office/drawing/2014/main" id="{974A88B2-9B2F-46D6-AA77-38E50B00D999}"/>
                </a:ext>
              </a:extLst>
            </p:cNvPr>
            <p:cNvSpPr/>
            <p:nvPr/>
          </p:nvSpPr>
          <p:spPr>
            <a:xfrm>
              <a:off x="2629213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9" name="Fluxograma: Processo 18">
              <a:extLst>
                <a:ext uri="{FF2B5EF4-FFF2-40B4-BE49-F238E27FC236}">
                  <a16:creationId xmlns:a16="http://schemas.microsoft.com/office/drawing/2014/main" id="{D1B5B00C-0D47-4611-81F3-7F90BB12AA59}"/>
                </a:ext>
              </a:extLst>
            </p:cNvPr>
            <p:cNvSpPr/>
            <p:nvPr/>
          </p:nvSpPr>
          <p:spPr>
            <a:xfrm>
              <a:off x="4909367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20" name="Fluxograma: Processo 19">
              <a:extLst>
                <a:ext uri="{FF2B5EF4-FFF2-40B4-BE49-F238E27FC236}">
                  <a16:creationId xmlns:a16="http://schemas.microsoft.com/office/drawing/2014/main" id="{EC49A414-0956-4A38-BDDF-956BCCE78AEE}"/>
                </a:ext>
              </a:extLst>
            </p:cNvPr>
            <p:cNvSpPr/>
            <p:nvPr/>
          </p:nvSpPr>
          <p:spPr>
            <a:xfrm>
              <a:off x="7215168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sp>
        <p:nvSpPr>
          <p:cNvPr id="2" name="Retângulo 1">
            <a:extLst>
              <a:ext uri="{FF2B5EF4-FFF2-40B4-BE49-F238E27FC236}">
                <a16:creationId xmlns:a16="http://schemas.microsoft.com/office/drawing/2014/main" id="{7454690B-DC62-4DED-9CEB-2448A1AE9FB6}"/>
              </a:ext>
            </a:extLst>
          </p:cNvPr>
          <p:cNvSpPr/>
          <p:nvPr/>
        </p:nvSpPr>
        <p:spPr>
          <a:xfrm>
            <a:off x="1341884" y="2580531"/>
            <a:ext cx="457234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pt-BR" sz="1200" dirty="0"/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C68DBC4D-87EF-42F8-87D7-0567B951C5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256" y="96696"/>
            <a:ext cx="1514156" cy="523992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24A92F82-2FC6-4C0A-8C65-B9D318CE612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71335" y="1992588"/>
            <a:ext cx="7995486" cy="4460122"/>
          </a:xfrm>
          <a:prstGeom prst="rect">
            <a:avLst/>
          </a:prstGeom>
        </p:spPr>
      </p:pic>
      <p:sp>
        <p:nvSpPr>
          <p:cNvPr id="22" name="Espaço reservado para conteúdo 13">
            <a:extLst>
              <a:ext uri="{FF2B5EF4-FFF2-40B4-BE49-F238E27FC236}">
                <a16:creationId xmlns:a16="http://schemas.microsoft.com/office/drawing/2014/main" id="{F73D5D07-65C5-4707-BA0D-E6CA6A8DAD01}"/>
              </a:ext>
            </a:extLst>
          </p:cNvPr>
          <p:cNvSpPr txBox="1">
            <a:spLocks/>
          </p:cNvSpPr>
          <p:nvPr/>
        </p:nvSpPr>
        <p:spPr>
          <a:xfrm>
            <a:off x="1688299" y="6437454"/>
            <a:ext cx="3974065" cy="251217"/>
          </a:xfrm>
          <a:prstGeom prst="rect">
            <a:avLst/>
          </a:prstGeom>
        </p:spPr>
        <p:txBody>
          <a:bodyPr rtlCol="0"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200" dirty="0"/>
              <a:t>Desenvolvido pela Equipe_03 Usando o </a:t>
            </a:r>
            <a:r>
              <a:rPr lang="pt-BR" sz="1200" dirty="0" err="1"/>
              <a:t>Balsamiq</a:t>
            </a:r>
            <a:r>
              <a:rPr lang="pt-BR" sz="1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11551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Rodapé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BR" noProof="0" dirty="0"/>
              <a:t>Equipe_03</a:t>
            </a: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DC1BBB0-96F0-4077-A278-0F3FB5C104D3}" type="slidenum">
              <a:rPr lang="pt-BR" noProof="0" smtClean="0"/>
              <a:pPr rtl="0"/>
              <a:t>19</a:t>
            </a:fld>
            <a:endParaRPr lang="pt-BR" noProof="0" dirty="0"/>
          </a:p>
        </p:txBody>
      </p:sp>
      <p:sp>
        <p:nvSpPr>
          <p:cNvPr id="5" name="Espaço reservado para conteúdo 13">
            <a:extLst>
              <a:ext uri="{FF2B5EF4-FFF2-40B4-BE49-F238E27FC236}">
                <a16:creationId xmlns:a16="http://schemas.microsoft.com/office/drawing/2014/main" id="{68EA1406-9D0A-F316-CA4B-D6FA46DEDD20}"/>
              </a:ext>
            </a:extLst>
          </p:cNvPr>
          <p:cNvSpPr txBox="1">
            <a:spLocks/>
          </p:cNvSpPr>
          <p:nvPr/>
        </p:nvSpPr>
        <p:spPr>
          <a:xfrm>
            <a:off x="1040331" y="1703916"/>
            <a:ext cx="3869036" cy="399626"/>
          </a:xfrm>
          <a:prstGeom prst="rect">
            <a:avLst/>
          </a:prstGeom>
        </p:spPr>
        <p:txBody>
          <a:bodyPr rtlCol="0"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000" b="1" dirty="0">
                <a:solidFill>
                  <a:schemeClr val="tx2">
                    <a:lumMod val="85000"/>
                    <a:lumOff val="15000"/>
                  </a:schemeClr>
                </a:solidFill>
              </a:rPr>
              <a:t>Protótipo de Alta Fidelidade</a:t>
            </a:r>
          </a:p>
          <a:p>
            <a:endParaRPr lang="pt-BR" sz="2000" dirty="0"/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306CF383-86BE-4807-90B1-358A5BECE709}"/>
              </a:ext>
            </a:extLst>
          </p:cNvPr>
          <p:cNvSpPr txBox="1">
            <a:spLocks/>
          </p:cNvSpPr>
          <p:nvPr/>
        </p:nvSpPr>
        <p:spPr>
          <a:xfrm>
            <a:off x="1056743" y="587869"/>
            <a:ext cx="6397054" cy="7312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400" b="1" dirty="0"/>
              <a:t>Trabalho de Conclusão de Curso</a:t>
            </a:r>
          </a:p>
        </p:txBody>
      </p:sp>
      <p:sp>
        <p:nvSpPr>
          <p:cNvPr id="13" name="Subtítulo 2">
            <a:extLst>
              <a:ext uri="{FF2B5EF4-FFF2-40B4-BE49-F238E27FC236}">
                <a16:creationId xmlns:a16="http://schemas.microsoft.com/office/drawing/2014/main" id="{00B1AEDC-7D96-4DE1-B8DF-DCD9B40C88B7}"/>
              </a:ext>
            </a:extLst>
          </p:cNvPr>
          <p:cNvSpPr txBox="1">
            <a:spLocks/>
          </p:cNvSpPr>
          <p:nvPr/>
        </p:nvSpPr>
        <p:spPr>
          <a:xfrm>
            <a:off x="1099566" y="1241188"/>
            <a:ext cx="3969503" cy="5953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Euphemia" pitchFamily="34" charset="0"/>
              <a:buNone/>
            </a:pPr>
            <a:r>
              <a:rPr lang="pt-BR" sz="1800" dirty="0"/>
              <a:t>Desenvolvimento de Sistemas</a:t>
            </a: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A40F2AE1-D35B-45F6-B403-7441794FAC04}"/>
              </a:ext>
            </a:extLst>
          </p:cNvPr>
          <p:cNvGrpSpPr/>
          <p:nvPr/>
        </p:nvGrpSpPr>
        <p:grpSpPr>
          <a:xfrm>
            <a:off x="2629213" y="0"/>
            <a:ext cx="6913821" cy="620688"/>
            <a:chOff x="2629213" y="0"/>
            <a:chExt cx="6913821" cy="620688"/>
          </a:xfrm>
        </p:grpSpPr>
        <p:pic>
          <p:nvPicPr>
            <p:cNvPr id="15" name="Imagem 14">
              <a:extLst>
                <a:ext uri="{FF2B5EF4-FFF2-40B4-BE49-F238E27FC236}">
                  <a16:creationId xmlns:a16="http://schemas.microsoft.com/office/drawing/2014/main" id="{097D918F-CC2B-42C3-AA79-7935C824CE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44163" y="84791"/>
              <a:ext cx="1998871" cy="444194"/>
            </a:xfrm>
            <a:prstGeom prst="rect">
              <a:avLst/>
            </a:prstGeom>
          </p:spPr>
        </p:pic>
        <p:pic>
          <p:nvPicPr>
            <p:cNvPr id="16" name="Imagem 15" descr="Desenho com traços pretos em fundo branco e letras pretas em fundo branco&#10;&#10;Descrição gerada automaticamente com confiança média">
              <a:extLst>
                <a:ext uri="{FF2B5EF4-FFF2-40B4-BE49-F238E27FC236}">
                  <a16:creationId xmlns:a16="http://schemas.microsoft.com/office/drawing/2014/main" id="{2DC19A36-0916-4BCB-AB5D-E7A2A48E1E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48617" y="116632"/>
              <a:ext cx="673021" cy="4441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Imagem 16">
              <a:extLst>
                <a:ext uri="{FF2B5EF4-FFF2-40B4-BE49-F238E27FC236}">
                  <a16:creationId xmlns:a16="http://schemas.microsoft.com/office/drawing/2014/main" id="{68398C3D-8562-4F85-B4C6-86BBDA332CF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50549" y="116632"/>
              <a:ext cx="663678" cy="444194"/>
            </a:xfrm>
            <a:prstGeom prst="rect">
              <a:avLst/>
            </a:prstGeom>
          </p:spPr>
        </p:pic>
        <p:sp>
          <p:nvSpPr>
            <p:cNvPr id="18" name="Fluxograma: Processo 17">
              <a:extLst>
                <a:ext uri="{FF2B5EF4-FFF2-40B4-BE49-F238E27FC236}">
                  <a16:creationId xmlns:a16="http://schemas.microsoft.com/office/drawing/2014/main" id="{974A88B2-9B2F-46D6-AA77-38E50B00D999}"/>
                </a:ext>
              </a:extLst>
            </p:cNvPr>
            <p:cNvSpPr/>
            <p:nvPr/>
          </p:nvSpPr>
          <p:spPr>
            <a:xfrm>
              <a:off x="2629213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9" name="Fluxograma: Processo 18">
              <a:extLst>
                <a:ext uri="{FF2B5EF4-FFF2-40B4-BE49-F238E27FC236}">
                  <a16:creationId xmlns:a16="http://schemas.microsoft.com/office/drawing/2014/main" id="{D1B5B00C-0D47-4611-81F3-7F90BB12AA59}"/>
                </a:ext>
              </a:extLst>
            </p:cNvPr>
            <p:cNvSpPr/>
            <p:nvPr/>
          </p:nvSpPr>
          <p:spPr>
            <a:xfrm>
              <a:off x="4909367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20" name="Fluxograma: Processo 19">
              <a:extLst>
                <a:ext uri="{FF2B5EF4-FFF2-40B4-BE49-F238E27FC236}">
                  <a16:creationId xmlns:a16="http://schemas.microsoft.com/office/drawing/2014/main" id="{EC49A414-0956-4A38-BDDF-956BCCE78AEE}"/>
                </a:ext>
              </a:extLst>
            </p:cNvPr>
            <p:cNvSpPr/>
            <p:nvPr/>
          </p:nvSpPr>
          <p:spPr>
            <a:xfrm>
              <a:off x="7215168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sp>
        <p:nvSpPr>
          <p:cNvPr id="2" name="Retângulo 1">
            <a:extLst>
              <a:ext uri="{FF2B5EF4-FFF2-40B4-BE49-F238E27FC236}">
                <a16:creationId xmlns:a16="http://schemas.microsoft.com/office/drawing/2014/main" id="{7454690B-DC62-4DED-9CEB-2448A1AE9FB6}"/>
              </a:ext>
            </a:extLst>
          </p:cNvPr>
          <p:cNvSpPr/>
          <p:nvPr/>
        </p:nvSpPr>
        <p:spPr>
          <a:xfrm>
            <a:off x="1341884" y="2580531"/>
            <a:ext cx="457234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pt-BR" sz="1200" dirty="0"/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C68DBC4D-87EF-42F8-87D7-0567B951C5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256" y="96696"/>
            <a:ext cx="1514156" cy="52399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9311E8F3-FBC1-44E1-AD0A-44A64762571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92746" y="2034270"/>
            <a:ext cx="6942026" cy="4362649"/>
          </a:xfrm>
          <a:prstGeom prst="rect">
            <a:avLst/>
          </a:prstGeom>
        </p:spPr>
      </p:pic>
      <p:sp>
        <p:nvSpPr>
          <p:cNvPr id="22" name="Espaço reservado para conteúdo 13">
            <a:extLst>
              <a:ext uri="{FF2B5EF4-FFF2-40B4-BE49-F238E27FC236}">
                <a16:creationId xmlns:a16="http://schemas.microsoft.com/office/drawing/2014/main" id="{162260AE-5A24-4A1C-BB8E-11B0C483EDFF}"/>
              </a:ext>
            </a:extLst>
          </p:cNvPr>
          <p:cNvSpPr txBox="1">
            <a:spLocks/>
          </p:cNvSpPr>
          <p:nvPr/>
        </p:nvSpPr>
        <p:spPr>
          <a:xfrm>
            <a:off x="1688299" y="6437454"/>
            <a:ext cx="3974065" cy="251217"/>
          </a:xfrm>
          <a:prstGeom prst="rect">
            <a:avLst/>
          </a:prstGeom>
        </p:spPr>
        <p:txBody>
          <a:bodyPr rtlCol="0"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200" dirty="0"/>
              <a:t>Desenvolvido pela Equipe_03 Usando o </a:t>
            </a:r>
            <a:r>
              <a:rPr lang="pt-BR" sz="1200" dirty="0" err="1"/>
              <a:t>Figma</a:t>
            </a:r>
            <a:r>
              <a:rPr lang="pt-BR" sz="1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54998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Rodapé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BR" noProof="0" dirty="0"/>
              <a:t>Equipe_03</a:t>
            </a: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DC1BBB0-96F0-4077-A278-0F3FB5C104D3}" type="slidenum">
              <a:rPr lang="pt-BR" noProof="0" smtClean="0"/>
              <a:pPr rtl="0"/>
              <a:t>20</a:t>
            </a:fld>
            <a:endParaRPr lang="pt-BR" noProof="0" dirty="0"/>
          </a:p>
        </p:txBody>
      </p:sp>
      <p:sp>
        <p:nvSpPr>
          <p:cNvPr id="5" name="Espaço reservado para conteúdo 13">
            <a:extLst>
              <a:ext uri="{FF2B5EF4-FFF2-40B4-BE49-F238E27FC236}">
                <a16:creationId xmlns:a16="http://schemas.microsoft.com/office/drawing/2014/main" id="{68EA1406-9D0A-F316-CA4B-D6FA46DEDD20}"/>
              </a:ext>
            </a:extLst>
          </p:cNvPr>
          <p:cNvSpPr txBox="1">
            <a:spLocks/>
          </p:cNvSpPr>
          <p:nvPr/>
        </p:nvSpPr>
        <p:spPr>
          <a:xfrm>
            <a:off x="1040330" y="1703916"/>
            <a:ext cx="5486130" cy="399626"/>
          </a:xfrm>
          <a:prstGeom prst="rect">
            <a:avLst/>
          </a:prstGeom>
        </p:spPr>
        <p:txBody>
          <a:bodyPr rtlCol="0"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000" b="1" dirty="0">
                <a:solidFill>
                  <a:schemeClr val="tx2">
                    <a:lumMod val="85000"/>
                    <a:lumOff val="15000"/>
                  </a:schemeClr>
                </a:solidFill>
              </a:rPr>
              <a:t>Evolução do Protótipo da Tela de Cadastro</a:t>
            </a:r>
          </a:p>
          <a:p>
            <a:endParaRPr lang="pt-BR" sz="2000" dirty="0"/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306CF383-86BE-4807-90B1-358A5BECE709}"/>
              </a:ext>
            </a:extLst>
          </p:cNvPr>
          <p:cNvSpPr txBox="1">
            <a:spLocks/>
          </p:cNvSpPr>
          <p:nvPr/>
        </p:nvSpPr>
        <p:spPr>
          <a:xfrm>
            <a:off x="1056743" y="587869"/>
            <a:ext cx="6397054" cy="7312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400" b="1" dirty="0"/>
              <a:t>Trabalho de Conclusão de Curso</a:t>
            </a:r>
          </a:p>
        </p:txBody>
      </p:sp>
      <p:sp>
        <p:nvSpPr>
          <p:cNvPr id="13" name="Subtítulo 2">
            <a:extLst>
              <a:ext uri="{FF2B5EF4-FFF2-40B4-BE49-F238E27FC236}">
                <a16:creationId xmlns:a16="http://schemas.microsoft.com/office/drawing/2014/main" id="{00B1AEDC-7D96-4DE1-B8DF-DCD9B40C88B7}"/>
              </a:ext>
            </a:extLst>
          </p:cNvPr>
          <p:cNvSpPr txBox="1">
            <a:spLocks/>
          </p:cNvSpPr>
          <p:nvPr/>
        </p:nvSpPr>
        <p:spPr>
          <a:xfrm>
            <a:off x="1099566" y="1241188"/>
            <a:ext cx="3969503" cy="5953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Euphemia" pitchFamily="34" charset="0"/>
              <a:buNone/>
            </a:pPr>
            <a:r>
              <a:rPr lang="pt-BR" sz="1800" dirty="0"/>
              <a:t>Desenvolvimento de Sistemas</a:t>
            </a: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A40F2AE1-D35B-45F6-B403-7441794FAC04}"/>
              </a:ext>
            </a:extLst>
          </p:cNvPr>
          <p:cNvGrpSpPr/>
          <p:nvPr/>
        </p:nvGrpSpPr>
        <p:grpSpPr>
          <a:xfrm>
            <a:off x="2629213" y="0"/>
            <a:ext cx="6913821" cy="620688"/>
            <a:chOff x="2629213" y="0"/>
            <a:chExt cx="6913821" cy="620688"/>
          </a:xfrm>
        </p:grpSpPr>
        <p:pic>
          <p:nvPicPr>
            <p:cNvPr id="15" name="Imagem 14">
              <a:extLst>
                <a:ext uri="{FF2B5EF4-FFF2-40B4-BE49-F238E27FC236}">
                  <a16:creationId xmlns:a16="http://schemas.microsoft.com/office/drawing/2014/main" id="{097D918F-CC2B-42C3-AA79-7935C824CE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44163" y="84791"/>
              <a:ext cx="1998871" cy="444194"/>
            </a:xfrm>
            <a:prstGeom prst="rect">
              <a:avLst/>
            </a:prstGeom>
          </p:spPr>
        </p:pic>
        <p:pic>
          <p:nvPicPr>
            <p:cNvPr id="16" name="Imagem 15" descr="Desenho com traços pretos em fundo branco e letras pretas em fundo branco&#10;&#10;Descrição gerada automaticamente com confiança média">
              <a:extLst>
                <a:ext uri="{FF2B5EF4-FFF2-40B4-BE49-F238E27FC236}">
                  <a16:creationId xmlns:a16="http://schemas.microsoft.com/office/drawing/2014/main" id="{2DC19A36-0916-4BCB-AB5D-E7A2A48E1E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48617" y="116632"/>
              <a:ext cx="673021" cy="4441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Imagem 16">
              <a:extLst>
                <a:ext uri="{FF2B5EF4-FFF2-40B4-BE49-F238E27FC236}">
                  <a16:creationId xmlns:a16="http://schemas.microsoft.com/office/drawing/2014/main" id="{68398C3D-8562-4F85-B4C6-86BBDA332CF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50549" y="116632"/>
              <a:ext cx="663678" cy="444194"/>
            </a:xfrm>
            <a:prstGeom prst="rect">
              <a:avLst/>
            </a:prstGeom>
          </p:spPr>
        </p:pic>
        <p:sp>
          <p:nvSpPr>
            <p:cNvPr id="18" name="Fluxograma: Processo 17">
              <a:extLst>
                <a:ext uri="{FF2B5EF4-FFF2-40B4-BE49-F238E27FC236}">
                  <a16:creationId xmlns:a16="http://schemas.microsoft.com/office/drawing/2014/main" id="{974A88B2-9B2F-46D6-AA77-38E50B00D999}"/>
                </a:ext>
              </a:extLst>
            </p:cNvPr>
            <p:cNvSpPr/>
            <p:nvPr/>
          </p:nvSpPr>
          <p:spPr>
            <a:xfrm>
              <a:off x="2629213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9" name="Fluxograma: Processo 18">
              <a:extLst>
                <a:ext uri="{FF2B5EF4-FFF2-40B4-BE49-F238E27FC236}">
                  <a16:creationId xmlns:a16="http://schemas.microsoft.com/office/drawing/2014/main" id="{D1B5B00C-0D47-4611-81F3-7F90BB12AA59}"/>
                </a:ext>
              </a:extLst>
            </p:cNvPr>
            <p:cNvSpPr/>
            <p:nvPr/>
          </p:nvSpPr>
          <p:spPr>
            <a:xfrm>
              <a:off x="4909367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20" name="Fluxograma: Processo 19">
              <a:extLst>
                <a:ext uri="{FF2B5EF4-FFF2-40B4-BE49-F238E27FC236}">
                  <a16:creationId xmlns:a16="http://schemas.microsoft.com/office/drawing/2014/main" id="{EC49A414-0956-4A38-BDDF-956BCCE78AEE}"/>
                </a:ext>
              </a:extLst>
            </p:cNvPr>
            <p:cNvSpPr/>
            <p:nvPr/>
          </p:nvSpPr>
          <p:spPr>
            <a:xfrm>
              <a:off x="7215168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sp>
        <p:nvSpPr>
          <p:cNvPr id="2" name="Retângulo 1">
            <a:extLst>
              <a:ext uri="{FF2B5EF4-FFF2-40B4-BE49-F238E27FC236}">
                <a16:creationId xmlns:a16="http://schemas.microsoft.com/office/drawing/2014/main" id="{7454690B-DC62-4DED-9CEB-2448A1AE9FB6}"/>
              </a:ext>
            </a:extLst>
          </p:cNvPr>
          <p:cNvSpPr/>
          <p:nvPr/>
        </p:nvSpPr>
        <p:spPr>
          <a:xfrm>
            <a:off x="1341884" y="2580531"/>
            <a:ext cx="457234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pt-BR" sz="1200" dirty="0"/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C68DBC4D-87EF-42F8-87D7-0567B951C5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256" y="96696"/>
            <a:ext cx="1514156" cy="523992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2DDD1F5E-8E29-4CC0-9414-2255239FC01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28377" y="2103542"/>
            <a:ext cx="7771700" cy="4380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787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Rodapé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BR" noProof="0" dirty="0"/>
              <a:t>Equipe_03</a:t>
            </a: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DC1BBB0-96F0-4077-A278-0F3FB5C104D3}" type="slidenum">
              <a:rPr lang="pt-BR" noProof="0" smtClean="0"/>
              <a:pPr rtl="0"/>
              <a:t>21</a:t>
            </a:fld>
            <a:endParaRPr lang="pt-BR" noProof="0" dirty="0"/>
          </a:p>
        </p:txBody>
      </p:sp>
      <p:sp>
        <p:nvSpPr>
          <p:cNvPr id="5" name="Espaço reservado para conteúdo 13">
            <a:extLst>
              <a:ext uri="{FF2B5EF4-FFF2-40B4-BE49-F238E27FC236}">
                <a16:creationId xmlns:a16="http://schemas.microsoft.com/office/drawing/2014/main" id="{68EA1406-9D0A-F316-CA4B-D6FA46DEDD20}"/>
              </a:ext>
            </a:extLst>
          </p:cNvPr>
          <p:cNvSpPr txBox="1">
            <a:spLocks/>
          </p:cNvSpPr>
          <p:nvPr/>
        </p:nvSpPr>
        <p:spPr>
          <a:xfrm>
            <a:off x="1040330" y="1703916"/>
            <a:ext cx="5486130" cy="399626"/>
          </a:xfrm>
          <a:prstGeom prst="rect">
            <a:avLst/>
          </a:prstGeom>
        </p:spPr>
        <p:txBody>
          <a:bodyPr rtlCol="0"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000" b="1" dirty="0">
                <a:solidFill>
                  <a:schemeClr val="tx2">
                    <a:lumMod val="85000"/>
                    <a:lumOff val="15000"/>
                  </a:schemeClr>
                </a:solidFill>
              </a:rPr>
              <a:t>Diagrama UML de Classe</a:t>
            </a:r>
          </a:p>
          <a:p>
            <a:endParaRPr lang="pt-BR" sz="2000" dirty="0"/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306CF383-86BE-4807-90B1-358A5BECE709}"/>
              </a:ext>
            </a:extLst>
          </p:cNvPr>
          <p:cNvSpPr txBox="1">
            <a:spLocks/>
          </p:cNvSpPr>
          <p:nvPr/>
        </p:nvSpPr>
        <p:spPr>
          <a:xfrm>
            <a:off x="1056743" y="587869"/>
            <a:ext cx="6397054" cy="7312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400" b="1" dirty="0"/>
              <a:t>Trabalho de Conclusão de Curso</a:t>
            </a:r>
          </a:p>
        </p:txBody>
      </p:sp>
      <p:sp>
        <p:nvSpPr>
          <p:cNvPr id="13" name="Subtítulo 2">
            <a:extLst>
              <a:ext uri="{FF2B5EF4-FFF2-40B4-BE49-F238E27FC236}">
                <a16:creationId xmlns:a16="http://schemas.microsoft.com/office/drawing/2014/main" id="{00B1AEDC-7D96-4DE1-B8DF-DCD9B40C88B7}"/>
              </a:ext>
            </a:extLst>
          </p:cNvPr>
          <p:cNvSpPr txBox="1">
            <a:spLocks/>
          </p:cNvSpPr>
          <p:nvPr/>
        </p:nvSpPr>
        <p:spPr>
          <a:xfrm>
            <a:off x="1099566" y="1241188"/>
            <a:ext cx="3969503" cy="5953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Euphemia" pitchFamily="34" charset="0"/>
              <a:buNone/>
            </a:pPr>
            <a:r>
              <a:rPr lang="pt-BR" sz="1800" dirty="0"/>
              <a:t>Desenvolvimento de Sistemas</a:t>
            </a: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A40F2AE1-D35B-45F6-B403-7441794FAC04}"/>
              </a:ext>
            </a:extLst>
          </p:cNvPr>
          <p:cNvGrpSpPr/>
          <p:nvPr/>
        </p:nvGrpSpPr>
        <p:grpSpPr>
          <a:xfrm>
            <a:off x="2629213" y="0"/>
            <a:ext cx="6913821" cy="620688"/>
            <a:chOff x="2629213" y="0"/>
            <a:chExt cx="6913821" cy="620688"/>
          </a:xfrm>
        </p:grpSpPr>
        <p:pic>
          <p:nvPicPr>
            <p:cNvPr id="15" name="Imagem 14">
              <a:extLst>
                <a:ext uri="{FF2B5EF4-FFF2-40B4-BE49-F238E27FC236}">
                  <a16:creationId xmlns:a16="http://schemas.microsoft.com/office/drawing/2014/main" id="{097D918F-CC2B-42C3-AA79-7935C824CE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44163" y="84791"/>
              <a:ext cx="1998871" cy="444194"/>
            </a:xfrm>
            <a:prstGeom prst="rect">
              <a:avLst/>
            </a:prstGeom>
          </p:spPr>
        </p:pic>
        <p:pic>
          <p:nvPicPr>
            <p:cNvPr id="16" name="Imagem 15" descr="Desenho com traços pretos em fundo branco e letras pretas em fundo branco&#10;&#10;Descrição gerada automaticamente com confiança média">
              <a:extLst>
                <a:ext uri="{FF2B5EF4-FFF2-40B4-BE49-F238E27FC236}">
                  <a16:creationId xmlns:a16="http://schemas.microsoft.com/office/drawing/2014/main" id="{2DC19A36-0916-4BCB-AB5D-E7A2A48E1E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48617" y="116632"/>
              <a:ext cx="673021" cy="4441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Imagem 16">
              <a:extLst>
                <a:ext uri="{FF2B5EF4-FFF2-40B4-BE49-F238E27FC236}">
                  <a16:creationId xmlns:a16="http://schemas.microsoft.com/office/drawing/2014/main" id="{68398C3D-8562-4F85-B4C6-86BBDA332CF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50549" y="116632"/>
              <a:ext cx="663678" cy="444194"/>
            </a:xfrm>
            <a:prstGeom prst="rect">
              <a:avLst/>
            </a:prstGeom>
          </p:spPr>
        </p:pic>
        <p:sp>
          <p:nvSpPr>
            <p:cNvPr id="18" name="Fluxograma: Processo 17">
              <a:extLst>
                <a:ext uri="{FF2B5EF4-FFF2-40B4-BE49-F238E27FC236}">
                  <a16:creationId xmlns:a16="http://schemas.microsoft.com/office/drawing/2014/main" id="{974A88B2-9B2F-46D6-AA77-38E50B00D999}"/>
                </a:ext>
              </a:extLst>
            </p:cNvPr>
            <p:cNvSpPr/>
            <p:nvPr/>
          </p:nvSpPr>
          <p:spPr>
            <a:xfrm>
              <a:off x="2629213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9" name="Fluxograma: Processo 18">
              <a:extLst>
                <a:ext uri="{FF2B5EF4-FFF2-40B4-BE49-F238E27FC236}">
                  <a16:creationId xmlns:a16="http://schemas.microsoft.com/office/drawing/2014/main" id="{D1B5B00C-0D47-4611-81F3-7F90BB12AA59}"/>
                </a:ext>
              </a:extLst>
            </p:cNvPr>
            <p:cNvSpPr/>
            <p:nvPr/>
          </p:nvSpPr>
          <p:spPr>
            <a:xfrm>
              <a:off x="4909367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20" name="Fluxograma: Processo 19">
              <a:extLst>
                <a:ext uri="{FF2B5EF4-FFF2-40B4-BE49-F238E27FC236}">
                  <a16:creationId xmlns:a16="http://schemas.microsoft.com/office/drawing/2014/main" id="{EC49A414-0956-4A38-BDDF-956BCCE78AEE}"/>
                </a:ext>
              </a:extLst>
            </p:cNvPr>
            <p:cNvSpPr/>
            <p:nvPr/>
          </p:nvSpPr>
          <p:spPr>
            <a:xfrm>
              <a:off x="7215168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sp>
        <p:nvSpPr>
          <p:cNvPr id="2" name="Retângulo 1">
            <a:extLst>
              <a:ext uri="{FF2B5EF4-FFF2-40B4-BE49-F238E27FC236}">
                <a16:creationId xmlns:a16="http://schemas.microsoft.com/office/drawing/2014/main" id="{7454690B-DC62-4DED-9CEB-2448A1AE9FB6}"/>
              </a:ext>
            </a:extLst>
          </p:cNvPr>
          <p:cNvSpPr/>
          <p:nvPr/>
        </p:nvSpPr>
        <p:spPr>
          <a:xfrm>
            <a:off x="1341884" y="2580531"/>
            <a:ext cx="457234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pt-BR" sz="1200" dirty="0"/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C68DBC4D-87EF-42F8-87D7-0567B951C5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256" y="96696"/>
            <a:ext cx="1514156" cy="523992"/>
          </a:xfrm>
          <a:prstGeom prst="rect">
            <a:avLst/>
          </a:prstGeom>
        </p:spPr>
      </p:pic>
      <p:sp>
        <p:nvSpPr>
          <p:cNvPr id="9" name="AutoShape 6" descr="Imagem">
            <a:extLst>
              <a:ext uri="{FF2B5EF4-FFF2-40B4-BE49-F238E27FC236}">
                <a16:creationId xmlns:a16="http://schemas.microsoft.com/office/drawing/2014/main" id="{99CC09E3-BE93-427A-A447-D4A1C4E2B2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629213" y="3276600"/>
            <a:ext cx="3617600" cy="361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779D49B5-4F2C-4D9C-9F2A-865D01A1CB6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61964" y="2060848"/>
            <a:ext cx="6092809" cy="4698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500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Rodapé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BR" noProof="0" dirty="0"/>
              <a:t>Equipe_03</a:t>
            </a: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DC1BBB0-96F0-4077-A278-0F3FB5C104D3}" type="slidenum">
              <a:rPr lang="pt-BR" noProof="0" smtClean="0"/>
              <a:pPr rtl="0"/>
              <a:t>22</a:t>
            </a:fld>
            <a:endParaRPr lang="pt-BR" noProof="0" dirty="0"/>
          </a:p>
        </p:txBody>
      </p:sp>
      <p:sp>
        <p:nvSpPr>
          <p:cNvPr id="5" name="Espaço reservado para conteúdo 13">
            <a:extLst>
              <a:ext uri="{FF2B5EF4-FFF2-40B4-BE49-F238E27FC236}">
                <a16:creationId xmlns:a16="http://schemas.microsoft.com/office/drawing/2014/main" id="{68EA1406-9D0A-F316-CA4B-D6FA46DEDD20}"/>
              </a:ext>
            </a:extLst>
          </p:cNvPr>
          <p:cNvSpPr txBox="1">
            <a:spLocks/>
          </p:cNvSpPr>
          <p:nvPr/>
        </p:nvSpPr>
        <p:spPr>
          <a:xfrm>
            <a:off x="1040330" y="1703916"/>
            <a:ext cx="5486130" cy="399626"/>
          </a:xfrm>
          <a:prstGeom prst="rect">
            <a:avLst/>
          </a:prstGeom>
        </p:spPr>
        <p:txBody>
          <a:bodyPr rtlCol="0"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000" b="1" dirty="0">
                <a:solidFill>
                  <a:schemeClr val="tx2">
                    <a:lumMod val="85000"/>
                    <a:lumOff val="15000"/>
                  </a:schemeClr>
                </a:solidFill>
              </a:rPr>
              <a:t>Diagrama UML de Caso de Uso</a:t>
            </a:r>
          </a:p>
          <a:p>
            <a:endParaRPr lang="pt-BR" sz="2000" dirty="0"/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306CF383-86BE-4807-90B1-358A5BECE709}"/>
              </a:ext>
            </a:extLst>
          </p:cNvPr>
          <p:cNvSpPr txBox="1">
            <a:spLocks/>
          </p:cNvSpPr>
          <p:nvPr/>
        </p:nvSpPr>
        <p:spPr>
          <a:xfrm>
            <a:off x="1056743" y="587869"/>
            <a:ext cx="6397054" cy="7312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400" b="1" dirty="0"/>
              <a:t>Trabalho de Conclusão de Curso</a:t>
            </a:r>
          </a:p>
        </p:txBody>
      </p:sp>
      <p:sp>
        <p:nvSpPr>
          <p:cNvPr id="13" name="Subtítulo 2">
            <a:extLst>
              <a:ext uri="{FF2B5EF4-FFF2-40B4-BE49-F238E27FC236}">
                <a16:creationId xmlns:a16="http://schemas.microsoft.com/office/drawing/2014/main" id="{00B1AEDC-7D96-4DE1-B8DF-DCD9B40C88B7}"/>
              </a:ext>
            </a:extLst>
          </p:cNvPr>
          <p:cNvSpPr txBox="1">
            <a:spLocks/>
          </p:cNvSpPr>
          <p:nvPr/>
        </p:nvSpPr>
        <p:spPr>
          <a:xfrm>
            <a:off x="1099566" y="1241188"/>
            <a:ext cx="3969503" cy="5953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Euphemia" pitchFamily="34" charset="0"/>
              <a:buNone/>
            </a:pPr>
            <a:r>
              <a:rPr lang="pt-BR" sz="1800" dirty="0"/>
              <a:t>Desenvolvimento de Sistemas</a:t>
            </a: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A40F2AE1-D35B-45F6-B403-7441794FAC04}"/>
              </a:ext>
            </a:extLst>
          </p:cNvPr>
          <p:cNvGrpSpPr/>
          <p:nvPr/>
        </p:nvGrpSpPr>
        <p:grpSpPr>
          <a:xfrm>
            <a:off x="2629213" y="0"/>
            <a:ext cx="6913821" cy="620688"/>
            <a:chOff x="2629213" y="0"/>
            <a:chExt cx="6913821" cy="620688"/>
          </a:xfrm>
        </p:grpSpPr>
        <p:pic>
          <p:nvPicPr>
            <p:cNvPr id="15" name="Imagem 14">
              <a:extLst>
                <a:ext uri="{FF2B5EF4-FFF2-40B4-BE49-F238E27FC236}">
                  <a16:creationId xmlns:a16="http://schemas.microsoft.com/office/drawing/2014/main" id="{097D918F-CC2B-42C3-AA79-7935C824CE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44163" y="84791"/>
              <a:ext cx="1998871" cy="444194"/>
            </a:xfrm>
            <a:prstGeom prst="rect">
              <a:avLst/>
            </a:prstGeom>
          </p:spPr>
        </p:pic>
        <p:pic>
          <p:nvPicPr>
            <p:cNvPr id="16" name="Imagem 15" descr="Desenho com traços pretos em fundo branco e letras pretas em fundo branco&#10;&#10;Descrição gerada automaticamente com confiança média">
              <a:extLst>
                <a:ext uri="{FF2B5EF4-FFF2-40B4-BE49-F238E27FC236}">
                  <a16:creationId xmlns:a16="http://schemas.microsoft.com/office/drawing/2014/main" id="{2DC19A36-0916-4BCB-AB5D-E7A2A48E1E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48617" y="116632"/>
              <a:ext cx="673021" cy="4441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Imagem 16">
              <a:extLst>
                <a:ext uri="{FF2B5EF4-FFF2-40B4-BE49-F238E27FC236}">
                  <a16:creationId xmlns:a16="http://schemas.microsoft.com/office/drawing/2014/main" id="{68398C3D-8562-4F85-B4C6-86BBDA332CF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50549" y="116632"/>
              <a:ext cx="663678" cy="444194"/>
            </a:xfrm>
            <a:prstGeom prst="rect">
              <a:avLst/>
            </a:prstGeom>
          </p:spPr>
        </p:pic>
        <p:sp>
          <p:nvSpPr>
            <p:cNvPr id="18" name="Fluxograma: Processo 17">
              <a:extLst>
                <a:ext uri="{FF2B5EF4-FFF2-40B4-BE49-F238E27FC236}">
                  <a16:creationId xmlns:a16="http://schemas.microsoft.com/office/drawing/2014/main" id="{974A88B2-9B2F-46D6-AA77-38E50B00D999}"/>
                </a:ext>
              </a:extLst>
            </p:cNvPr>
            <p:cNvSpPr/>
            <p:nvPr/>
          </p:nvSpPr>
          <p:spPr>
            <a:xfrm>
              <a:off x="2629213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9" name="Fluxograma: Processo 18">
              <a:extLst>
                <a:ext uri="{FF2B5EF4-FFF2-40B4-BE49-F238E27FC236}">
                  <a16:creationId xmlns:a16="http://schemas.microsoft.com/office/drawing/2014/main" id="{D1B5B00C-0D47-4611-81F3-7F90BB12AA59}"/>
                </a:ext>
              </a:extLst>
            </p:cNvPr>
            <p:cNvSpPr/>
            <p:nvPr/>
          </p:nvSpPr>
          <p:spPr>
            <a:xfrm>
              <a:off x="4909367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20" name="Fluxograma: Processo 19">
              <a:extLst>
                <a:ext uri="{FF2B5EF4-FFF2-40B4-BE49-F238E27FC236}">
                  <a16:creationId xmlns:a16="http://schemas.microsoft.com/office/drawing/2014/main" id="{EC49A414-0956-4A38-BDDF-956BCCE78AEE}"/>
                </a:ext>
              </a:extLst>
            </p:cNvPr>
            <p:cNvSpPr/>
            <p:nvPr/>
          </p:nvSpPr>
          <p:spPr>
            <a:xfrm>
              <a:off x="7215168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sp>
        <p:nvSpPr>
          <p:cNvPr id="2" name="Retângulo 1">
            <a:extLst>
              <a:ext uri="{FF2B5EF4-FFF2-40B4-BE49-F238E27FC236}">
                <a16:creationId xmlns:a16="http://schemas.microsoft.com/office/drawing/2014/main" id="{7454690B-DC62-4DED-9CEB-2448A1AE9FB6}"/>
              </a:ext>
            </a:extLst>
          </p:cNvPr>
          <p:cNvSpPr/>
          <p:nvPr/>
        </p:nvSpPr>
        <p:spPr>
          <a:xfrm>
            <a:off x="1341884" y="2580531"/>
            <a:ext cx="457234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pt-BR" sz="1200" dirty="0"/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C68DBC4D-87EF-42F8-87D7-0567B951C5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256" y="96696"/>
            <a:ext cx="1514156" cy="523992"/>
          </a:xfrm>
          <a:prstGeom prst="rect">
            <a:avLst/>
          </a:prstGeom>
        </p:spPr>
      </p:pic>
      <p:sp>
        <p:nvSpPr>
          <p:cNvPr id="4" name="AutoShape 2" descr="Imagem">
            <a:extLst>
              <a:ext uri="{FF2B5EF4-FFF2-40B4-BE49-F238E27FC236}">
                <a16:creationId xmlns:a16="http://schemas.microsoft.com/office/drawing/2014/main" id="{F60212D9-2AFE-4536-B6C1-452C231E3D8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2013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D290EB79-68F5-4BBF-8714-70933F172B0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66899" y="2023072"/>
            <a:ext cx="7139881" cy="4430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085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Rodapé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BR" noProof="0" dirty="0"/>
              <a:t>Equipe_03</a:t>
            </a: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DC1BBB0-96F0-4077-A278-0F3FB5C104D3}" type="slidenum">
              <a:rPr lang="pt-BR" noProof="0" smtClean="0"/>
              <a:pPr rtl="0"/>
              <a:t>23</a:t>
            </a:fld>
            <a:endParaRPr lang="pt-BR" noProof="0" dirty="0"/>
          </a:p>
        </p:txBody>
      </p:sp>
      <p:sp>
        <p:nvSpPr>
          <p:cNvPr id="5" name="Espaço reservado para conteúdo 13">
            <a:extLst>
              <a:ext uri="{FF2B5EF4-FFF2-40B4-BE49-F238E27FC236}">
                <a16:creationId xmlns:a16="http://schemas.microsoft.com/office/drawing/2014/main" id="{68EA1406-9D0A-F316-CA4B-D6FA46DEDD20}"/>
              </a:ext>
            </a:extLst>
          </p:cNvPr>
          <p:cNvSpPr txBox="1">
            <a:spLocks/>
          </p:cNvSpPr>
          <p:nvPr/>
        </p:nvSpPr>
        <p:spPr>
          <a:xfrm>
            <a:off x="1040330" y="1703916"/>
            <a:ext cx="6174838" cy="399626"/>
          </a:xfrm>
          <a:prstGeom prst="rect">
            <a:avLst/>
          </a:prstGeom>
        </p:spPr>
        <p:txBody>
          <a:bodyPr rtlCol="0"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000" b="1" dirty="0">
                <a:solidFill>
                  <a:schemeClr val="tx2">
                    <a:lumMod val="85000"/>
                    <a:lumOff val="15000"/>
                  </a:schemeClr>
                </a:solidFill>
              </a:rPr>
              <a:t>Modelo Lógico de Banco de Dados (DER Lógico)</a:t>
            </a:r>
          </a:p>
          <a:p>
            <a:endParaRPr lang="pt-BR" sz="2000" dirty="0"/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306CF383-86BE-4807-90B1-358A5BECE709}"/>
              </a:ext>
            </a:extLst>
          </p:cNvPr>
          <p:cNvSpPr txBox="1">
            <a:spLocks/>
          </p:cNvSpPr>
          <p:nvPr/>
        </p:nvSpPr>
        <p:spPr>
          <a:xfrm>
            <a:off x="1056743" y="587869"/>
            <a:ext cx="6397054" cy="7312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400" b="1" dirty="0"/>
              <a:t>Trabalho de Conclusão de Curso</a:t>
            </a:r>
          </a:p>
        </p:txBody>
      </p:sp>
      <p:sp>
        <p:nvSpPr>
          <p:cNvPr id="13" name="Subtítulo 2">
            <a:extLst>
              <a:ext uri="{FF2B5EF4-FFF2-40B4-BE49-F238E27FC236}">
                <a16:creationId xmlns:a16="http://schemas.microsoft.com/office/drawing/2014/main" id="{00B1AEDC-7D96-4DE1-B8DF-DCD9B40C88B7}"/>
              </a:ext>
            </a:extLst>
          </p:cNvPr>
          <p:cNvSpPr txBox="1">
            <a:spLocks/>
          </p:cNvSpPr>
          <p:nvPr/>
        </p:nvSpPr>
        <p:spPr>
          <a:xfrm>
            <a:off x="1099566" y="1241188"/>
            <a:ext cx="3969503" cy="5953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Euphemia" pitchFamily="34" charset="0"/>
              <a:buNone/>
            </a:pPr>
            <a:r>
              <a:rPr lang="pt-BR" sz="1800" dirty="0"/>
              <a:t>Desenvolvimento de Sistemas</a:t>
            </a: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A40F2AE1-D35B-45F6-B403-7441794FAC04}"/>
              </a:ext>
            </a:extLst>
          </p:cNvPr>
          <p:cNvGrpSpPr/>
          <p:nvPr/>
        </p:nvGrpSpPr>
        <p:grpSpPr>
          <a:xfrm>
            <a:off x="2629213" y="0"/>
            <a:ext cx="6913821" cy="620688"/>
            <a:chOff x="2629213" y="0"/>
            <a:chExt cx="6913821" cy="620688"/>
          </a:xfrm>
        </p:grpSpPr>
        <p:pic>
          <p:nvPicPr>
            <p:cNvPr id="15" name="Imagem 14">
              <a:extLst>
                <a:ext uri="{FF2B5EF4-FFF2-40B4-BE49-F238E27FC236}">
                  <a16:creationId xmlns:a16="http://schemas.microsoft.com/office/drawing/2014/main" id="{097D918F-CC2B-42C3-AA79-7935C824CE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44163" y="84791"/>
              <a:ext cx="1998871" cy="444194"/>
            </a:xfrm>
            <a:prstGeom prst="rect">
              <a:avLst/>
            </a:prstGeom>
          </p:spPr>
        </p:pic>
        <p:pic>
          <p:nvPicPr>
            <p:cNvPr id="16" name="Imagem 15" descr="Desenho com traços pretos em fundo branco e letras pretas em fundo branco&#10;&#10;Descrição gerada automaticamente com confiança média">
              <a:extLst>
                <a:ext uri="{FF2B5EF4-FFF2-40B4-BE49-F238E27FC236}">
                  <a16:creationId xmlns:a16="http://schemas.microsoft.com/office/drawing/2014/main" id="{2DC19A36-0916-4BCB-AB5D-E7A2A48E1E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48617" y="116632"/>
              <a:ext cx="673021" cy="4441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Imagem 16">
              <a:extLst>
                <a:ext uri="{FF2B5EF4-FFF2-40B4-BE49-F238E27FC236}">
                  <a16:creationId xmlns:a16="http://schemas.microsoft.com/office/drawing/2014/main" id="{68398C3D-8562-4F85-B4C6-86BBDA332CF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50549" y="116632"/>
              <a:ext cx="663678" cy="444194"/>
            </a:xfrm>
            <a:prstGeom prst="rect">
              <a:avLst/>
            </a:prstGeom>
          </p:spPr>
        </p:pic>
        <p:sp>
          <p:nvSpPr>
            <p:cNvPr id="18" name="Fluxograma: Processo 17">
              <a:extLst>
                <a:ext uri="{FF2B5EF4-FFF2-40B4-BE49-F238E27FC236}">
                  <a16:creationId xmlns:a16="http://schemas.microsoft.com/office/drawing/2014/main" id="{974A88B2-9B2F-46D6-AA77-38E50B00D999}"/>
                </a:ext>
              </a:extLst>
            </p:cNvPr>
            <p:cNvSpPr/>
            <p:nvPr/>
          </p:nvSpPr>
          <p:spPr>
            <a:xfrm>
              <a:off x="2629213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9" name="Fluxograma: Processo 18">
              <a:extLst>
                <a:ext uri="{FF2B5EF4-FFF2-40B4-BE49-F238E27FC236}">
                  <a16:creationId xmlns:a16="http://schemas.microsoft.com/office/drawing/2014/main" id="{D1B5B00C-0D47-4611-81F3-7F90BB12AA59}"/>
                </a:ext>
              </a:extLst>
            </p:cNvPr>
            <p:cNvSpPr/>
            <p:nvPr/>
          </p:nvSpPr>
          <p:spPr>
            <a:xfrm>
              <a:off x="4909367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20" name="Fluxograma: Processo 19">
              <a:extLst>
                <a:ext uri="{FF2B5EF4-FFF2-40B4-BE49-F238E27FC236}">
                  <a16:creationId xmlns:a16="http://schemas.microsoft.com/office/drawing/2014/main" id="{EC49A414-0956-4A38-BDDF-956BCCE78AEE}"/>
                </a:ext>
              </a:extLst>
            </p:cNvPr>
            <p:cNvSpPr/>
            <p:nvPr/>
          </p:nvSpPr>
          <p:spPr>
            <a:xfrm>
              <a:off x="7215168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sp>
        <p:nvSpPr>
          <p:cNvPr id="2" name="Retângulo 1">
            <a:extLst>
              <a:ext uri="{FF2B5EF4-FFF2-40B4-BE49-F238E27FC236}">
                <a16:creationId xmlns:a16="http://schemas.microsoft.com/office/drawing/2014/main" id="{7454690B-DC62-4DED-9CEB-2448A1AE9FB6}"/>
              </a:ext>
            </a:extLst>
          </p:cNvPr>
          <p:cNvSpPr/>
          <p:nvPr/>
        </p:nvSpPr>
        <p:spPr>
          <a:xfrm>
            <a:off x="1341884" y="2580531"/>
            <a:ext cx="457234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pt-BR" sz="1200" dirty="0"/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C68DBC4D-87EF-42F8-87D7-0567B951C5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256" y="96696"/>
            <a:ext cx="1514156" cy="523992"/>
          </a:xfrm>
          <a:prstGeom prst="rect">
            <a:avLst/>
          </a:prstGeom>
        </p:spPr>
      </p:pic>
      <p:sp>
        <p:nvSpPr>
          <p:cNvPr id="4" name="AutoShape 2" descr="Imagem">
            <a:extLst>
              <a:ext uri="{FF2B5EF4-FFF2-40B4-BE49-F238E27FC236}">
                <a16:creationId xmlns:a16="http://schemas.microsoft.com/office/drawing/2014/main" id="{F60212D9-2AFE-4536-B6C1-452C231E3D8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2013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D290EB79-68F5-4BBF-8714-70933F172B0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66899" y="2023072"/>
            <a:ext cx="7139881" cy="4430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899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Rodapé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BR" noProof="0" dirty="0"/>
              <a:t>Equipe_03</a:t>
            </a: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DC1BBB0-96F0-4077-A278-0F3FB5C104D3}" type="slidenum">
              <a:rPr lang="pt-BR" noProof="0" smtClean="0"/>
              <a:pPr rtl="0"/>
              <a:t>24</a:t>
            </a:fld>
            <a:endParaRPr lang="pt-BR" noProof="0" dirty="0"/>
          </a:p>
        </p:txBody>
      </p:sp>
      <p:sp>
        <p:nvSpPr>
          <p:cNvPr id="5" name="Espaço reservado para conteúdo 13">
            <a:extLst>
              <a:ext uri="{FF2B5EF4-FFF2-40B4-BE49-F238E27FC236}">
                <a16:creationId xmlns:a16="http://schemas.microsoft.com/office/drawing/2014/main" id="{68EA1406-9D0A-F316-CA4B-D6FA46DEDD20}"/>
              </a:ext>
            </a:extLst>
          </p:cNvPr>
          <p:cNvSpPr txBox="1">
            <a:spLocks/>
          </p:cNvSpPr>
          <p:nvPr/>
        </p:nvSpPr>
        <p:spPr>
          <a:xfrm>
            <a:off x="1040330" y="1703916"/>
            <a:ext cx="5342114" cy="399626"/>
          </a:xfrm>
          <a:prstGeom prst="rect">
            <a:avLst/>
          </a:prstGeom>
        </p:spPr>
        <p:txBody>
          <a:bodyPr rtlCol="0"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000" b="1" dirty="0">
                <a:solidFill>
                  <a:schemeClr val="tx2">
                    <a:lumMod val="85000"/>
                    <a:lumOff val="15000"/>
                  </a:schemeClr>
                </a:solidFill>
              </a:rPr>
              <a:t>Diagrama Entidade-Relacionamento (DER)</a:t>
            </a:r>
          </a:p>
          <a:p>
            <a:endParaRPr lang="pt-BR" sz="2000" dirty="0"/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306CF383-86BE-4807-90B1-358A5BECE709}"/>
              </a:ext>
            </a:extLst>
          </p:cNvPr>
          <p:cNvSpPr txBox="1">
            <a:spLocks/>
          </p:cNvSpPr>
          <p:nvPr/>
        </p:nvSpPr>
        <p:spPr>
          <a:xfrm>
            <a:off x="1056743" y="587869"/>
            <a:ext cx="6397054" cy="7312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400" b="1" dirty="0"/>
              <a:t>Trabalho de Conclusão de Curso</a:t>
            </a:r>
          </a:p>
        </p:txBody>
      </p:sp>
      <p:sp>
        <p:nvSpPr>
          <p:cNvPr id="13" name="Subtítulo 2">
            <a:extLst>
              <a:ext uri="{FF2B5EF4-FFF2-40B4-BE49-F238E27FC236}">
                <a16:creationId xmlns:a16="http://schemas.microsoft.com/office/drawing/2014/main" id="{00B1AEDC-7D96-4DE1-B8DF-DCD9B40C88B7}"/>
              </a:ext>
            </a:extLst>
          </p:cNvPr>
          <p:cNvSpPr txBox="1">
            <a:spLocks/>
          </p:cNvSpPr>
          <p:nvPr/>
        </p:nvSpPr>
        <p:spPr>
          <a:xfrm>
            <a:off x="1099566" y="1241188"/>
            <a:ext cx="3969503" cy="5953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Euphemia" pitchFamily="34" charset="0"/>
              <a:buNone/>
            </a:pPr>
            <a:r>
              <a:rPr lang="pt-BR" sz="1800" dirty="0"/>
              <a:t>Desenvolvimento de Sistemas</a:t>
            </a: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A40F2AE1-D35B-45F6-B403-7441794FAC04}"/>
              </a:ext>
            </a:extLst>
          </p:cNvPr>
          <p:cNvGrpSpPr/>
          <p:nvPr/>
        </p:nvGrpSpPr>
        <p:grpSpPr>
          <a:xfrm>
            <a:off x="2629213" y="0"/>
            <a:ext cx="6913821" cy="620688"/>
            <a:chOff x="2629213" y="0"/>
            <a:chExt cx="6913821" cy="620688"/>
          </a:xfrm>
        </p:grpSpPr>
        <p:pic>
          <p:nvPicPr>
            <p:cNvPr id="15" name="Imagem 14">
              <a:extLst>
                <a:ext uri="{FF2B5EF4-FFF2-40B4-BE49-F238E27FC236}">
                  <a16:creationId xmlns:a16="http://schemas.microsoft.com/office/drawing/2014/main" id="{097D918F-CC2B-42C3-AA79-7935C824CE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44163" y="84791"/>
              <a:ext cx="1998871" cy="444194"/>
            </a:xfrm>
            <a:prstGeom prst="rect">
              <a:avLst/>
            </a:prstGeom>
          </p:spPr>
        </p:pic>
        <p:pic>
          <p:nvPicPr>
            <p:cNvPr id="16" name="Imagem 15" descr="Desenho com traços pretos em fundo branco e letras pretas em fundo branco&#10;&#10;Descrição gerada automaticamente com confiança média">
              <a:extLst>
                <a:ext uri="{FF2B5EF4-FFF2-40B4-BE49-F238E27FC236}">
                  <a16:creationId xmlns:a16="http://schemas.microsoft.com/office/drawing/2014/main" id="{2DC19A36-0916-4BCB-AB5D-E7A2A48E1E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48617" y="116632"/>
              <a:ext cx="673021" cy="4441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Imagem 16">
              <a:extLst>
                <a:ext uri="{FF2B5EF4-FFF2-40B4-BE49-F238E27FC236}">
                  <a16:creationId xmlns:a16="http://schemas.microsoft.com/office/drawing/2014/main" id="{68398C3D-8562-4F85-B4C6-86BBDA332CF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50549" y="116632"/>
              <a:ext cx="663678" cy="444194"/>
            </a:xfrm>
            <a:prstGeom prst="rect">
              <a:avLst/>
            </a:prstGeom>
          </p:spPr>
        </p:pic>
        <p:sp>
          <p:nvSpPr>
            <p:cNvPr id="18" name="Fluxograma: Processo 17">
              <a:extLst>
                <a:ext uri="{FF2B5EF4-FFF2-40B4-BE49-F238E27FC236}">
                  <a16:creationId xmlns:a16="http://schemas.microsoft.com/office/drawing/2014/main" id="{974A88B2-9B2F-46D6-AA77-38E50B00D999}"/>
                </a:ext>
              </a:extLst>
            </p:cNvPr>
            <p:cNvSpPr/>
            <p:nvPr/>
          </p:nvSpPr>
          <p:spPr>
            <a:xfrm>
              <a:off x="2629213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9" name="Fluxograma: Processo 18">
              <a:extLst>
                <a:ext uri="{FF2B5EF4-FFF2-40B4-BE49-F238E27FC236}">
                  <a16:creationId xmlns:a16="http://schemas.microsoft.com/office/drawing/2014/main" id="{D1B5B00C-0D47-4611-81F3-7F90BB12AA59}"/>
                </a:ext>
              </a:extLst>
            </p:cNvPr>
            <p:cNvSpPr/>
            <p:nvPr/>
          </p:nvSpPr>
          <p:spPr>
            <a:xfrm>
              <a:off x="4909367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20" name="Fluxograma: Processo 19">
              <a:extLst>
                <a:ext uri="{FF2B5EF4-FFF2-40B4-BE49-F238E27FC236}">
                  <a16:creationId xmlns:a16="http://schemas.microsoft.com/office/drawing/2014/main" id="{EC49A414-0956-4A38-BDDF-956BCCE78AEE}"/>
                </a:ext>
              </a:extLst>
            </p:cNvPr>
            <p:cNvSpPr/>
            <p:nvPr/>
          </p:nvSpPr>
          <p:spPr>
            <a:xfrm>
              <a:off x="7215168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sp>
        <p:nvSpPr>
          <p:cNvPr id="2" name="Retângulo 1">
            <a:extLst>
              <a:ext uri="{FF2B5EF4-FFF2-40B4-BE49-F238E27FC236}">
                <a16:creationId xmlns:a16="http://schemas.microsoft.com/office/drawing/2014/main" id="{7454690B-DC62-4DED-9CEB-2448A1AE9FB6}"/>
              </a:ext>
            </a:extLst>
          </p:cNvPr>
          <p:cNvSpPr/>
          <p:nvPr/>
        </p:nvSpPr>
        <p:spPr>
          <a:xfrm>
            <a:off x="1341884" y="2580531"/>
            <a:ext cx="457234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pt-BR" sz="1200" dirty="0"/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C68DBC4D-87EF-42F8-87D7-0567B951C5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256" y="96696"/>
            <a:ext cx="1514156" cy="523992"/>
          </a:xfrm>
          <a:prstGeom prst="rect">
            <a:avLst/>
          </a:prstGeom>
        </p:spPr>
      </p:pic>
      <p:sp>
        <p:nvSpPr>
          <p:cNvPr id="4" name="AutoShape 2" descr="Imagem">
            <a:extLst>
              <a:ext uri="{FF2B5EF4-FFF2-40B4-BE49-F238E27FC236}">
                <a16:creationId xmlns:a16="http://schemas.microsoft.com/office/drawing/2014/main" id="{F60212D9-2AFE-4536-B6C1-452C231E3D8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2013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D290EB79-68F5-4BBF-8714-70933F172B0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66899" y="2023072"/>
            <a:ext cx="7139881" cy="4430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8699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Rodapé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BR" noProof="0" dirty="0"/>
              <a:t>Equipe_03</a:t>
            </a: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DC1BBB0-96F0-4077-A278-0F3FB5C104D3}" type="slidenum">
              <a:rPr lang="pt-BR" noProof="0" smtClean="0"/>
              <a:pPr rtl="0"/>
              <a:t>25</a:t>
            </a:fld>
            <a:endParaRPr lang="pt-BR" noProof="0" dirty="0"/>
          </a:p>
        </p:txBody>
      </p:sp>
      <p:sp>
        <p:nvSpPr>
          <p:cNvPr id="5" name="Espaço reservado para conteúdo 13">
            <a:extLst>
              <a:ext uri="{FF2B5EF4-FFF2-40B4-BE49-F238E27FC236}">
                <a16:creationId xmlns:a16="http://schemas.microsoft.com/office/drawing/2014/main" id="{68EA1406-9D0A-F316-CA4B-D6FA46DEDD20}"/>
              </a:ext>
            </a:extLst>
          </p:cNvPr>
          <p:cNvSpPr txBox="1">
            <a:spLocks/>
          </p:cNvSpPr>
          <p:nvPr/>
        </p:nvSpPr>
        <p:spPr>
          <a:xfrm>
            <a:off x="1125860" y="2237286"/>
            <a:ext cx="6192688" cy="327618"/>
          </a:xfrm>
          <a:prstGeom prst="rect">
            <a:avLst/>
          </a:prstGeom>
        </p:spPr>
        <p:txBody>
          <a:bodyPr rtlCol="0"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000" b="1" dirty="0">
                <a:solidFill>
                  <a:schemeClr val="tx2">
                    <a:lumMod val="85000"/>
                    <a:lumOff val="15000"/>
                  </a:schemeClr>
                </a:solidFill>
              </a:rPr>
              <a:t>Pesquisas</a:t>
            </a:r>
            <a:r>
              <a:rPr lang="pt-BR" sz="2000" dirty="0"/>
              <a:t> – Idosos dependentes no Brasil (2019)</a:t>
            </a: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306CF383-86BE-4807-90B1-358A5BECE709}"/>
              </a:ext>
            </a:extLst>
          </p:cNvPr>
          <p:cNvSpPr txBox="1">
            <a:spLocks/>
          </p:cNvSpPr>
          <p:nvPr/>
        </p:nvSpPr>
        <p:spPr>
          <a:xfrm>
            <a:off x="1053852" y="836712"/>
            <a:ext cx="6397054" cy="7312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400" b="1" dirty="0"/>
              <a:t>Trabalho de Conclusão de Curso</a:t>
            </a:r>
          </a:p>
        </p:txBody>
      </p:sp>
      <p:sp>
        <p:nvSpPr>
          <p:cNvPr id="13" name="Subtítulo 2">
            <a:extLst>
              <a:ext uri="{FF2B5EF4-FFF2-40B4-BE49-F238E27FC236}">
                <a16:creationId xmlns:a16="http://schemas.microsoft.com/office/drawing/2014/main" id="{00B1AEDC-7D96-4DE1-B8DF-DCD9B40C88B7}"/>
              </a:ext>
            </a:extLst>
          </p:cNvPr>
          <p:cNvSpPr txBox="1">
            <a:spLocks/>
          </p:cNvSpPr>
          <p:nvPr/>
        </p:nvSpPr>
        <p:spPr>
          <a:xfrm>
            <a:off x="1108607" y="1501516"/>
            <a:ext cx="3969503" cy="5953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Euphemia" pitchFamily="34" charset="0"/>
              <a:buNone/>
            </a:pPr>
            <a:r>
              <a:rPr lang="pt-BR" sz="1800" dirty="0"/>
              <a:t>Desenvolvimento de Sistemas</a:t>
            </a: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A40F2AE1-D35B-45F6-B403-7441794FAC04}"/>
              </a:ext>
            </a:extLst>
          </p:cNvPr>
          <p:cNvGrpSpPr/>
          <p:nvPr/>
        </p:nvGrpSpPr>
        <p:grpSpPr>
          <a:xfrm>
            <a:off x="2629213" y="0"/>
            <a:ext cx="6913821" cy="620688"/>
            <a:chOff x="2629213" y="0"/>
            <a:chExt cx="6913821" cy="620688"/>
          </a:xfrm>
        </p:grpSpPr>
        <p:pic>
          <p:nvPicPr>
            <p:cNvPr id="15" name="Imagem 14">
              <a:extLst>
                <a:ext uri="{FF2B5EF4-FFF2-40B4-BE49-F238E27FC236}">
                  <a16:creationId xmlns:a16="http://schemas.microsoft.com/office/drawing/2014/main" id="{097D918F-CC2B-42C3-AA79-7935C824CE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44163" y="84791"/>
              <a:ext cx="1998871" cy="444194"/>
            </a:xfrm>
            <a:prstGeom prst="rect">
              <a:avLst/>
            </a:prstGeom>
          </p:spPr>
        </p:pic>
        <p:pic>
          <p:nvPicPr>
            <p:cNvPr id="16" name="Imagem 15" descr="Desenho com traços pretos em fundo branco e letras pretas em fundo branco&#10;&#10;Descrição gerada automaticamente com confiança média">
              <a:extLst>
                <a:ext uri="{FF2B5EF4-FFF2-40B4-BE49-F238E27FC236}">
                  <a16:creationId xmlns:a16="http://schemas.microsoft.com/office/drawing/2014/main" id="{2DC19A36-0916-4BCB-AB5D-E7A2A48E1E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48617" y="116632"/>
              <a:ext cx="673021" cy="4441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Imagem 16">
              <a:extLst>
                <a:ext uri="{FF2B5EF4-FFF2-40B4-BE49-F238E27FC236}">
                  <a16:creationId xmlns:a16="http://schemas.microsoft.com/office/drawing/2014/main" id="{68398C3D-8562-4F85-B4C6-86BBDA332CF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50549" y="116632"/>
              <a:ext cx="663678" cy="444194"/>
            </a:xfrm>
            <a:prstGeom prst="rect">
              <a:avLst/>
            </a:prstGeom>
          </p:spPr>
        </p:pic>
        <p:sp>
          <p:nvSpPr>
            <p:cNvPr id="18" name="Fluxograma: Processo 17">
              <a:extLst>
                <a:ext uri="{FF2B5EF4-FFF2-40B4-BE49-F238E27FC236}">
                  <a16:creationId xmlns:a16="http://schemas.microsoft.com/office/drawing/2014/main" id="{974A88B2-9B2F-46D6-AA77-38E50B00D999}"/>
                </a:ext>
              </a:extLst>
            </p:cNvPr>
            <p:cNvSpPr/>
            <p:nvPr/>
          </p:nvSpPr>
          <p:spPr>
            <a:xfrm>
              <a:off x="2629213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9" name="Fluxograma: Processo 18">
              <a:extLst>
                <a:ext uri="{FF2B5EF4-FFF2-40B4-BE49-F238E27FC236}">
                  <a16:creationId xmlns:a16="http://schemas.microsoft.com/office/drawing/2014/main" id="{D1B5B00C-0D47-4611-81F3-7F90BB12AA59}"/>
                </a:ext>
              </a:extLst>
            </p:cNvPr>
            <p:cNvSpPr/>
            <p:nvPr/>
          </p:nvSpPr>
          <p:spPr>
            <a:xfrm>
              <a:off x="4909367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20" name="Fluxograma: Processo 19">
              <a:extLst>
                <a:ext uri="{FF2B5EF4-FFF2-40B4-BE49-F238E27FC236}">
                  <a16:creationId xmlns:a16="http://schemas.microsoft.com/office/drawing/2014/main" id="{EC49A414-0956-4A38-BDDF-956BCCE78AEE}"/>
                </a:ext>
              </a:extLst>
            </p:cNvPr>
            <p:cNvSpPr/>
            <p:nvPr/>
          </p:nvSpPr>
          <p:spPr>
            <a:xfrm>
              <a:off x="7215168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sp>
        <p:nvSpPr>
          <p:cNvPr id="21" name="Espaço reservado para conteúdo 13">
            <a:extLst>
              <a:ext uri="{FF2B5EF4-FFF2-40B4-BE49-F238E27FC236}">
                <a16:creationId xmlns:a16="http://schemas.microsoft.com/office/drawing/2014/main" id="{3E240EB9-C157-4F88-8D5E-84DBAFCCDEB4}"/>
              </a:ext>
            </a:extLst>
          </p:cNvPr>
          <p:cNvSpPr txBox="1">
            <a:spLocks/>
          </p:cNvSpPr>
          <p:nvPr/>
        </p:nvSpPr>
        <p:spPr>
          <a:xfrm>
            <a:off x="1177497" y="2705361"/>
            <a:ext cx="4844907" cy="1440160"/>
          </a:xfrm>
          <a:prstGeom prst="rect">
            <a:avLst/>
          </a:prstGeom>
        </p:spPr>
        <p:txBody>
          <a:bodyPr rtlCol="0"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400" dirty="0">
                <a:solidFill>
                  <a:schemeClr val="tx2">
                    <a:lumMod val="85000"/>
                    <a:lumOff val="15000"/>
                  </a:schemeClr>
                </a:solidFill>
              </a:rPr>
              <a:t>~ </a:t>
            </a:r>
            <a:r>
              <a:rPr lang="pt-BR" sz="1400" b="1" dirty="0">
                <a:solidFill>
                  <a:schemeClr val="tx2">
                    <a:lumMod val="85000"/>
                    <a:lumOff val="15000"/>
                  </a:schemeClr>
                </a:solidFill>
              </a:rPr>
              <a:t>5,3%  </a:t>
            </a:r>
            <a:r>
              <a:rPr lang="pt-BR" sz="1400" dirty="0"/>
              <a:t>têm limitação entre idosos com 60-64 anos.</a:t>
            </a:r>
          </a:p>
          <a:p>
            <a:r>
              <a:rPr lang="pt-BR" sz="1400" dirty="0">
                <a:solidFill>
                  <a:schemeClr val="tx2">
                    <a:lumMod val="85000"/>
                    <a:lumOff val="15000"/>
                  </a:schemeClr>
                </a:solidFill>
              </a:rPr>
              <a:t>~ </a:t>
            </a:r>
            <a:r>
              <a:rPr lang="pt-BR" sz="1400" b="1" dirty="0">
                <a:solidFill>
                  <a:schemeClr val="tx2">
                    <a:lumMod val="85000"/>
                    <a:lumOff val="15000"/>
                  </a:schemeClr>
                </a:solidFill>
              </a:rPr>
              <a:t>6,9%  </a:t>
            </a:r>
            <a:r>
              <a:rPr lang="pt-BR" sz="1400" dirty="0"/>
              <a:t>têm limitação entre idosos com 65-74 anos.</a:t>
            </a:r>
          </a:p>
          <a:p>
            <a:r>
              <a:rPr lang="pt-BR" sz="1400" dirty="0">
                <a:solidFill>
                  <a:schemeClr val="tx2">
                    <a:lumMod val="85000"/>
                    <a:lumOff val="15000"/>
                  </a:schemeClr>
                </a:solidFill>
              </a:rPr>
              <a:t>~ </a:t>
            </a:r>
            <a:r>
              <a:rPr lang="pt-BR" sz="1400" b="1" dirty="0">
                <a:solidFill>
                  <a:schemeClr val="tx2">
                    <a:lumMod val="85000"/>
                    <a:lumOff val="15000"/>
                  </a:schemeClr>
                </a:solidFill>
              </a:rPr>
              <a:t>18,5%  </a:t>
            </a:r>
            <a:r>
              <a:rPr lang="pt-BR" sz="1400" dirty="0"/>
              <a:t>têm limitação entre idosos com 75 ou mais.</a:t>
            </a:r>
          </a:p>
          <a:p>
            <a:r>
              <a:rPr lang="pt-BR" sz="1400" dirty="0">
                <a:solidFill>
                  <a:schemeClr val="tx2">
                    <a:lumMod val="85000"/>
                    <a:lumOff val="15000"/>
                  </a:schemeClr>
                </a:solidFill>
              </a:rPr>
              <a:t>~ </a:t>
            </a:r>
            <a:r>
              <a:rPr lang="pt-BR" sz="1400" b="1" dirty="0">
                <a:solidFill>
                  <a:schemeClr val="tx2">
                    <a:lumMod val="85000"/>
                    <a:lumOff val="15000"/>
                  </a:schemeClr>
                </a:solidFill>
              </a:rPr>
              <a:t>26%  </a:t>
            </a:r>
            <a:r>
              <a:rPr lang="pt-BR" sz="1400" dirty="0"/>
              <a:t>têm limitação entre idosos com 80 ou mais.</a:t>
            </a:r>
          </a:p>
          <a:p>
            <a:pPr marL="0" indent="0">
              <a:buNone/>
            </a:pPr>
            <a:r>
              <a:rPr lang="pt-BR" sz="1400" dirty="0"/>
              <a:t> 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F4940C2F-1219-486A-B2E4-8C7F6C9BC75A}"/>
              </a:ext>
            </a:extLst>
          </p:cNvPr>
          <p:cNvSpPr/>
          <p:nvPr/>
        </p:nvSpPr>
        <p:spPr>
          <a:xfrm>
            <a:off x="1424773" y="4192617"/>
            <a:ext cx="4957672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100" dirty="0">
                <a:solidFill>
                  <a:schemeClr val="tx1">
                    <a:lumMod val="75000"/>
                  </a:schemeClr>
                </a:solidFill>
                <a:latin typeface="Quicksand-Regular"/>
              </a:rPr>
              <a:t>Fonte: https://www.pns.icict.fiocruz.br/wpcontent/uploads/2021/12/liv101846.pdf</a:t>
            </a:r>
            <a:endParaRPr lang="pt-BR" sz="1100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0C177201-418F-E887-76F0-BF78E15A249D}"/>
              </a:ext>
            </a:extLst>
          </p:cNvPr>
          <p:cNvSpPr/>
          <p:nvPr/>
        </p:nvSpPr>
        <p:spPr>
          <a:xfrm>
            <a:off x="1424772" y="4406919"/>
            <a:ext cx="4489455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100" dirty="0">
                <a:solidFill>
                  <a:schemeClr val="tx1">
                    <a:lumMod val="75000"/>
                  </a:schemeClr>
                </a:solidFill>
                <a:latin typeface="Quicksand-Regular"/>
              </a:rPr>
              <a:t>Fonte:  https://periodicos.ufpel.edu.br/index.php/RBAFS/article/view/9587</a:t>
            </a:r>
            <a:endParaRPr lang="pt-BR" sz="1100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3" name="Espaço reservado para conteúdo 13">
            <a:extLst>
              <a:ext uri="{FF2B5EF4-FFF2-40B4-BE49-F238E27FC236}">
                <a16:creationId xmlns:a16="http://schemas.microsoft.com/office/drawing/2014/main" id="{9AA38DEA-C513-68E7-F086-18251A2B0A8F}"/>
              </a:ext>
            </a:extLst>
          </p:cNvPr>
          <p:cNvSpPr txBox="1">
            <a:spLocks/>
          </p:cNvSpPr>
          <p:nvPr/>
        </p:nvSpPr>
        <p:spPr>
          <a:xfrm>
            <a:off x="1125860" y="4775734"/>
            <a:ext cx="6696744" cy="327618"/>
          </a:xfrm>
          <a:prstGeom prst="rect">
            <a:avLst/>
          </a:prstGeom>
        </p:spPr>
        <p:txBody>
          <a:bodyPr rtlCol="0"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800" b="1" dirty="0">
                <a:solidFill>
                  <a:schemeClr val="tx2">
                    <a:lumMod val="85000"/>
                    <a:lumOff val="15000"/>
                  </a:schemeClr>
                </a:solidFill>
              </a:rPr>
              <a:t>Os principais motivos dos idosos criarem dependência são:</a:t>
            </a:r>
          </a:p>
        </p:txBody>
      </p:sp>
      <p:sp>
        <p:nvSpPr>
          <p:cNvPr id="4" name="Espaço reservado para conteúdo 13">
            <a:extLst>
              <a:ext uri="{FF2B5EF4-FFF2-40B4-BE49-F238E27FC236}">
                <a16:creationId xmlns:a16="http://schemas.microsoft.com/office/drawing/2014/main" id="{6C950801-421F-17CD-B607-3414F88C784A}"/>
              </a:ext>
            </a:extLst>
          </p:cNvPr>
          <p:cNvSpPr txBox="1">
            <a:spLocks/>
          </p:cNvSpPr>
          <p:nvPr/>
        </p:nvSpPr>
        <p:spPr>
          <a:xfrm>
            <a:off x="1197869" y="5165712"/>
            <a:ext cx="6336704" cy="1440160"/>
          </a:xfrm>
          <a:prstGeom prst="rect">
            <a:avLst/>
          </a:prstGeom>
        </p:spPr>
        <p:txBody>
          <a:bodyPr rtlCol="0"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400" dirty="0"/>
              <a:t>Problemas de saúde (Doenças musculoesqueléticas e cardiovasculares).</a:t>
            </a:r>
          </a:p>
          <a:p>
            <a:r>
              <a:rPr lang="pt-BR" sz="1400" dirty="0"/>
              <a:t>Fraqueza muscular.</a:t>
            </a:r>
          </a:p>
          <a:p>
            <a:r>
              <a:rPr lang="pt-BR" sz="1400" dirty="0"/>
              <a:t>Problemas de visão e audição.</a:t>
            </a:r>
          </a:p>
          <a:p>
            <a:r>
              <a:rPr lang="pt-BR" sz="1400" dirty="0"/>
              <a:t>Baixa renda e acesso precário à saúde.</a:t>
            </a:r>
          </a:p>
        </p:txBody>
      </p:sp>
      <p:pic>
        <p:nvPicPr>
          <p:cNvPr id="23" name="Imagem 22">
            <a:extLst>
              <a:ext uri="{FF2B5EF4-FFF2-40B4-BE49-F238E27FC236}">
                <a16:creationId xmlns:a16="http://schemas.microsoft.com/office/drawing/2014/main" id="{200925C8-0246-4E83-9204-A5A3095401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256" y="96696"/>
            <a:ext cx="1514156" cy="523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944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Rodapé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BR" noProof="0" dirty="0"/>
              <a:t>Equipe_03</a:t>
            </a: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DC1BBB0-96F0-4077-A278-0F3FB5C104D3}" type="slidenum">
              <a:rPr lang="pt-BR" noProof="0" smtClean="0"/>
              <a:pPr rtl="0"/>
              <a:t>26</a:t>
            </a:fld>
            <a:endParaRPr lang="pt-BR" noProof="0" dirty="0"/>
          </a:p>
        </p:txBody>
      </p:sp>
      <p:sp>
        <p:nvSpPr>
          <p:cNvPr id="2" name="Título 1"/>
          <p:cNvSpPr>
            <a:spLocks noGrp="1"/>
          </p:cNvSpPr>
          <p:nvPr>
            <p:ph type="ctrTitle" idx="4294967295"/>
          </p:nvPr>
        </p:nvSpPr>
        <p:spPr>
          <a:xfrm>
            <a:off x="1053852" y="836712"/>
            <a:ext cx="6397054" cy="731260"/>
          </a:xfrm>
        </p:spPr>
        <p:txBody>
          <a:bodyPr rtlCol="0">
            <a:normAutofit/>
          </a:bodyPr>
          <a:lstStyle/>
          <a:p>
            <a:pPr rtl="0"/>
            <a:r>
              <a:rPr lang="pt-BR" sz="2400" b="1" dirty="0"/>
              <a:t>Trabalho de Conclusão de Curso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4294967295"/>
          </p:nvPr>
        </p:nvSpPr>
        <p:spPr>
          <a:xfrm>
            <a:off x="1116797" y="1506026"/>
            <a:ext cx="3969503" cy="595313"/>
          </a:xfrm>
        </p:spPr>
        <p:txBody>
          <a:bodyPr rtlCol="0">
            <a:normAutofit/>
          </a:bodyPr>
          <a:lstStyle/>
          <a:p>
            <a:pPr marL="0" indent="0" rtl="0">
              <a:buNone/>
            </a:pPr>
            <a:r>
              <a:rPr lang="pt-BR" sz="1800" dirty="0"/>
              <a:t>Desenvolvimento de Sistemas</a:t>
            </a: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BD6A6A2A-77C5-4862-B36C-2CBB80725434}"/>
              </a:ext>
            </a:extLst>
          </p:cNvPr>
          <p:cNvGrpSpPr/>
          <p:nvPr/>
        </p:nvGrpSpPr>
        <p:grpSpPr>
          <a:xfrm>
            <a:off x="2629213" y="0"/>
            <a:ext cx="6913821" cy="620688"/>
            <a:chOff x="2629213" y="0"/>
            <a:chExt cx="6913821" cy="620688"/>
          </a:xfrm>
        </p:grpSpPr>
        <p:pic>
          <p:nvPicPr>
            <p:cNvPr id="13" name="Imagem 12">
              <a:extLst>
                <a:ext uri="{FF2B5EF4-FFF2-40B4-BE49-F238E27FC236}">
                  <a16:creationId xmlns:a16="http://schemas.microsoft.com/office/drawing/2014/main" id="{CA8A43CE-C42B-46F4-BAA7-F13EB0F1E41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44163" y="84791"/>
              <a:ext cx="1998871" cy="444194"/>
            </a:xfrm>
            <a:prstGeom prst="rect">
              <a:avLst/>
            </a:prstGeom>
          </p:spPr>
        </p:pic>
        <p:pic>
          <p:nvPicPr>
            <p:cNvPr id="14" name="Imagem 13" descr="Desenho com traços pretos em fundo branco e letras pretas em fundo branco&#10;&#10;Descrição gerada automaticamente com confiança média">
              <a:extLst>
                <a:ext uri="{FF2B5EF4-FFF2-40B4-BE49-F238E27FC236}">
                  <a16:creationId xmlns:a16="http://schemas.microsoft.com/office/drawing/2014/main" id="{1FD3683B-E985-4DBF-936E-ECFBEB1A4D8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48617" y="116632"/>
              <a:ext cx="673021" cy="4441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Imagem 14">
              <a:extLst>
                <a:ext uri="{FF2B5EF4-FFF2-40B4-BE49-F238E27FC236}">
                  <a16:creationId xmlns:a16="http://schemas.microsoft.com/office/drawing/2014/main" id="{836D65D2-A504-412A-8D99-409A8F39514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50549" y="116632"/>
              <a:ext cx="663678" cy="444194"/>
            </a:xfrm>
            <a:prstGeom prst="rect">
              <a:avLst/>
            </a:prstGeom>
          </p:spPr>
        </p:pic>
        <p:sp>
          <p:nvSpPr>
            <p:cNvPr id="16" name="Fluxograma: Processo 15">
              <a:extLst>
                <a:ext uri="{FF2B5EF4-FFF2-40B4-BE49-F238E27FC236}">
                  <a16:creationId xmlns:a16="http://schemas.microsoft.com/office/drawing/2014/main" id="{E6EFDE81-375D-46A2-9305-B22A016B8CF8}"/>
                </a:ext>
              </a:extLst>
            </p:cNvPr>
            <p:cNvSpPr/>
            <p:nvPr/>
          </p:nvSpPr>
          <p:spPr>
            <a:xfrm>
              <a:off x="2629213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7" name="Fluxograma: Processo 16">
              <a:extLst>
                <a:ext uri="{FF2B5EF4-FFF2-40B4-BE49-F238E27FC236}">
                  <a16:creationId xmlns:a16="http://schemas.microsoft.com/office/drawing/2014/main" id="{08215EA9-91DF-47BB-A92C-7621618F126B}"/>
                </a:ext>
              </a:extLst>
            </p:cNvPr>
            <p:cNvSpPr/>
            <p:nvPr/>
          </p:nvSpPr>
          <p:spPr>
            <a:xfrm>
              <a:off x="4909367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8" name="Fluxograma: Processo 17">
              <a:extLst>
                <a:ext uri="{FF2B5EF4-FFF2-40B4-BE49-F238E27FC236}">
                  <a16:creationId xmlns:a16="http://schemas.microsoft.com/office/drawing/2014/main" id="{DDA02A59-78BF-494F-9DE5-B03A6E02905F}"/>
                </a:ext>
              </a:extLst>
            </p:cNvPr>
            <p:cNvSpPr/>
            <p:nvPr/>
          </p:nvSpPr>
          <p:spPr>
            <a:xfrm>
              <a:off x="7215168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pic>
        <p:nvPicPr>
          <p:cNvPr id="19" name="Imagem 18">
            <a:extLst>
              <a:ext uri="{FF2B5EF4-FFF2-40B4-BE49-F238E27FC236}">
                <a16:creationId xmlns:a16="http://schemas.microsoft.com/office/drawing/2014/main" id="{D5A78529-A422-49F7-91D8-9F0157E633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256" y="96696"/>
            <a:ext cx="1514156" cy="523992"/>
          </a:xfrm>
          <a:prstGeom prst="rect">
            <a:avLst/>
          </a:prstGeom>
        </p:spPr>
      </p:pic>
      <p:graphicFrame>
        <p:nvGraphicFramePr>
          <p:cNvPr id="20" name="Gráfico 19">
            <a:extLst>
              <a:ext uri="{FF2B5EF4-FFF2-40B4-BE49-F238E27FC236}">
                <a16:creationId xmlns:a16="http://schemas.microsoft.com/office/drawing/2014/main" id="{2C727078-E0EF-47B6-8E7F-53C74A6C867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53901948"/>
              </p:ext>
            </p:extLst>
          </p:nvPr>
        </p:nvGraphicFramePr>
        <p:xfrm>
          <a:off x="2601859" y="2237286"/>
          <a:ext cx="6624736" cy="3891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  <p:extLst>
      <p:ext uri="{BB962C8B-B14F-4D97-AF65-F5344CB8AC3E}">
        <p14:creationId xmlns:p14="http://schemas.microsoft.com/office/powerpoint/2010/main" val="3963740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Rodapé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BR" noProof="0" dirty="0"/>
              <a:t>Equipe_03</a:t>
            </a: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DC1BBB0-96F0-4077-A278-0F3FB5C104D3}" type="slidenum">
              <a:rPr lang="pt-BR" noProof="0" smtClean="0"/>
              <a:pPr rtl="0"/>
              <a:t>27</a:t>
            </a:fld>
            <a:endParaRPr lang="pt-BR" noProof="0" dirty="0"/>
          </a:p>
        </p:txBody>
      </p:sp>
      <p:sp>
        <p:nvSpPr>
          <p:cNvPr id="5" name="Espaço reservado para conteúdo 13">
            <a:extLst>
              <a:ext uri="{FF2B5EF4-FFF2-40B4-BE49-F238E27FC236}">
                <a16:creationId xmlns:a16="http://schemas.microsoft.com/office/drawing/2014/main" id="{68EA1406-9D0A-F316-CA4B-D6FA46DEDD20}"/>
              </a:ext>
            </a:extLst>
          </p:cNvPr>
          <p:cNvSpPr txBox="1">
            <a:spLocks/>
          </p:cNvSpPr>
          <p:nvPr/>
        </p:nvSpPr>
        <p:spPr>
          <a:xfrm>
            <a:off x="1125860" y="2237286"/>
            <a:ext cx="7200800" cy="327618"/>
          </a:xfrm>
          <a:prstGeom prst="rect">
            <a:avLst/>
          </a:prstGeom>
        </p:spPr>
        <p:txBody>
          <a:bodyPr rtlCol="0"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000" b="1" dirty="0">
                <a:solidFill>
                  <a:schemeClr val="tx2">
                    <a:lumMod val="85000"/>
                    <a:lumOff val="15000"/>
                  </a:schemeClr>
                </a:solidFill>
              </a:rPr>
              <a:t>Pesquisas</a:t>
            </a:r>
            <a:r>
              <a:rPr lang="pt-BR" sz="2000" dirty="0"/>
              <a:t> – Idosos em casas de repouso no Brasil (2022)</a:t>
            </a: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306CF383-86BE-4807-90B1-358A5BECE709}"/>
              </a:ext>
            </a:extLst>
          </p:cNvPr>
          <p:cNvSpPr txBox="1">
            <a:spLocks/>
          </p:cNvSpPr>
          <p:nvPr/>
        </p:nvSpPr>
        <p:spPr>
          <a:xfrm>
            <a:off x="1053852" y="836712"/>
            <a:ext cx="6397054" cy="7312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400" b="1" dirty="0"/>
              <a:t>Trabalho de Conclusão de Curso</a:t>
            </a:r>
          </a:p>
        </p:txBody>
      </p:sp>
      <p:sp>
        <p:nvSpPr>
          <p:cNvPr id="13" name="Subtítulo 2">
            <a:extLst>
              <a:ext uri="{FF2B5EF4-FFF2-40B4-BE49-F238E27FC236}">
                <a16:creationId xmlns:a16="http://schemas.microsoft.com/office/drawing/2014/main" id="{00B1AEDC-7D96-4DE1-B8DF-DCD9B40C88B7}"/>
              </a:ext>
            </a:extLst>
          </p:cNvPr>
          <p:cNvSpPr txBox="1">
            <a:spLocks/>
          </p:cNvSpPr>
          <p:nvPr/>
        </p:nvSpPr>
        <p:spPr>
          <a:xfrm>
            <a:off x="1108607" y="1501516"/>
            <a:ext cx="3969503" cy="5953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Euphemia" pitchFamily="34" charset="0"/>
              <a:buNone/>
            </a:pPr>
            <a:r>
              <a:rPr lang="pt-BR" sz="1800" dirty="0"/>
              <a:t>Desenvolvimento de Sistemas</a:t>
            </a: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A40F2AE1-D35B-45F6-B403-7441794FAC04}"/>
              </a:ext>
            </a:extLst>
          </p:cNvPr>
          <p:cNvGrpSpPr/>
          <p:nvPr/>
        </p:nvGrpSpPr>
        <p:grpSpPr>
          <a:xfrm>
            <a:off x="2629213" y="0"/>
            <a:ext cx="6913821" cy="620688"/>
            <a:chOff x="2629213" y="0"/>
            <a:chExt cx="6913821" cy="620688"/>
          </a:xfrm>
        </p:grpSpPr>
        <p:pic>
          <p:nvPicPr>
            <p:cNvPr id="15" name="Imagem 14">
              <a:extLst>
                <a:ext uri="{FF2B5EF4-FFF2-40B4-BE49-F238E27FC236}">
                  <a16:creationId xmlns:a16="http://schemas.microsoft.com/office/drawing/2014/main" id="{097D918F-CC2B-42C3-AA79-7935C824CE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44163" y="84791"/>
              <a:ext cx="1998871" cy="444194"/>
            </a:xfrm>
            <a:prstGeom prst="rect">
              <a:avLst/>
            </a:prstGeom>
          </p:spPr>
        </p:pic>
        <p:pic>
          <p:nvPicPr>
            <p:cNvPr id="16" name="Imagem 15" descr="Desenho com traços pretos em fundo branco e letras pretas em fundo branco&#10;&#10;Descrição gerada automaticamente com confiança média">
              <a:extLst>
                <a:ext uri="{FF2B5EF4-FFF2-40B4-BE49-F238E27FC236}">
                  <a16:creationId xmlns:a16="http://schemas.microsoft.com/office/drawing/2014/main" id="{2DC19A36-0916-4BCB-AB5D-E7A2A48E1E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48617" y="116632"/>
              <a:ext cx="673021" cy="4441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Imagem 16">
              <a:extLst>
                <a:ext uri="{FF2B5EF4-FFF2-40B4-BE49-F238E27FC236}">
                  <a16:creationId xmlns:a16="http://schemas.microsoft.com/office/drawing/2014/main" id="{68398C3D-8562-4F85-B4C6-86BBDA332CF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50549" y="116632"/>
              <a:ext cx="663678" cy="444194"/>
            </a:xfrm>
            <a:prstGeom prst="rect">
              <a:avLst/>
            </a:prstGeom>
          </p:spPr>
        </p:pic>
        <p:sp>
          <p:nvSpPr>
            <p:cNvPr id="18" name="Fluxograma: Processo 17">
              <a:extLst>
                <a:ext uri="{FF2B5EF4-FFF2-40B4-BE49-F238E27FC236}">
                  <a16:creationId xmlns:a16="http://schemas.microsoft.com/office/drawing/2014/main" id="{974A88B2-9B2F-46D6-AA77-38E50B00D999}"/>
                </a:ext>
              </a:extLst>
            </p:cNvPr>
            <p:cNvSpPr/>
            <p:nvPr/>
          </p:nvSpPr>
          <p:spPr>
            <a:xfrm>
              <a:off x="2629213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9" name="Fluxograma: Processo 18">
              <a:extLst>
                <a:ext uri="{FF2B5EF4-FFF2-40B4-BE49-F238E27FC236}">
                  <a16:creationId xmlns:a16="http://schemas.microsoft.com/office/drawing/2014/main" id="{D1B5B00C-0D47-4611-81F3-7F90BB12AA59}"/>
                </a:ext>
              </a:extLst>
            </p:cNvPr>
            <p:cNvSpPr/>
            <p:nvPr/>
          </p:nvSpPr>
          <p:spPr>
            <a:xfrm>
              <a:off x="4909367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20" name="Fluxograma: Processo 19">
              <a:extLst>
                <a:ext uri="{FF2B5EF4-FFF2-40B4-BE49-F238E27FC236}">
                  <a16:creationId xmlns:a16="http://schemas.microsoft.com/office/drawing/2014/main" id="{EC49A414-0956-4A38-BDDF-956BCCE78AEE}"/>
                </a:ext>
              </a:extLst>
            </p:cNvPr>
            <p:cNvSpPr/>
            <p:nvPr/>
          </p:nvSpPr>
          <p:spPr>
            <a:xfrm>
              <a:off x="7215168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sp>
        <p:nvSpPr>
          <p:cNvPr id="21" name="Espaço reservado para conteúdo 13">
            <a:extLst>
              <a:ext uri="{FF2B5EF4-FFF2-40B4-BE49-F238E27FC236}">
                <a16:creationId xmlns:a16="http://schemas.microsoft.com/office/drawing/2014/main" id="{3E240EB9-C157-4F88-8D5E-84DBAFCCDEB4}"/>
              </a:ext>
            </a:extLst>
          </p:cNvPr>
          <p:cNvSpPr txBox="1">
            <a:spLocks/>
          </p:cNvSpPr>
          <p:nvPr/>
        </p:nvSpPr>
        <p:spPr>
          <a:xfrm>
            <a:off x="1157628" y="2982887"/>
            <a:ext cx="7889111" cy="1742257"/>
          </a:xfrm>
          <a:prstGeom prst="rect">
            <a:avLst/>
          </a:prstGeom>
        </p:spPr>
        <p:txBody>
          <a:bodyPr rtlCol="0"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600" dirty="0"/>
              <a:t>Total de idosos em </a:t>
            </a:r>
            <a:r>
              <a:rPr lang="pt-BR" sz="1600" b="1" dirty="0">
                <a:solidFill>
                  <a:schemeClr val="tx2">
                    <a:lumMod val="85000"/>
                    <a:lumOff val="15000"/>
                  </a:schemeClr>
                </a:solidFill>
              </a:rPr>
              <a:t>asilos</a:t>
            </a:r>
            <a:r>
              <a:rPr lang="pt-BR" sz="1600" dirty="0"/>
              <a:t> e casas de repouso no Brasil: </a:t>
            </a:r>
            <a:r>
              <a:rPr lang="pt-BR" sz="1600" b="1" dirty="0">
                <a:solidFill>
                  <a:schemeClr val="tx2">
                    <a:lumMod val="85000"/>
                    <a:lumOff val="15000"/>
                  </a:schemeClr>
                </a:solidFill>
              </a:rPr>
              <a:t>~161.000 </a:t>
            </a:r>
            <a:r>
              <a:rPr lang="pt-BR" sz="1600" dirty="0"/>
              <a:t>pessoas.</a:t>
            </a:r>
          </a:p>
          <a:p>
            <a:r>
              <a:rPr lang="pt-BR" sz="1600" dirty="0"/>
              <a:t>A maioria dos residentes dessas instituições é composta por </a:t>
            </a:r>
            <a:r>
              <a:rPr lang="pt-BR" sz="1600" b="1" dirty="0">
                <a:solidFill>
                  <a:schemeClr val="tx2">
                    <a:lumMod val="85000"/>
                    <a:lumOff val="15000"/>
                  </a:schemeClr>
                </a:solidFill>
              </a:rPr>
              <a:t>mulheres</a:t>
            </a:r>
            <a:r>
              <a:rPr lang="pt-BR" sz="1600" dirty="0">
                <a:solidFill>
                  <a:schemeClr val="tx2">
                    <a:lumMod val="85000"/>
                    <a:lumOff val="15000"/>
                  </a:schemeClr>
                </a:solidFill>
              </a:rPr>
              <a:t> </a:t>
            </a:r>
            <a:r>
              <a:rPr lang="pt-BR" sz="1600" b="1" dirty="0">
                <a:solidFill>
                  <a:schemeClr val="tx2">
                    <a:lumMod val="85000"/>
                    <a:lumOff val="15000"/>
                  </a:schemeClr>
                </a:solidFill>
              </a:rPr>
              <a:t>(59,8%).</a:t>
            </a:r>
          </a:p>
          <a:p>
            <a:r>
              <a:rPr lang="pt-BR" sz="1600" dirty="0"/>
              <a:t>As regiões </a:t>
            </a:r>
            <a:r>
              <a:rPr lang="pt-BR" sz="1600" b="1" dirty="0">
                <a:solidFill>
                  <a:schemeClr val="tx2">
                    <a:lumMod val="85000"/>
                    <a:lumOff val="15000"/>
                  </a:schemeClr>
                </a:solidFill>
              </a:rPr>
              <a:t>Sul e Sudeste </a:t>
            </a:r>
            <a:r>
              <a:rPr lang="pt-BR" sz="1600" dirty="0"/>
              <a:t>concentram </a:t>
            </a:r>
            <a:r>
              <a:rPr lang="pt-BR" sz="1600" b="1" dirty="0">
                <a:solidFill>
                  <a:schemeClr val="tx2">
                    <a:lumMod val="85000"/>
                    <a:lumOff val="15000"/>
                  </a:schemeClr>
                </a:solidFill>
              </a:rPr>
              <a:t>82,3%</a:t>
            </a:r>
            <a:r>
              <a:rPr lang="pt-BR" sz="1600" dirty="0">
                <a:solidFill>
                  <a:schemeClr val="tx2">
                    <a:lumMod val="85000"/>
                    <a:lumOff val="15000"/>
                  </a:schemeClr>
                </a:solidFill>
              </a:rPr>
              <a:t> </a:t>
            </a:r>
            <a:r>
              <a:rPr lang="pt-BR" sz="1600" dirty="0"/>
              <a:t>dos idosos que vivem em asilos, evidenciando um padrão regional no cuidado com a população idosa.</a:t>
            </a:r>
          </a:p>
          <a:p>
            <a:r>
              <a:rPr lang="pt-BR" sz="1600" dirty="0"/>
              <a:t>Representa cerca de </a:t>
            </a:r>
            <a:r>
              <a:rPr lang="pt-BR" sz="1600" b="1" dirty="0">
                <a:solidFill>
                  <a:schemeClr val="tx2">
                    <a:lumMod val="85000"/>
                    <a:lumOff val="15000"/>
                  </a:schemeClr>
                </a:solidFill>
              </a:rPr>
              <a:t>0,5%</a:t>
            </a:r>
            <a:r>
              <a:rPr lang="pt-BR" sz="1600" dirty="0">
                <a:solidFill>
                  <a:schemeClr val="tx2">
                    <a:lumMod val="85000"/>
                    <a:lumOff val="15000"/>
                  </a:schemeClr>
                </a:solidFill>
              </a:rPr>
              <a:t> </a:t>
            </a:r>
            <a:r>
              <a:rPr lang="pt-BR" sz="1600" dirty="0"/>
              <a:t>da população com mais de 60 anos.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F4940C2F-1219-486A-B2E4-8C7F6C9BC75A}"/>
              </a:ext>
            </a:extLst>
          </p:cNvPr>
          <p:cNvSpPr/>
          <p:nvPr/>
        </p:nvSpPr>
        <p:spPr>
          <a:xfrm>
            <a:off x="1435454" y="4880363"/>
            <a:ext cx="7179237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100" dirty="0">
                <a:solidFill>
                  <a:schemeClr val="tx1">
                    <a:lumMod val="75000"/>
                  </a:schemeClr>
                </a:solidFill>
                <a:latin typeface="Quicksand-Regular"/>
              </a:rPr>
              <a:t>Fonte: https://agenciadenoticias.ibge.gov.br/media/com_mediaibge/arquivos/77619177aacea8e77241203c51b2e38b.pdf</a:t>
            </a:r>
            <a:endParaRPr lang="pt-BR" sz="1100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0C177201-418F-E887-76F0-BF78E15A249D}"/>
              </a:ext>
            </a:extLst>
          </p:cNvPr>
          <p:cNvSpPr/>
          <p:nvPr/>
        </p:nvSpPr>
        <p:spPr>
          <a:xfrm>
            <a:off x="1435454" y="5172805"/>
            <a:ext cx="5361539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100" dirty="0">
                <a:solidFill>
                  <a:schemeClr val="tx1">
                    <a:lumMod val="75000"/>
                  </a:schemeClr>
                </a:solidFill>
                <a:latin typeface="Quicksand-Regular"/>
              </a:rPr>
              <a:t>Fonte:  https://escolhasenior.com.br/quantidade-de-casas-de-repouso-no-brasil/</a:t>
            </a:r>
            <a:endParaRPr lang="pt-BR" sz="1100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F684816C-34F6-B5FC-F715-6B7F09B23A2E}"/>
              </a:ext>
            </a:extLst>
          </p:cNvPr>
          <p:cNvSpPr/>
          <p:nvPr/>
        </p:nvSpPr>
        <p:spPr>
          <a:xfrm>
            <a:off x="1435454" y="5469404"/>
            <a:ext cx="4874982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100" dirty="0">
                <a:solidFill>
                  <a:schemeClr val="tx1">
                    <a:lumMod val="75000"/>
                  </a:schemeClr>
                </a:solidFill>
                <a:latin typeface="Quicksand-Regular"/>
              </a:rPr>
              <a:t>Fonte: https://asmsba.com.br/censo-brasil-tem-160-mil-vivendo-em-asilos/?utm_source=chatgpt.com</a:t>
            </a:r>
            <a:endParaRPr lang="pt-BR" sz="1100" dirty="0">
              <a:solidFill>
                <a:schemeClr val="tx1">
                  <a:lumMod val="75000"/>
                </a:schemeClr>
              </a:solidFill>
            </a:endParaRPr>
          </a:p>
        </p:txBody>
      </p:sp>
      <p:pic>
        <p:nvPicPr>
          <p:cNvPr id="23" name="Imagem 22">
            <a:extLst>
              <a:ext uri="{FF2B5EF4-FFF2-40B4-BE49-F238E27FC236}">
                <a16:creationId xmlns:a16="http://schemas.microsoft.com/office/drawing/2014/main" id="{E8E0D278-C7C3-4A63-A91F-B7706D56F6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256" y="96696"/>
            <a:ext cx="1514156" cy="523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102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Rodapé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BR" noProof="0" dirty="0"/>
              <a:t>Equipe_03</a:t>
            </a: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DC1BBB0-96F0-4077-A278-0F3FB5C104D3}" type="slidenum">
              <a:rPr lang="pt-BR" noProof="0" smtClean="0"/>
              <a:pPr rtl="0"/>
              <a:t>28</a:t>
            </a:fld>
            <a:endParaRPr lang="pt-BR" noProof="0" dirty="0"/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306CF383-86BE-4807-90B1-358A5BECE709}"/>
              </a:ext>
            </a:extLst>
          </p:cNvPr>
          <p:cNvSpPr txBox="1">
            <a:spLocks/>
          </p:cNvSpPr>
          <p:nvPr/>
        </p:nvSpPr>
        <p:spPr>
          <a:xfrm>
            <a:off x="1053852" y="836712"/>
            <a:ext cx="6397054" cy="7312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400" b="1" dirty="0"/>
              <a:t>Trabalho de Conclusão de Curso</a:t>
            </a:r>
          </a:p>
        </p:txBody>
      </p:sp>
      <p:sp>
        <p:nvSpPr>
          <p:cNvPr id="13" name="Subtítulo 2">
            <a:extLst>
              <a:ext uri="{FF2B5EF4-FFF2-40B4-BE49-F238E27FC236}">
                <a16:creationId xmlns:a16="http://schemas.microsoft.com/office/drawing/2014/main" id="{00B1AEDC-7D96-4DE1-B8DF-DCD9B40C88B7}"/>
              </a:ext>
            </a:extLst>
          </p:cNvPr>
          <p:cNvSpPr txBox="1">
            <a:spLocks/>
          </p:cNvSpPr>
          <p:nvPr/>
        </p:nvSpPr>
        <p:spPr>
          <a:xfrm>
            <a:off x="1108607" y="1501516"/>
            <a:ext cx="3969503" cy="5953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Euphemia" pitchFamily="34" charset="0"/>
              <a:buNone/>
            </a:pPr>
            <a:r>
              <a:rPr lang="pt-BR" sz="1800" dirty="0"/>
              <a:t>Desenvolvimento de Sistemas</a:t>
            </a: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A40F2AE1-D35B-45F6-B403-7441794FAC04}"/>
              </a:ext>
            </a:extLst>
          </p:cNvPr>
          <p:cNvGrpSpPr/>
          <p:nvPr/>
        </p:nvGrpSpPr>
        <p:grpSpPr>
          <a:xfrm>
            <a:off x="2629213" y="0"/>
            <a:ext cx="6913821" cy="620688"/>
            <a:chOff x="2629213" y="0"/>
            <a:chExt cx="6913821" cy="620688"/>
          </a:xfrm>
        </p:grpSpPr>
        <p:pic>
          <p:nvPicPr>
            <p:cNvPr id="15" name="Imagem 14">
              <a:extLst>
                <a:ext uri="{FF2B5EF4-FFF2-40B4-BE49-F238E27FC236}">
                  <a16:creationId xmlns:a16="http://schemas.microsoft.com/office/drawing/2014/main" id="{097D918F-CC2B-42C3-AA79-7935C824CE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44163" y="84791"/>
              <a:ext cx="1998871" cy="444194"/>
            </a:xfrm>
            <a:prstGeom prst="rect">
              <a:avLst/>
            </a:prstGeom>
          </p:spPr>
        </p:pic>
        <p:pic>
          <p:nvPicPr>
            <p:cNvPr id="16" name="Imagem 15" descr="Desenho com traços pretos em fundo branco e letras pretas em fundo branco&#10;&#10;Descrição gerada automaticamente com confiança média">
              <a:extLst>
                <a:ext uri="{FF2B5EF4-FFF2-40B4-BE49-F238E27FC236}">
                  <a16:creationId xmlns:a16="http://schemas.microsoft.com/office/drawing/2014/main" id="{2DC19A36-0916-4BCB-AB5D-E7A2A48E1E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48617" y="116632"/>
              <a:ext cx="673021" cy="4441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Imagem 16">
              <a:extLst>
                <a:ext uri="{FF2B5EF4-FFF2-40B4-BE49-F238E27FC236}">
                  <a16:creationId xmlns:a16="http://schemas.microsoft.com/office/drawing/2014/main" id="{68398C3D-8562-4F85-B4C6-86BBDA332CF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50549" y="116632"/>
              <a:ext cx="663678" cy="444194"/>
            </a:xfrm>
            <a:prstGeom prst="rect">
              <a:avLst/>
            </a:prstGeom>
          </p:spPr>
        </p:pic>
        <p:sp>
          <p:nvSpPr>
            <p:cNvPr id="18" name="Fluxograma: Processo 17">
              <a:extLst>
                <a:ext uri="{FF2B5EF4-FFF2-40B4-BE49-F238E27FC236}">
                  <a16:creationId xmlns:a16="http://schemas.microsoft.com/office/drawing/2014/main" id="{974A88B2-9B2F-46D6-AA77-38E50B00D999}"/>
                </a:ext>
              </a:extLst>
            </p:cNvPr>
            <p:cNvSpPr/>
            <p:nvPr/>
          </p:nvSpPr>
          <p:spPr>
            <a:xfrm>
              <a:off x="2629213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9" name="Fluxograma: Processo 18">
              <a:extLst>
                <a:ext uri="{FF2B5EF4-FFF2-40B4-BE49-F238E27FC236}">
                  <a16:creationId xmlns:a16="http://schemas.microsoft.com/office/drawing/2014/main" id="{D1B5B00C-0D47-4611-81F3-7F90BB12AA59}"/>
                </a:ext>
              </a:extLst>
            </p:cNvPr>
            <p:cNvSpPr/>
            <p:nvPr/>
          </p:nvSpPr>
          <p:spPr>
            <a:xfrm>
              <a:off x="4909367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20" name="Fluxograma: Processo 19">
              <a:extLst>
                <a:ext uri="{FF2B5EF4-FFF2-40B4-BE49-F238E27FC236}">
                  <a16:creationId xmlns:a16="http://schemas.microsoft.com/office/drawing/2014/main" id="{EC49A414-0956-4A38-BDDF-956BCCE78AEE}"/>
                </a:ext>
              </a:extLst>
            </p:cNvPr>
            <p:cNvSpPr/>
            <p:nvPr/>
          </p:nvSpPr>
          <p:spPr>
            <a:xfrm>
              <a:off x="7215168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sp>
        <p:nvSpPr>
          <p:cNvPr id="23" name="Espaço reservado para conteúdo 13">
            <a:extLst>
              <a:ext uri="{FF2B5EF4-FFF2-40B4-BE49-F238E27FC236}">
                <a16:creationId xmlns:a16="http://schemas.microsoft.com/office/drawing/2014/main" id="{B29E9547-FED8-6A1B-EE09-E9B29CC3353D}"/>
              </a:ext>
            </a:extLst>
          </p:cNvPr>
          <p:cNvSpPr txBox="1">
            <a:spLocks/>
          </p:cNvSpPr>
          <p:nvPr/>
        </p:nvSpPr>
        <p:spPr>
          <a:xfrm>
            <a:off x="1081473" y="1935232"/>
            <a:ext cx="7056784" cy="327618"/>
          </a:xfrm>
          <a:prstGeom prst="rect">
            <a:avLst/>
          </a:prstGeom>
        </p:spPr>
        <p:txBody>
          <a:bodyPr rtlCol="0"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000" b="1" dirty="0">
                <a:solidFill>
                  <a:schemeClr val="tx2">
                    <a:lumMod val="85000"/>
                    <a:lumOff val="15000"/>
                  </a:schemeClr>
                </a:solidFill>
              </a:rPr>
              <a:t>Pesquisas</a:t>
            </a:r>
            <a:r>
              <a:rPr lang="pt-BR" sz="2000" dirty="0"/>
              <a:t> – Principais dificuldade dos idoso(2019-2024)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B48C6A85-EC7E-6464-6C72-BF2B8DAB3AAC}"/>
              </a:ext>
            </a:extLst>
          </p:cNvPr>
          <p:cNvSpPr/>
          <p:nvPr/>
        </p:nvSpPr>
        <p:spPr>
          <a:xfrm>
            <a:off x="5296824" y="5888886"/>
            <a:ext cx="4156092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100" dirty="0">
                <a:solidFill>
                  <a:schemeClr val="tx1">
                    <a:lumMod val="75000"/>
                  </a:schemeClr>
                </a:solidFill>
                <a:latin typeface="Quicksand-Regular"/>
              </a:rPr>
              <a:t>Fonte: https://www.scielosp.org/article/csp/2019.v35n8/e00115718</a:t>
            </a:r>
            <a:endParaRPr lang="pt-BR" sz="1100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499D021F-BEBA-50BA-F090-0AA21AF57F0A}"/>
              </a:ext>
            </a:extLst>
          </p:cNvPr>
          <p:cNvSpPr/>
          <p:nvPr/>
        </p:nvSpPr>
        <p:spPr>
          <a:xfrm>
            <a:off x="1500924" y="5890483"/>
            <a:ext cx="3184867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100" dirty="0">
                <a:solidFill>
                  <a:schemeClr val="tx1">
                    <a:lumMod val="75000"/>
                  </a:schemeClr>
                </a:solidFill>
                <a:latin typeface="Quicksand-Regular"/>
              </a:rPr>
              <a:t>Fonte: https://pubmed.ncbi.nlm.nih.gov/35588124/</a:t>
            </a:r>
            <a:endParaRPr lang="pt-BR" sz="1100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31" name="Espaço reservado para conteúdo 13">
            <a:extLst>
              <a:ext uri="{FF2B5EF4-FFF2-40B4-BE49-F238E27FC236}">
                <a16:creationId xmlns:a16="http://schemas.microsoft.com/office/drawing/2014/main" id="{47E41893-BD97-8FD9-060D-2C6F4B6D19B6}"/>
              </a:ext>
            </a:extLst>
          </p:cNvPr>
          <p:cNvSpPr txBox="1">
            <a:spLocks/>
          </p:cNvSpPr>
          <p:nvPr/>
        </p:nvSpPr>
        <p:spPr>
          <a:xfrm>
            <a:off x="1149451" y="2528002"/>
            <a:ext cx="8543777" cy="3155029"/>
          </a:xfrm>
          <a:prstGeom prst="rect">
            <a:avLst/>
          </a:prstGeom>
        </p:spPr>
        <p:txBody>
          <a:bodyPr rtlCol="0"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600" b="1" dirty="0">
                <a:solidFill>
                  <a:schemeClr val="tx2">
                    <a:lumMod val="85000"/>
                    <a:lumOff val="15000"/>
                  </a:schemeClr>
                </a:solidFill>
              </a:rPr>
              <a:t>37% </a:t>
            </a:r>
            <a:r>
              <a:rPr lang="pt-BR" sz="1600" dirty="0"/>
              <a:t>dos idosos relataram </a:t>
            </a:r>
            <a:r>
              <a:rPr lang="pt-BR" sz="1600" b="1" dirty="0">
                <a:solidFill>
                  <a:schemeClr val="tx2">
                    <a:lumMod val="85000"/>
                    <a:lumOff val="15000"/>
                  </a:schemeClr>
                </a:solidFill>
              </a:rPr>
              <a:t>dificuldade</a:t>
            </a:r>
            <a:r>
              <a:rPr lang="pt-BR" sz="1600" dirty="0"/>
              <a:t> para conseguir </a:t>
            </a:r>
            <a:r>
              <a:rPr lang="pt-BR" sz="1600" b="1" dirty="0">
                <a:solidFill>
                  <a:schemeClr val="tx2">
                    <a:lumMod val="85000"/>
                    <a:lumOff val="15000"/>
                  </a:schemeClr>
                </a:solidFill>
              </a:rPr>
              <a:t>atendimento</a:t>
            </a:r>
            <a:r>
              <a:rPr lang="pt-BR" sz="1600" dirty="0"/>
              <a:t> quando precisaram, sendo mais frequente entre mulheres.</a:t>
            </a:r>
          </a:p>
          <a:p>
            <a:r>
              <a:rPr lang="pt-BR" sz="1600" dirty="0"/>
              <a:t>Grande parte dos idosos convive com algumas </a:t>
            </a:r>
            <a:r>
              <a:rPr lang="pt-BR" sz="1600" b="1" dirty="0">
                <a:solidFill>
                  <a:schemeClr val="tx2">
                    <a:lumMod val="85000"/>
                    <a:lumOff val="15000"/>
                  </a:schemeClr>
                </a:solidFill>
              </a:rPr>
              <a:t>doenças crônicas </a:t>
            </a:r>
            <a:r>
              <a:rPr lang="pt-BR" sz="1600" dirty="0"/>
              <a:t>ao mesmo tempo, isso impacta na </a:t>
            </a:r>
            <a:r>
              <a:rPr lang="pt-BR" sz="1600" b="1" dirty="0">
                <a:solidFill>
                  <a:schemeClr val="tx2">
                    <a:lumMod val="85000"/>
                    <a:lumOff val="15000"/>
                  </a:schemeClr>
                </a:solidFill>
              </a:rPr>
              <a:t>qualidade</a:t>
            </a:r>
            <a:r>
              <a:rPr lang="pt-BR" sz="1600" b="1" dirty="0"/>
              <a:t> de vida </a:t>
            </a:r>
            <a:r>
              <a:rPr lang="pt-BR" sz="1600" dirty="0"/>
              <a:t>e na saúde deles.</a:t>
            </a:r>
          </a:p>
          <a:p>
            <a:r>
              <a:rPr lang="pt-BR" sz="1600" b="1" dirty="0">
                <a:solidFill>
                  <a:schemeClr val="tx2">
                    <a:lumMod val="85000"/>
                    <a:lumOff val="15000"/>
                  </a:schemeClr>
                </a:solidFill>
              </a:rPr>
              <a:t>Dificuldade</a:t>
            </a:r>
            <a:r>
              <a:rPr lang="pt-BR" sz="1600" dirty="0"/>
              <a:t> para realizar </a:t>
            </a:r>
            <a:r>
              <a:rPr lang="pt-BR" sz="1600" b="1" dirty="0">
                <a:solidFill>
                  <a:schemeClr val="tx2">
                    <a:lumMod val="85000"/>
                    <a:lumOff val="15000"/>
                  </a:schemeClr>
                </a:solidFill>
              </a:rPr>
              <a:t>atividades diárias</a:t>
            </a:r>
            <a:r>
              <a:rPr lang="pt-BR" sz="1600" dirty="0"/>
              <a:t>, como se alimentar, se vestir ou se locomover.</a:t>
            </a:r>
          </a:p>
          <a:p>
            <a:r>
              <a:rPr lang="pt-BR" sz="1600" dirty="0"/>
              <a:t>Cerca de </a:t>
            </a:r>
            <a:r>
              <a:rPr lang="pt-BR" sz="1600" b="1" dirty="0">
                <a:solidFill>
                  <a:schemeClr val="tx2">
                    <a:lumMod val="85000"/>
                    <a:lumOff val="15000"/>
                  </a:schemeClr>
                </a:solidFill>
              </a:rPr>
              <a:t>25% </a:t>
            </a:r>
            <a:r>
              <a:rPr lang="pt-BR" sz="1600" dirty="0"/>
              <a:t>dos idosos com </a:t>
            </a:r>
            <a:r>
              <a:rPr lang="pt-BR" sz="1600" b="1" dirty="0">
                <a:solidFill>
                  <a:schemeClr val="tx2">
                    <a:lumMod val="85000"/>
                    <a:lumOff val="15000"/>
                  </a:schemeClr>
                </a:solidFill>
              </a:rPr>
              <a:t>80+ anos </a:t>
            </a:r>
            <a:r>
              <a:rPr lang="pt-BR" sz="1600" dirty="0"/>
              <a:t>apresentam perda grave de massa muscular, </a:t>
            </a:r>
            <a:r>
              <a:rPr lang="pt-BR" sz="1600" b="1" dirty="0">
                <a:solidFill>
                  <a:schemeClr val="tx2">
                    <a:lumMod val="85000"/>
                    <a:lumOff val="15000"/>
                  </a:schemeClr>
                </a:solidFill>
              </a:rPr>
              <a:t>aumentando dependência </a:t>
            </a:r>
            <a:r>
              <a:rPr lang="pt-BR" sz="1600" dirty="0"/>
              <a:t>e risco de quedas.</a:t>
            </a:r>
          </a:p>
          <a:p>
            <a:r>
              <a:rPr lang="pt-BR" sz="1600" b="1" dirty="0">
                <a:solidFill>
                  <a:schemeClr val="tx2">
                    <a:lumMod val="85000"/>
                    <a:lumOff val="15000"/>
                  </a:schemeClr>
                </a:solidFill>
              </a:rPr>
              <a:t>15,5% </a:t>
            </a:r>
            <a:r>
              <a:rPr lang="pt-BR" sz="1600" dirty="0"/>
              <a:t>declararam ter </a:t>
            </a:r>
            <a:r>
              <a:rPr lang="pt-BR" sz="1600" b="1" dirty="0">
                <a:solidFill>
                  <a:schemeClr val="tx2">
                    <a:lumMod val="85000"/>
                    <a:lumOff val="15000"/>
                  </a:schemeClr>
                </a:solidFill>
              </a:rPr>
              <a:t>dificuldades</a:t>
            </a:r>
            <a:r>
              <a:rPr lang="pt-BR" sz="1600" dirty="0"/>
              <a:t> em </a:t>
            </a:r>
            <a:r>
              <a:rPr lang="pt-BR" sz="1600" b="1" dirty="0">
                <a:solidFill>
                  <a:schemeClr val="tx2">
                    <a:lumMod val="85000"/>
                    <a:lumOff val="15000"/>
                  </a:schemeClr>
                </a:solidFill>
              </a:rPr>
              <a:t>administrar</a:t>
            </a:r>
            <a:r>
              <a:rPr lang="pt-BR" sz="1600" b="1" dirty="0"/>
              <a:t> </a:t>
            </a:r>
            <a:r>
              <a:rPr lang="pt-BR" sz="1600" b="1" dirty="0">
                <a:solidFill>
                  <a:schemeClr val="tx2">
                    <a:lumMod val="85000"/>
                    <a:lumOff val="15000"/>
                  </a:schemeClr>
                </a:solidFill>
              </a:rPr>
              <a:t>seus remédios</a:t>
            </a:r>
            <a:r>
              <a:rPr lang="pt-BR" sz="1600" dirty="0"/>
              <a:t>, que esta diretamente ligado com o aumento da </a:t>
            </a:r>
            <a:r>
              <a:rPr lang="pt-BR" sz="1600" b="1" dirty="0">
                <a:solidFill>
                  <a:schemeClr val="tx2">
                    <a:lumMod val="85000"/>
                    <a:lumOff val="15000"/>
                  </a:schemeClr>
                </a:solidFill>
              </a:rPr>
              <a:t>polifarmácia</a:t>
            </a:r>
            <a:r>
              <a:rPr lang="pt-BR" sz="1600" dirty="0"/>
              <a:t> (uso de cinco ou mais medicamentos).</a:t>
            </a:r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D7C95AC5-E747-4513-B467-B24B040E92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256" y="96696"/>
            <a:ext cx="1514156" cy="523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580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Rodapé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BR" noProof="0" dirty="0"/>
              <a:t>Equipe_03</a:t>
            </a: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DC1BBB0-96F0-4077-A278-0F3FB5C104D3}" type="slidenum">
              <a:rPr lang="pt-BR" noProof="0" smtClean="0"/>
              <a:pPr rtl="0"/>
              <a:t>29</a:t>
            </a:fld>
            <a:endParaRPr lang="pt-BR" noProof="0" dirty="0"/>
          </a:p>
        </p:txBody>
      </p:sp>
      <p:sp>
        <p:nvSpPr>
          <p:cNvPr id="5" name="Espaço reservado para conteúdo 13">
            <a:extLst>
              <a:ext uri="{FF2B5EF4-FFF2-40B4-BE49-F238E27FC236}">
                <a16:creationId xmlns:a16="http://schemas.microsoft.com/office/drawing/2014/main" id="{68EA1406-9D0A-F316-CA4B-D6FA46DEDD20}"/>
              </a:ext>
            </a:extLst>
          </p:cNvPr>
          <p:cNvSpPr txBox="1">
            <a:spLocks/>
          </p:cNvSpPr>
          <p:nvPr/>
        </p:nvSpPr>
        <p:spPr>
          <a:xfrm>
            <a:off x="1125860" y="2237286"/>
            <a:ext cx="7272808" cy="327618"/>
          </a:xfrm>
          <a:prstGeom prst="rect">
            <a:avLst/>
          </a:prstGeom>
        </p:spPr>
        <p:txBody>
          <a:bodyPr rtlCol="0"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000" b="1" dirty="0">
                <a:solidFill>
                  <a:schemeClr val="tx2">
                    <a:lumMod val="85000"/>
                    <a:lumOff val="15000"/>
                  </a:schemeClr>
                </a:solidFill>
              </a:rPr>
              <a:t>Pesquisas</a:t>
            </a:r>
            <a:r>
              <a:rPr lang="pt-BR" sz="2000" dirty="0"/>
              <a:t> – Idosos com acesso a internet no Brasil (2023)</a:t>
            </a: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306CF383-86BE-4807-90B1-358A5BECE709}"/>
              </a:ext>
            </a:extLst>
          </p:cNvPr>
          <p:cNvSpPr txBox="1">
            <a:spLocks/>
          </p:cNvSpPr>
          <p:nvPr/>
        </p:nvSpPr>
        <p:spPr>
          <a:xfrm>
            <a:off x="1053852" y="836712"/>
            <a:ext cx="6397054" cy="7312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400" b="1" dirty="0"/>
              <a:t>Trabalho de Conclusão de Curso</a:t>
            </a:r>
          </a:p>
        </p:txBody>
      </p:sp>
      <p:sp>
        <p:nvSpPr>
          <p:cNvPr id="13" name="Subtítulo 2">
            <a:extLst>
              <a:ext uri="{FF2B5EF4-FFF2-40B4-BE49-F238E27FC236}">
                <a16:creationId xmlns:a16="http://schemas.microsoft.com/office/drawing/2014/main" id="{00B1AEDC-7D96-4DE1-B8DF-DCD9B40C88B7}"/>
              </a:ext>
            </a:extLst>
          </p:cNvPr>
          <p:cNvSpPr txBox="1">
            <a:spLocks/>
          </p:cNvSpPr>
          <p:nvPr/>
        </p:nvSpPr>
        <p:spPr>
          <a:xfrm>
            <a:off x="1108607" y="1501516"/>
            <a:ext cx="3969503" cy="5953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Euphemia" pitchFamily="34" charset="0"/>
              <a:buNone/>
            </a:pPr>
            <a:r>
              <a:rPr lang="pt-BR" sz="1800" dirty="0"/>
              <a:t>Desenvolvimento de Sistemas</a:t>
            </a: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A40F2AE1-D35B-45F6-B403-7441794FAC04}"/>
              </a:ext>
            </a:extLst>
          </p:cNvPr>
          <p:cNvGrpSpPr/>
          <p:nvPr/>
        </p:nvGrpSpPr>
        <p:grpSpPr>
          <a:xfrm>
            <a:off x="2629213" y="0"/>
            <a:ext cx="6913821" cy="620688"/>
            <a:chOff x="2629213" y="0"/>
            <a:chExt cx="6913821" cy="620688"/>
          </a:xfrm>
        </p:grpSpPr>
        <p:pic>
          <p:nvPicPr>
            <p:cNvPr id="15" name="Imagem 14">
              <a:extLst>
                <a:ext uri="{FF2B5EF4-FFF2-40B4-BE49-F238E27FC236}">
                  <a16:creationId xmlns:a16="http://schemas.microsoft.com/office/drawing/2014/main" id="{097D918F-CC2B-42C3-AA79-7935C824CE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44163" y="84791"/>
              <a:ext cx="1998871" cy="444194"/>
            </a:xfrm>
            <a:prstGeom prst="rect">
              <a:avLst/>
            </a:prstGeom>
          </p:spPr>
        </p:pic>
        <p:pic>
          <p:nvPicPr>
            <p:cNvPr id="16" name="Imagem 15" descr="Desenho com traços pretos em fundo branco e letras pretas em fundo branco&#10;&#10;Descrição gerada automaticamente com confiança média">
              <a:extLst>
                <a:ext uri="{FF2B5EF4-FFF2-40B4-BE49-F238E27FC236}">
                  <a16:creationId xmlns:a16="http://schemas.microsoft.com/office/drawing/2014/main" id="{2DC19A36-0916-4BCB-AB5D-E7A2A48E1E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48617" y="116632"/>
              <a:ext cx="673021" cy="4441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Imagem 16">
              <a:extLst>
                <a:ext uri="{FF2B5EF4-FFF2-40B4-BE49-F238E27FC236}">
                  <a16:creationId xmlns:a16="http://schemas.microsoft.com/office/drawing/2014/main" id="{68398C3D-8562-4F85-B4C6-86BBDA332CF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50549" y="116632"/>
              <a:ext cx="663678" cy="444194"/>
            </a:xfrm>
            <a:prstGeom prst="rect">
              <a:avLst/>
            </a:prstGeom>
          </p:spPr>
        </p:pic>
        <p:sp>
          <p:nvSpPr>
            <p:cNvPr id="18" name="Fluxograma: Processo 17">
              <a:extLst>
                <a:ext uri="{FF2B5EF4-FFF2-40B4-BE49-F238E27FC236}">
                  <a16:creationId xmlns:a16="http://schemas.microsoft.com/office/drawing/2014/main" id="{974A88B2-9B2F-46D6-AA77-38E50B00D999}"/>
                </a:ext>
              </a:extLst>
            </p:cNvPr>
            <p:cNvSpPr/>
            <p:nvPr/>
          </p:nvSpPr>
          <p:spPr>
            <a:xfrm>
              <a:off x="2629213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9" name="Fluxograma: Processo 18">
              <a:extLst>
                <a:ext uri="{FF2B5EF4-FFF2-40B4-BE49-F238E27FC236}">
                  <a16:creationId xmlns:a16="http://schemas.microsoft.com/office/drawing/2014/main" id="{D1B5B00C-0D47-4611-81F3-7F90BB12AA59}"/>
                </a:ext>
              </a:extLst>
            </p:cNvPr>
            <p:cNvSpPr/>
            <p:nvPr/>
          </p:nvSpPr>
          <p:spPr>
            <a:xfrm>
              <a:off x="4909367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20" name="Fluxograma: Processo 19">
              <a:extLst>
                <a:ext uri="{FF2B5EF4-FFF2-40B4-BE49-F238E27FC236}">
                  <a16:creationId xmlns:a16="http://schemas.microsoft.com/office/drawing/2014/main" id="{EC49A414-0956-4A38-BDDF-956BCCE78AEE}"/>
                </a:ext>
              </a:extLst>
            </p:cNvPr>
            <p:cNvSpPr/>
            <p:nvPr/>
          </p:nvSpPr>
          <p:spPr>
            <a:xfrm>
              <a:off x="7215168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sp>
        <p:nvSpPr>
          <p:cNvPr id="21" name="Espaço reservado para conteúdo 13">
            <a:extLst>
              <a:ext uri="{FF2B5EF4-FFF2-40B4-BE49-F238E27FC236}">
                <a16:creationId xmlns:a16="http://schemas.microsoft.com/office/drawing/2014/main" id="{3E240EB9-C157-4F88-8D5E-84DBAFCCDEB4}"/>
              </a:ext>
            </a:extLst>
          </p:cNvPr>
          <p:cNvSpPr txBox="1">
            <a:spLocks/>
          </p:cNvSpPr>
          <p:nvPr/>
        </p:nvSpPr>
        <p:spPr>
          <a:xfrm>
            <a:off x="1177497" y="2705360"/>
            <a:ext cx="8365537" cy="831629"/>
          </a:xfrm>
          <a:prstGeom prst="rect">
            <a:avLst/>
          </a:prstGeom>
        </p:spPr>
        <p:txBody>
          <a:bodyPr rtlCol="0"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400" dirty="0"/>
              <a:t>Segundo o </a:t>
            </a:r>
            <a:r>
              <a:rPr lang="pt-BR" sz="1400" b="1" dirty="0">
                <a:solidFill>
                  <a:schemeClr val="tx2">
                    <a:lumMod val="85000"/>
                    <a:lumOff val="15000"/>
                  </a:schemeClr>
                </a:solidFill>
              </a:rPr>
              <a:t>IBGE</a:t>
            </a:r>
            <a:r>
              <a:rPr lang="pt-BR" sz="1400" dirty="0">
                <a:solidFill>
                  <a:schemeClr val="tx2">
                    <a:lumMod val="85000"/>
                    <a:lumOff val="15000"/>
                  </a:schemeClr>
                </a:solidFill>
              </a:rPr>
              <a:t> </a:t>
            </a:r>
            <a:r>
              <a:rPr lang="pt-BR" sz="1400" dirty="0"/>
              <a:t>(PNAD Contínua - módulo TIC), em 2023 </a:t>
            </a:r>
            <a:r>
              <a:rPr lang="pt-BR" sz="1400" b="1" dirty="0">
                <a:solidFill>
                  <a:schemeClr val="tx2">
                    <a:lumMod val="85000"/>
                    <a:lumOff val="15000"/>
                  </a:schemeClr>
                </a:solidFill>
              </a:rPr>
              <a:t>66%</a:t>
            </a:r>
            <a:r>
              <a:rPr lang="pt-BR" sz="1400" dirty="0">
                <a:solidFill>
                  <a:schemeClr val="tx2">
                    <a:lumMod val="85000"/>
                    <a:lumOff val="15000"/>
                  </a:schemeClr>
                </a:solidFill>
              </a:rPr>
              <a:t> </a:t>
            </a:r>
            <a:r>
              <a:rPr lang="pt-BR" sz="1400" dirty="0"/>
              <a:t>das pessoas com 60 anos ou mais acessavam a </a:t>
            </a:r>
            <a:r>
              <a:rPr lang="pt-BR" sz="1400" b="1" dirty="0">
                <a:solidFill>
                  <a:schemeClr val="tx2">
                    <a:lumMod val="85000"/>
                    <a:lumOff val="15000"/>
                  </a:schemeClr>
                </a:solidFill>
              </a:rPr>
              <a:t>internet</a:t>
            </a:r>
            <a:r>
              <a:rPr lang="pt-BR" sz="1400" dirty="0"/>
              <a:t>, um aumento de </a:t>
            </a:r>
            <a:r>
              <a:rPr lang="pt-BR" sz="1400" b="1" dirty="0">
                <a:solidFill>
                  <a:schemeClr val="tx2">
                    <a:lumMod val="85000"/>
                    <a:lumOff val="15000"/>
                  </a:schemeClr>
                </a:solidFill>
              </a:rPr>
              <a:t>21,2%</a:t>
            </a:r>
            <a:r>
              <a:rPr lang="pt-BR" sz="1400" dirty="0">
                <a:solidFill>
                  <a:schemeClr val="tx2">
                    <a:lumMod val="85000"/>
                    <a:lumOff val="15000"/>
                  </a:schemeClr>
                </a:solidFill>
              </a:rPr>
              <a:t> </a:t>
            </a:r>
            <a:r>
              <a:rPr lang="pt-BR" sz="1400" dirty="0"/>
              <a:t>entre 2019 e 2023 - e em 2024 esse percentual foi estimado em </a:t>
            </a:r>
            <a:r>
              <a:rPr lang="pt-BR" sz="1400" b="1" dirty="0">
                <a:solidFill>
                  <a:schemeClr val="tx2">
                    <a:lumMod val="85000"/>
                    <a:lumOff val="15000"/>
                  </a:schemeClr>
                </a:solidFill>
              </a:rPr>
              <a:t>69,8%. </a:t>
            </a:r>
            <a:r>
              <a:rPr lang="pt-BR" sz="1400" dirty="0"/>
              <a:t>Entre os 24,5 milhões de idosos com acesso à rede, </a:t>
            </a:r>
            <a:r>
              <a:rPr lang="pt-BR" sz="1400" b="1" dirty="0">
                <a:solidFill>
                  <a:schemeClr val="tx2">
                    <a:lumMod val="85000"/>
                    <a:lumOff val="15000"/>
                  </a:schemeClr>
                </a:solidFill>
              </a:rPr>
              <a:t>87,9%</a:t>
            </a:r>
            <a:r>
              <a:rPr lang="pt-BR" sz="1400" dirty="0">
                <a:solidFill>
                  <a:schemeClr val="tx2">
                    <a:lumMod val="85000"/>
                    <a:lumOff val="15000"/>
                  </a:schemeClr>
                </a:solidFill>
              </a:rPr>
              <a:t> </a:t>
            </a:r>
            <a:r>
              <a:rPr lang="pt-BR" sz="1400" dirty="0"/>
              <a:t>a utilizavam diariamente em 2024.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F4940C2F-1219-486A-B2E4-8C7F6C9BC75A}"/>
              </a:ext>
            </a:extLst>
          </p:cNvPr>
          <p:cNvSpPr/>
          <p:nvPr/>
        </p:nvSpPr>
        <p:spPr>
          <a:xfrm>
            <a:off x="1269876" y="5713364"/>
            <a:ext cx="69127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dirty="0">
                <a:solidFill>
                  <a:schemeClr val="tx1">
                    <a:lumMod val="75000"/>
                  </a:schemeClr>
                </a:solidFill>
                <a:latin typeface="Quicksand-Regular"/>
              </a:rPr>
              <a:t>Fonte: https://agenciadenoticias.ibge.gov.br/agencia-noticias/2012-agencia-de-noticias/noticias/41026-em-2023-87-2-das-pessoas-com-10-anos-ou-mais-utilizaram-internet</a:t>
            </a:r>
            <a:endParaRPr lang="pt-BR" sz="900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0C177201-418F-E887-76F0-BF78E15A249D}"/>
              </a:ext>
            </a:extLst>
          </p:cNvPr>
          <p:cNvSpPr/>
          <p:nvPr/>
        </p:nvSpPr>
        <p:spPr>
          <a:xfrm>
            <a:off x="1269877" y="6178762"/>
            <a:ext cx="69127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dirty="0">
                <a:solidFill>
                  <a:schemeClr val="tx1">
                    <a:lumMod val="75000"/>
                  </a:schemeClr>
                </a:solidFill>
                <a:latin typeface="Quicksand-Regular"/>
              </a:rPr>
              <a:t>Fonte: https://cndl.org.br/politicaspublicas/numero-de-idosos-que-acessam-a-internet-cresce-de-68-para-97-aponta-pesquisa-cndl-spc-brasil</a:t>
            </a:r>
          </a:p>
          <a:p>
            <a:endParaRPr lang="pt-BR" sz="900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25" name="Espaço reservado para conteúdo 13">
            <a:extLst>
              <a:ext uri="{FF2B5EF4-FFF2-40B4-BE49-F238E27FC236}">
                <a16:creationId xmlns:a16="http://schemas.microsoft.com/office/drawing/2014/main" id="{458FA83B-CCB5-44F6-8B89-D65263E10D29}"/>
              </a:ext>
            </a:extLst>
          </p:cNvPr>
          <p:cNvSpPr txBox="1">
            <a:spLocks/>
          </p:cNvSpPr>
          <p:nvPr/>
        </p:nvSpPr>
        <p:spPr>
          <a:xfrm>
            <a:off x="1515165" y="3933056"/>
            <a:ext cx="2577719" cy="1728192"/>
          </a:xfrm>
          <a:prstGeom prst="rect">
            <a:avLst/>
          </a:prstGeom>
        </p:spPr>
        <p:txBody>
          <a:bodyPr rtlCol="0"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400" dirty="0"/>
              <a:t>redes sociais </a:t>
            </a:r>
            <a:r>
              <a:rPr lang="pt-BR" sz="1400" b="1" dirty="0">
                <a:solidFill>
                  <a:schemeClr val="tx2">
                    <a:lumMod val="85000"/>
                    <a:lumOff val="15000"/>
                  </a:schemeClr>
                </a:solidFill>
              </a:rPr>
              <a:t>(72%).</a:t>
            </a:r>
          </a:p>
          <a:p>
            <a:r>
              <a:rPr lang="pt-BR" sz="1400" dirty="0"/>
              <a:t>Apps de transporte </a:t>
            </a:r>
            <a:r>
              <a:rPr lang="pt-BR" sz="1400" b="1" dirty="0">
                <a:solidFill>
                  <a:schemeClr val="tx2">
                    <a:lumMod val="85000"/>
                    <a:lumOff val="15000"/>
                  </a:schemeClr>
                </a:solidFill>
              </a:rPr>
              <a:t>(47%).</a:t>
            </a:r>
          </a:p>
          <a:p>
            <a:r>
              <a:rPr lang="pt-BR" sz="1400" dirty="0"/>
              <a:t>Apps bancários </a:t>
            </a:r>
            <a:r>
              <a:rPr lang="pt-BR" sz="1400" b="1" dirty="0">
                <a:solidFill>
                  <a:schemeClr val="tx2">
                    <a:lumMod val="85000"/>
                    <a:lumOff val="15000"/>
                  </a:schemeClr>
                </a:solidFill>
              </a:rPr>
              <a:t>(45%).</a:t>
            </a:r>
          </a:p>
          <a:p>
            <a:r>
              <a:rPr lang="pt-BR" sz="1400" dirty="0"/>
              <a:t>WhatsApp </a:t>
            </a:r>
            <a:r>
              <a:rPr lang="pt-BR" sz="1400" b="1" dirty="0">
                <a:solidFill>
                  <a:schemeClr val="tx2">
                    <a:lumMod val="85000"/>
                    <a:lumOff val="15000"/>
                  </a:schemeClr>
                </a:solidFill>
              </a:rPr>
              <a:t>(92%).</a:t>
            </a:r>
          </a:p>
          <a:p>
            <a:r>
              <a:rPr lang="pt-BR" sz="1400" dirty="0"/>
              <a:t>Facebook </a:t>
            </a:r>
            <a:r>
              <a:rPr lang="pt-BR" sz="1400" b="1" dirty="0">
                <a:solidFill>
                  <a:schemeClr val="tx2">
                    <a:lumMod val="85000"/>
                    <a:lumOff val="15000"/>
                  </a:schemeClr>
                </a:solidFill>
              </a:rPr>
              <a:t>(85%).</a:t>
            </a:r>
          </a:p>
        </p:txBody>
      </p:sp>
      <p:sp>
        <p:nvSpPr>
          <p:cNvPr id="26" name="Espaço reservado para conteúdo 13">
            <a:extLst>
              <a:ext uri="{FF2B5EF4-FFF2-40B4-BE49-F238E27FC236}">
                <a16:creationId xmlns:a16="http://schemas.microsoft.com/office/drawing/2014/main" id="{D58EF560-96A4-4FF8-A0FD-86D8F2A2E613}"/>
              </a:ext>
            </a:extLst>
          </p:cNvPr>
          <p:cNvSpPr txBox="1">
            <a:spLocks/>
          </p:cNvSpPr>
          <p:nvPr/>
        </p:nvSpPr>
        <p:spPr>
          <a:xfrm>
            <a:off x="5513993" y="3933056"/>
            <a:ext cx="2433703" cy="1440160"/>
          </a:xfrm>
          <a:prstGeom prst="rect">
            <a:avLst/>
          </a:prstGeom>
        </p:spPr>
        <p:txBody>
          <a:bodyPr rtlCol="0"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400" dirty="0"/>
              <a:t>YouTube </a:t>
            </a:r>
            <a:r>
              <a:rPr lang="pt-BR" sz="1400" b="1" dirty="0">
                <a:solidFill>
                  <a:schemeClr val="tx2">
                    <a:lumMod val="85000"/>
                    <a:lumOff val="15000"/>
                  </a:schemeClr>
                </a:solidFill>
              </a:rPr>
              <a:t>(77%).</a:t>
            </a:r>
          </a:p>
          <a:p>
            <a:r>
              <a:rPr lang="pt-BR" sz="1400" dirty="0"/>
              <a:t>Eletroeletrônicos </a:t>
            </a:r>
            <a:r>
              <a:rPr lang="pt-BR" sz="1400" b="1" dirty="0">
                <a:solidFill>
                  <a:schemeClr val="tx2">
                    <a:lumMod val="85000"/>
                    <a:lumOff val="15000"/>
                  </a:schemeClr>
                </a:solidFill>
              </a:rPr>
              <a:t>(58%).</a:t>
            </a:r>
          </a:p>
          <a:p>
            <a:r>
              <a:rPr lang="pt-BR" sz="1400" dirty="0"/>
              <a:t>Remédios </a:t>
            </a:r>
            <a:r>
              <a:rPr lang="pt-BR" sz="1400" b="1" dirty="0">
                <a:solidFill>
                  <a:schemeClr val="tx2">
                    <a:lumMod val="85000"/>
                    <a:lumOff val="15000"/>
                  </a:schemeClr>
                </a:solidFill>
              </a:rPr>
              <a:t>(49%).</a:t>
            </a:r>
          </a:p>
          <a:p>
            <a:r>
              <a:rPr lang="pt-BR" sz="1400" dirty="0"/>
              <a:t>Eletrodomésticos </a:t>
            </a:r>
            <a:r>
              <a:rPr lang="pt-BR" sz="1400" b="1" dirty="0">
                <a:solidFill>
                  <a:schemeClr val="tx2">
                    <a:lumMod val="85000"/>
                    <a:lumOff val="15000"/>
                  </a:schemeClr>
                </a:solidFill>
              </a:rPr>
              <a:t>(47%). </a:t>
            </a:r>
          </a:p>
        </p:txBody>
      </p:sp>
      <p:sp>
        <p:nvSpPr>
          <p:cNvPr id="27" name="Espaço reservado para conteúdo 13">
            <a:extLst>
              <a:ext uri="{FF2B5EF4-FFF2-40B4-BE49-F238E27FC236}">
                <a16:creationId xmlns:a16="http://schemas.microsoft.com/office/drawing/2014/main" id="{1F347F25-ABC9-4725-9F3B-91A4896316F8}"/>
              </a:ext>
            </a:extLst>
          </p:cNvPr>
          <p:cNvSpPr txBox="1">
            <a:spLocks/>
          </p:cNvSpPr>
          <p:nvPr/>
        </p:nvSpPr>
        <p:spPr>
          <a:xfrm>
            <a:off x="1181206" y="3553294"/>
            <a:ext cx="7272808" cy="327618"/>
          </a:xfrm>
          <a:prstGeom prst="rect">
            <a:avLst/>
          </a:prstGeom>
        </p:spPr>
        <p:txBody>
          <a:bodyPr rtlCol="0"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600" dirty="0"/>
              <a:t>Aplicativos mais usados entre idosos:</a:t>
            </a:r>
          </a:p>
        </p:txBody>
      </p:sp>
      <p:pic>
        <p:nvPicPr>
          <p:cNvPr id="23" name="Imagem 22">
            <a:extLst>
              <a:ext uri="{FF2B5EF4-FFF2-40B4-BE49-F238E27FC236}">
                <a16:creationId xmlns:a16="http://schemas.microsoft.com/office/drawing/2014/main" id="{F5482F4B-8D84-4A32-9C73-5CC87A48BD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256" y="96696"/>
            <a:ext cx="1514156" cy="523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435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Rodapé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BR" noProof="0" dirty="0"/>
              <a:t>Equipe_03</a:t>
            </a: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DC1BBB0-96F0-4077-A278-0F3FB5C104D3}" type="slidenum">
              <a:rPr lang="pt-BR" noProof="0" smtClean="0"/>
              <a:pPr rtl="0"/>
              <a:t>30</a:t>
            </a:fld>
            <a:endParaRPr lang="pt-BR" noProof="0" dirty="0"/>
          </a:p>
        </p:txBody>
      </p:sp>
      <p:sp>
        <p:nvSpPr>
          <p:cNvPr id="2" name="Título 1"/>
          <p:cNvSpPr>
            <a:spLocks noGrp="1"/>
          </p:cNvSpPr>
          <p:nvPr>
            <p:ph type="ctrTitle" idx="4294967295"/>
          </p:nvPr>
        </p:nvSpPr>
        <p:spPr>
          <a:xfrm>
            <a:off x="1053852" y="836712"/>
            <a:ext cx="6397054" cy="731260"/>
          </a:xfrm>
        </p:spPr>
        <p:txBody>
          <a:bodyPr rtlCol="0">
            <a:normAutofit/>
          </a:bodyPr>
          <a:lstStyle/>
          <a:p>
            <a:pPr rtl="0"/>
            <a:r>
              <a:rPr lang="pt-BR" sz="2400" b="1" dirty="0"/>
              <a:t>Trabalho de Conclusão de Curso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4294967295"/>
          </p:nvPr>
        </p:nvSpPr>
        <p:spPr>
          <a:xfrm>
            <a:off x="1116797" y="1506026"/>
            <a:ext cx="3969503" cy="595313"/>
          </a:xfrm>
        </p:spPr>
        <p:txBody>
          <a:bodyPr rtlCol="0">
            <a:normAutofit/>
          </a:bodyPr>
          <a:lstStyle/>
          <a:p>
            <a:pPr marL="0" indent="0" rtl="0">
              <a:buNone/>
            </a:pPr>
            <a:r>
              <a:rPr lang="pt-BR" sz="1800" dirty="0"/>
              <a:t>Desenvolvimento de Sistemas</a:t>
            </a: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BD6A6A2A-77C5-4862-B36C-2CBB80725434}"/>
              </a:ext>
            </a:extLst>
          </p:cNvPr>
          <p:cNvGrpSpPr/>
          <p:nvPr/>
        </p:nvGrpSpPr>
        <p:grpSpPr>
          <a:xfrm>
            <a:off x="2629213" y="0"/>
            <a:ext cx="6913821" cy="620688"/>
            <a:chOff x="2629213" y="0"/>
            <a:chExt cx="6913821" cy="620688"/>
          </a:xfrm>
        </p:grpSpPr>
        <p:pic>
          <p:nvPicPr>
            <p:cNvPr id="13" name="Imagem 12">
              <a:extLst>
                <a:ext uri="{FF2B5EF4-FFF2-40B4-BE49-F238E27FC236}">
                  <a16:creationId xmlns:a16="http://schemas.microsoft.com/office/drawing/2014/main" id="{CA8A43CE-C42B-46F4-BAA7-F13EB0F1E41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44163" y="84791"/>
              <a:ext cx="1998871" cy="444194"/>
            </a:xfrm>
            <a:prstGeom prst="rect">
              <a:avLst/>
            </a:prstGeom>
          </p:spPr>
        </p:pic>
        <p:pic>
          <p:nvPicPr>
            <p:cNvPr id="14" name="Imagem 13" descr="Desenho com traços pretos em fundo branco e letras pretas em fundo branco&#10;&#10;Descrição gerada automaticamente com confiança média">
              <a:extLst>
                <a:ext uri="{FF2B5EF4-FFF2-40B4-BE49-F238E27FC236}">
                  <a16:creationId xmlns:a16="http://schemas.microsoft.com/office/drawing/2014/main" id="{1FD3683B-E985-4DBF-936E-ECFBEB1A4D8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48617" y="116632"/>
              <a:ext cx="673021" cy="4441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Imagem 14">
              <a:extLst>
                <a:ext uri="{FF2B5EF4-FFF2-40B4-BE49-F238E27FC236}">
                  <a16:creationId xmlns:a16="http://schemas.microsoft.com/office/drawing/2014/main" id="{836D65D2-A504-412A-8D99-409A8F39514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50549" y="116632"/>
              <a:ext cx="663678" cy="444194"/>
            </a:xfrm>
            <a:prstGeom prst="rect">
              <a:avLst/>
            </a:prstGeom>
          </p:spPr>
        </p:pic>
        <p:sp>
          <p:nvSpPr>
            <p:cNvPr id="16" name="Fluxograma: Processo 15">
              <a:extLst>
                <a:ext uri="{FF2B5EF4-FFF2-40B4-BE49-F238E27FC236}">
                  <a16:creationId xmlns:a16="http://schemas.microsoft.com/office/drawing/2014/main" id="{E6EFDE81-375D-46A2-9305-B22A016B8CF8}"/>
                </a:ext>
              </a:extLst>
            </p:cNvPr>
            <p:cNvSpPr/>
            <p:nvPr/>
          </p:nvSpPr>
          <p:spPr>
            <a:xfrm>
              <a:off x="2629213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7" name="Fluxograma: Processo 16">
              <a:extLst>
                <a:ext uri="{FF2B5EF4-FFF2-40B4-BE49-F238E27FC236}">
                  <a16:creationId xmlns:a16="http://schemas.microsoft.com/office/drawing/2014/main" id="{08215EA9-91DF-47BB-A92C-7621618F126B}"/>
                </a:ext>
              </a:extLst>
            </p:cNvPr>
            <p:cNvSpPr/>
            <p:nvPr/>
          </p:nvSpPr>
          <p:spPr>
            <a:xfrm>
              <a:off x="4909367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8" name="Fluxograma: Processo 17">
              <a:extLst>
                <a:ext uri="{FF2B5EF4-FFF2-40B4-BE49-F238E27FC236}">
                  <a16:creationId xmlns:a16="http://schemas.microsoft.com/office/drawing/2014/main" id="{DDA02A59-78BF-494F-9DE5-B03A6E02905F}"/>
                </a:ext>
              </a:extLst>
            </p:cNvPr>
            <p:cNvSpPr/>
            <p:nvPr/>
          </p:nvSpPr>
          <p:spPr>
            <a:xfrm>
              <a:off x="7215168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pic>
        <p:nvPicPr>
          <p:cNvPr id="19" name="Imagem 18">
            <a:extLst>
              <a:ext uri="{FF2B5EF4-FFF2-40B4-BE49-F238E27FC236}">
                <a16:creationId xmlns:a16="http://schemas.microsoft.com/office/drawing/2014/main" id="{D5A78529-A422-49F7-91D8-9F0157E633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256" y="96696"/>
            <a:ext cx="1514156" cy="523992"/>
          </a:xfrm>
          <a:prstGeom prst="rect">
            <a:avLst/>
          </a:prstGeom>
        </p:spPr>
      </p:pic>
      <p:graphicFrame>
        <p:nvGraphicFramePr>
          <p:cNvPr id="23" name="Gráfico 22">
            <a:extLst>
              <a:ext uri="{FF2B5EF4-FFF2-40B4-BE49-F238E27FC236}">
                <a16:creationId xmlns:a16="http://schemas.microsoft.com/office/drawing/2014/main" id="{EF38137D-650A-4AD5-B970-EB31F6F3B03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3474976"/>
              </p:ext>
            </p:extLst>
          </p:nvPr>
        </p:nvGraphicFramePr>
        <p:xfrm>
          <a:off x="2528412" y="2138948"/>
          <a:ext cx="6164652" cy="39071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  <p:extLst>
      <p:ext uri="{BB962C8B-B14F-4D97-AF65-F5344CB8AC3E}">
        <p14:creationId xmlns:p14="http://schemas.microsoft.com/office/powerpoint/2010/main" val="2640525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Rodapé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BR" noProof="0" dirty="0"/>
              <a:t>Equipe_03</a:t>
            </a: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DC1BBB0-96F0-4077-A278-0F3FB5C104D3}" type="slidenum">
              <a:rPr lang="pt-BR" noProof="0" smtClean="0"/>
              <a:pPr rtl="0"/>
              <a:t>31</a:t>
            </a:fld>
            <a:endParaRPr lang="pt-BR" noProof="0" dirty="0"/>
          </a:p>
        </p:txBody>
      </p:sp>
      <p:sp>
        <p:nvSpPr>
          <p:cNvPr id="5" name="Espaço reservado para conteúdo 13">
            <a:extLst>
              <a:ext uri="{FF2B5EF4-FFF2-40B4-BE49-F238E27FC236}">
                <a16:creationId xmlns:a16="http://schemas.microsoft.com/office/drawing/2014/main" id="{68EA1406-9D0A-F316-CA4B-D6FA46DEDD20}"/>
              </a:ext>
            </a:extLst>
          </p:cNvPr>
          <p:cNvSpPr txBox="1">
            <a:spLocks/>
          </p:cNvSpPr>
          <p:nvPr/>
        </p:nvSpPr>
        <p:spPr>
          <a:xfrm>
            <a:off x="1125860" y="2237286"/>
            <a:ext cx="7272808" cy="327618"/>
          </a:xfrm>
          <a:prstGeom prst="rect">
            <a:avLst/>
          </a:prstGeom>
        </p:spPr>
        <p:txBody>
          <a:bodyPr rtlCol="0"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000" b="1" dirty="0">
                <a:solidFill>
                  <a:schemeClr val="tx2">
                    <a:lumMod val="85000"/>
                    <a:lumOff val="15000"/>
                  </a:schemeClr>
                </a:solidFill>
              </a:rPr>
              <a:t>Pesquisas</a:t>
            </a:r>
            <a:r>
              <a:rPr lang="pt-BR" sz="2000" dirty="0"/>
              <a:t> – Uso de Medicamentos em Idosos (2023)</a:t>
            </a: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306CF383-86BE-4807-90B1-358A5BECE709}"/>
              </a:ext>
            </a:extLst>
          </p:cNvPr>
          <p:cNvSpPr txBox="1">
            <a:spLocks/>
          </p:cNvSpPr>
          <p:nvPr/>
        </p:nvSpPr>
        <p:spPr>
          <a:xfrm>
            <a:off x="1053852" y="836712"/>
            <a:ext cx="6397054" cy="7312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400" b="1" dirty="0"/>
              <a:t>Trabalho de Conclusão de Curso</a:t>
            </a:r>
          </a:p>
        </p:txBody>
      </p:sp>
      <p:sp>
        <p:nvSpPr>
          <p:cNvPr id="13" name="Subtítulo 2">
            <a:extLst>
              <a:ext uri="{FF2B5EF4-FFF2-40B4-BE49-F238E27FC236}">
                <a16:creationId xmlns:a16="http://schemas.microsoft.com/office/drawing/2014/main" id="{00B1AEDC-7D96-4DE1-B8DF-DCD9B40C88B7}"/>
              </a:ext>
            </a:extLst>
          </p:cNvPr>
          <p:cNvSpPr txBox="1">
            <a:spLocks/>
          </p:cNvSpPr>
          <p:nvPr/>
        </p:nvSpPr>
        <p:spPr>
          <a:xfrm>
            <a:off x="1108607" y="1501516"/>
            <a:ext cx="3969503" cy="5953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Euphemia" pitchFamily="34" charset="0"/>
              <a:buNone/>
            </a:pPr>
            <a:r>
              <a:rPr lang="pt-BR" sz="1800" dirty="0"/>
              <a:t>Desenvolvimento de Sistemas</a:t>
            </a: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A40F2AE1-D35B-45F6-B403-7441794FAC04}"/>
              </a:ext>
            </a:extLst>
          </p:cNvPr>
          <p:cNvGrpSpPr/>
          <p:nvPr/>
        </p:nvGrpSpPr>
        <p:grpSpPr>
          <a:xfrm>
            <a:off x="2629213" y="0"/>
            <a:ext cx="6913821" cy="620688"/>
            <a:chOff x="2629213" y="0"/>
            <a:chExt cx="6913821" cy="620688"/>
          </a:xfrm>
        </p:grpSpPr>
        <p:pic>
          <p:nvPicPr>
            <p:cNvPr id="15" name="Imagem 14">
              <a:extLst>
                <a:ext uri="{FF2B5EF4-FFF2-40B4-BE49-F238E27FC236}">
                  <a16:creationId xmlns:a16="http://schemas.microsoft.com/office/drawing/2014/main" id="{097D918F-CC2B-42C3-AA79-7935C824CE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44163" y="84791"/>
              <a:ext cx="1998871" cy="444194"/>
            </a:xfrm>
            <a:prstGeom prst="rect">
              <a:avLst/>
            </a:prstGeom>
          </p:spPr>
        </p:pic>
        <p:pic>
          <p:nvPicPr>
            <p:cNvPr id="16" name="Imagem 15" descr="Desenho com traços pretos em fundo branco e letras pretas em fundo branco&#10;&#10;Descrição gerada automaticamente com confiança média">
              <a:extLst>
                <a:ext uri="{FF2B5EF4-FFF2-40B4-BE49-F238E27FC236}">
                  <a16:creationId xmlns:a16="http://schemas.microsoft.com/office/drawing/2014/main" id="{2DC19A36-0916-4BCB-AB5D-E7A2A48E1E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48617" y="116632"/>
              <a:ext cx="673021" cy="4441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Imagem 16">
              <a:extLst>
                <a:ext uri="{FF2B5EF4-FFF2-40B4-BE49-F238E27FC236}">
                  <a16:creationId xmlns:a16="http://schemas.microsoft.com/office/drawing/2014/main" id="{68398C3D-8562-4F85-B4C6-86BBDA332CF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50549" y="116632"/>
              <a:ext cx="663678" cy="444194"/>
            </a:xfrm>
            <a:prstGeom prst="rect">
              <a:avLst/>
            </a:prstGeom>
          </p:spPr>
        </p:pic>
        <p:sp>
          <p:nvSpPr>
            <p:cNvPr id="18" name="Fluxograma: Processo 17">
              <a:extLst>
                <a:ext uri="{FF2B5EF4-FFF2-40B4-BE49-F238E27FC236}">
                  <a16:creationId xmlns:a16="http://schemas.microsoft.com/office/drawing/2014/main" id="{974A88B2-9B2F-46D6-AA77-38E50B00D999}"/>
                </a:ext>
              </a:extLst>
            </p:cNvPr>
            <p:cNvSpPr/>
            <p:nvPr/>
          </p:nvSpPr>
          <p:spPr>
            <a:xfrm>
              <a:off x="2629213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9" name="Fluxograma: Processo 18">
              <a:extLst>
                <a:ext uri="{FF2B5EF4-FFF2-40B4-BE49-F238E27FC236}">
                  <a16:creationId xmlns:a16="http://schemas.microsoft.com/office/drawing/2014/main" id="{D1B5B00C-0D47-4611-81F3-7F90BB12AA59}"/>
                </a:ext>
              </a:extLst>
            </p:cNvPr>
            <p:cNvSpPr/>
            <p:nvPr/>
          </p:nvSpPr>
          <p:spPr>
            <a:xfrm>
              <a:off x="4909367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20" name="Fluxograma: Processo 19">
              <a:extLst>
                <a:ext uri="{FF2B5EF4-FFF2-40B4-BE49-F238E27FC236}">
                  <a16:creationId xmlns:a16="http://schemas.microsoft.com/office/drawing/2014/main" id="{EC49A414-0956-4A38-BDDF-956BCCE78AEE}"/>
                </a:ext>
              </a:extLst>
            </p:cNvPr>
            <p:cNvSpPr/>
            <p:nvPr/>
          </p:nvSpPr>
          <p:spPr>
            <a:xfrm>
              <a:off x="7215168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sp>
        <p:nvSpPr>
          <p:cNvPr id="21" name="Espaço reservado para conteúdo 13">
            <a:extLst>
              <a:ext uri="{FF2B5EF4-FFF2-40B4-BE49-F238E27FC236}">
                <a16:creationId xmlns:a16="http://schemas.microsoft.com/office/drawing/2014/main" id="{3E240EB9-C157-4F88-8D5E-84DBAFCCDEB4}"/>
              </a:ext>
            </a:extLst>
          </p:cNvPr>
          <p:cNvSpPr txBox="1">
            <a:spLocks/>
          </p:cNvSpPr>
          <p:nvPr/>
        </p:nvSpPr>
        <p:spPr>
          <a:xfrm>
            <a:off x="1177497" y="2705361"/>
            <a:ext cx="6717115" cy="1299704"/>
          </a:xfrm>
          <a:prstGeom prst="rect">
            <a:avLst/>
          </a:prstGeom>
        </p:spPr>
        <p:txBody>
          <a:bodyPr rtlCol="0"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400" b="1" dirty="0">
                <a:solidFill>
                  <a:schemeClr val="tx2">
                    <a:lumMod val="85000"/>
                    <a:lumOff val="15000"/>
                  </a:schemeClr>
                </a:solidFill>
              </a:rPr>
              <a:t>83% </a:t>
            </a:r>
            <a:r>
              <a:rPr lang="pt-BR" sz="1400" dirty="0"/>
              <a:t>dos idoso usam </a:t>
            </a:r>
            <a:r>
              <a:rPr lang="pt-BR" sz="1400" b="1" dirty="0">
                <a:solidFill>
                  <a:schemeClr val="tx2">
                    <a:lumMod val="85000"/>
                    <a:lumOff val="15000"/>
                  </a:schemeClr>
                </a:solidFill>
              </a:rPr>
              <a:t>medicamentos</a:t>
            </a:r>
            <a:r>
              <a:rPr lang="pt-BR" sz="1400" dirty="0"/>
              <a:t> de </a:t>
            </a:r>
            <a:r>
              <a:rPr lang="pt-BR" sz="1400" b="1" dirty="0">
                <a:solidFill>
                  <a:schemeClr val="tx2">
                    <a:lumMod val="85000"/>
                    <a:lumOff val="15000"/>
                  </a:schemeClr>
                </a:solidFill>
              </a:rPr>
              <a:t>forma contínua</a:t>
            </a:r>
            <a:r>
              <a:rPr lang="pt-BR" sz="1400" dirty="0">
                <a:solidFill>
                  <a:schemeClr val="tx2">
                    <a:lumMod val="85000"/>
                    <a:lumOff val="15000"/>
                  </a:schemeClr>
                </a:solidFill>
              </a:rPr>
              <a:t>, </a:t>
            </a:r>
            <a:r>
              <a:rPr lang="pt-BR" sz="1400" dirty="0"/>
              <a:t>por conta de </a:t>
            </a:r>
            <a:r>
              <a:rPr lang="pt-BR" sz="1400" b="1" dirty="0">
                <a:solidFill>
                  <a:schemeClr val="tx2">
                    <a:lumMod val="85000"/>
                    <a:lumOff val="15000"/>
                  </a:schemeClr>
                </a:solidFill>
              </a:rPr>
              <a:t>doenças crônicas</a:t>
            </a:r>
            <a:r>
              <a:rPr lang="pt-BR" sz="1400" dirty="0"/>
              <a:t>, como  hipertensão, diabetes, problemas cardíacos, Desses idosos, </a:t>
            </a:r>
            <a:r>
              <a:rPr lang="pt-BR" sz="1400" b="1" dirty="0">
                <a:solidFill>
                  <a:schemeClr val="tx2">
                    <a:lumMod val="85000"/>
                    <a:lumOff val="15000"/>
                  </a:schemeClr>
                </a:solidFill>
              </a:rPr>
              <a:t>74,9% </a:t>
            </a:r>
            <a:r>
              <a:rPr lang="pt-BR" sz="1400" dirty="0"/>
              <a:t>disseram que nunca esquecem, </a:t>
            </a:r>
            <a:r>
              <a:rPr lang="pt-BR" sz="1400" b="1" dirty="0">
                <a:solidFill>
                  <a:schemeClr val="tx2">
                    <a:lumMod val="85000"/>
                    <a:lumOff val="15000"/>
                  </a:schemeClr>
                </a:solidFill>
              </a:rPr>
              <a:t>23,4% </a:t>
            </a:r>
            <a:r>
              <a:rPr lang="pt-BR" sz="1400" dirty="0"/>
              <a:t>esquecem às vezes, e </a:t>
            </a:r>
            <a:r>
              <a:rPr lang="pt-BR" sz="1400" b="1" dirty="0">
                <a:solidFill>
                  <a:schemeClr val="tx2">
                    <a:lumMod val="85000"/>
                    <a:lumOff val="15000"/>
                  </a:schemeClr>
                </a:solidFill>
              </a:rPr>
              <a:t>1,7% </a:t>
            </a:r>
            <a:r>
              <a:rPr lang="pt-BR" sz="1400" dirty="0"/>
              <a:t>esquecem com frequência/quase sempre, impactando diretamente na saúde.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0C177201-418F-E887-76F0-BF78E15A249D}"/>
              </a:ext>
            </a:extLst>
          </p:cNvPr>
          <p:cNvSpPr/>
          <p:nvPr/>
        </p:nvSpPr>
        <p:spPr>
          <a:xfrm>
            <a:off x="1303623" y="5550307"/>
            <a:ext cx="7893851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100" dirty="0">
                <a:solidFill>
                  <a:schemeClr val="tx1">
                    <a:lumMod val="75000"/>
                  </a:schemeClr>
                </a:solidFill>
                <a:latin typeface="Quicksand-Regular"/>
              </a:rPr>
              <a:t>Fonte: </a:t>
            </a:r>
            <a:r>
              <a:rPr lang="pt-BR" sz="1100" dirty="0"/>
              <a:t>https://www.scielo.br/j/rbepid/a/fsM3pN6YmXXWLXhgM5MBZMh/?format=html&amp;lang=pt</a:t>
            </a:r>
            <a:endParaRPr lang="pt-BR" sz="1100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23" name="Espaço reservado para conteúdo 13">
            <a:extLst>
              <a:ext uri="{FF2B5EF4-FFF2-40B4-BE49-F238E27FC236}">
                <a16:creationId xmlns:a16="http://schemas.microsoft.com/office/drawing/2014/main" id="{69B7CEA8-7472-457E-A8C8-0653452C1BE5}"/>
              </a:ext>
            </a:extLst>
          </p:cNvPr>
          <p:cNvSpPr txBox="1">
            <a:spLocks/>
          </p:cNvSpPr>
          <p:nvPr/>
        </p:nvSpPr>
        <p:spPr>
          <a:xfrm>
            <a:off x="1177497" y="3817904"/>
            <a:ext cx="7272808" cy="327618"/>
          </a:xfrm>
          <a:prstGeom prst="rect">
            <a:avLst/>
          </a:prstGeom>
        </p:spPr>
        <p:txBody>
          <a:bodyPr rtlCol="0"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sz="2000" dirty="0"/>
          </a:p>
        </p:txBody>
      </p:sp>
      <p:sp>
        <p:nvSpPr>
          <p:cNvPr id="24" name="Espaço reservado para conteúdo 13">
            <a:extLst>
              <a:ext uri="{FF2B5EF4-FFF2-40B4-BE49-F238E27FC236}">
                <a16:creationId xmlns:a16="http://schemas.microsoft.com/office/drawing/2014/main" id="{1ED16548-D1D5-4CE0-8116-EE52DA0B3787}"/>
              </a:ext>
            </a:extLst>
          </p:cNvPr>
          <p:cNvSpPr txBox="1">
            <a:spLocks/>
          </p:cNvSpPr>
          <p:nvPr/>
        </p:nvSpPr>
        <p:spPr>
          <a:xfrm>
            <a:off x="1151536" y="3802390"/>
            <a:ext cx="7272808" cy="327618"/>
          </a:xfrm>
          <a:prstGeom prst="rect">
            <a:avLst/>
          </a:prstGeom>
        </p:spPr>
        <p:txBody>
          <a:bodyPr rtlCol="0"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000" dirty="0">
                <a:solidFill>
                  <a:schemeClr val="tx2">
                    <a:lumMod val="85000"/>
                    <a:lumOff val="15000"/>
                  </a:schemeClr>
                </a:solidFill>
              </a:rPr>
              <a:t>Idade que mais ocorrem esse problemas</a:t>
            </a:r>
          </a:p>
        </p:txBody>
      </p:sp>
      <p:sp>
        <p:nvSpPr>
          <p:cNvPr id="26" name="Espaço reservado para conteúdo 13">
            <a:extLst>
              <a:ext uri="{FF2B5EF4-FFF2-40B4-BE49-F238E27FC236}">
                <a16:creationId xmlns:a16="http://schemas.microsoft.com/office/drawing/2014/main" id="{29CBAB25-E04C-4074-8E76-2882B9D1855A}"/>
              </a:ext>
            </a:extLst>
          </p:cNvPr>
          <p:cNvSpPr txBox="1">
            <a:spLocks/>
          </p:cNvSpPr>
          <p:nvPr/>
        </p:nvSpPr>
        <p:spPr>
          <a:xfrm>
            <a:off x="1192595" y="4294961"/>
            <a:ext cx="3029610" cy="1114889"/>
          </a:xfrm>
          <a:prstGeom prst="rect">
            <a:avLst/>
          </a:prstGeom>
        </p:spPr>
        <p:txBody>
          <a:bodyPr rtlCol="0"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400" dirty="0"/>
              <a:t>60–69 anos: </a:t>
            </a:r>
            <a:r>
              <a:rPr lang="pt-BR" sz="1400" b="1" dirty="0">
                <a:solidFill>
                  <a:schemeClr val="tx2">
                    <a:lumMod val="85000"/>
                    <a:lumOff val="15000"/>
                  </a:schemeClr>
                </a:solidFill>
              </a:rPr>
              <a:t>14,4% </a:t>
            </a:r>
            <a:r>
              <a:rPr lang="pt-BR" sz="1400" dirty="0"/>
              <a:t>esquecem.</a:t>
            </a:r>
          </a:p>
          <a:p>
            <a:r>
              <a:rPr lang="pt-BR" sz="1400" dirty="0"/>
              <a:t>70–79 anos: </a:t>
            </a:r>
            <a:r>
              <a:rPr lang="pt-BR" sz="1400" b="1" dirty="0">
                <a:solidFill>
                  <a:schemeClr val="tx2">
                    <a:lumMod val="85000"/>
                    <a:lumOff val="15000"/>
                  </a:schemeClr>
                </a:solidFill>
              </a:rPr>
              <a:t>19,3% </a:t>
            </a:r>
            <a:r>
              <a:rPr lang="pt-BR" sz="1400" dirty="0"/>
              <a:t>esquecem.</a:t>
            </a:r>
          </a:p>
          <a:p>
            <a:r>
              <a:rPr lang="pt-BR" sz="1400" dirty="0"/>
              <a:t>80+ anos: </a:t>
            </a:r>
            <a:r>
              <a:rPr lang="pt-BR" sz="1400" b="1" dirty="0">
                <a:solidFill>
                  <a:schemeClr val="tx2">
                    <a:lumMod val="85000"/>
                    <a:lumOff val="15000"/>
                  </a:schemeClr>
                </a:solidFill>
              </a:rPr>
              <a:t>26,1% </a:t>
            </a:r>
            <a:r>
              <a:rPr lang="pt-BR" sz="1400" dirty="0"/>
              <a:t>esquecem.</a:t>
            </a:r>
          </a:p>
        </p:txBody>
      </p:sp>
      <p:pic>
        <p:nvPicPr>
          <p:cNvPr id="22" name="Imagem 21">
            <a:extLst>
              <a:ext uri="{FF2B5EF4-FFF2-40B4-BE49-F238E27FC236}">
                <a16:creationId xmlns:a16="http://schemas.microsoft.com/office/drawing/2014/main" id="{20D2053A-F54D-43B3-839B-0938442CD7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256" y="96696"/>
            <a:ext cx="1514156" cy="523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900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Rodapé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BR" noProof="0" dirty="0"/>
              <a:t>Equipe_03</a:t>
            </a: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DC1BBB0-96F0-4077-A278-0F3FB5C104D3}" type="slidenum">
              <a:rPr lang="pt-BR" noProof="0" smtClean="0"/>
              <a:pPr rtl="0"/>
              <a:t>32</a:t>
            </a:fld>
            <a:endParaRPr lang="pt-BR" noProof="0" dirty="0"/>
          </a:p>
        </p:txBody>
      </p:sp>
      <p:sp>
        <p:nvSpPr>
          <p:cNvPr id="2" name="Título 1"/>
          <p:cNvSpPr>
            <a:spLocks noGrp="1"/>
          </p:cNvSpPr>
          <p:nvPr>
            <p:ph type="ctrTitle" idx="4294967295"/>
          </p:nvPr>
        </p:nvSpPr>
        <p:spPr>
          <a:xfrm>
            <a:off x="1053852" y="836712"/>
            <a:ext cx="6397054" cy="731260"/>
          </a:xfrm>
        </p:spPr>
        <p:txBody>
          <a:bodyPr rtlCol="0">
            <a:normAutofit/>
          </a:bodyPr>
          <a:lstStyle/>
          <a:p>
            <a:pPr rtl="0"/>
            <a:r>
              <a:rPr lang="pt-BR" sz="2400" b="1" dirty="0"/>
              <a:t>Trabalho de Conclusão de Curso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4294967295"/>
          </p:nvPr>
        </p:nvSpPr>
        <p:spPr>
          <a:xfrm>
            <a:off x="1116797" y="1506026"/>
            <a:ext cx="3969503" cy="595313"/>
          </a:xfrm>
        </p:spPr>
        <p:txBody>
          <a:bodyPr rtlCol="0">
            <a:normAutofit/>
          </a:bodyPr>
          <a:lstStyle/>
          <a:p>
            <a:pPr marL="0" indent="0" rtl="0">
              <a:buNone/>
            </a:pPr>
            <a:r>
              <a:rPr lang="pt-BR" sz="1800" dirty="0"/>
              <a:t>Desenvolvimento de Sistemas</a:t>
            </a: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BD6A6A2A-77C5-4862-B36C-2CBB80725434}"/>
              </a:ext>
            </a:extLst>
          </p:cNvPr>
          <p:cNvGrpSpPr/>
          <p:nvPr/>
        </p:nvGrpSpPr>
        <p:grpSpPr>
          <a:xfrm>
            <a:off x="2629213" y="0"/>
            <a:ext cx="6913821" cy="620688"/>
            <a:chOff x="2629213" y="0"/>
            <a:chExt cx="6913821" cy="620688"/>
          </a:xfrm>
        </p:grpSpPr>
        <p:pic>
          <p:nvPicPr>
            <p:cNvPr id="13" name="Imagem 12">
              <a:extLst>
                <a:ext uri="{FF2B5EF4-FFF2-40B4-BE49-F238E27FC236}">
                  <a16:creationId xmlns:a16="http://schemas.microsoft.com/office/drawing/2014/main" id="{CA8A43CE-C42B-46F4-BAA7-F13EB0F1E41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44163" y="84791"/>
              <a:ext cx="1998871" cy="444194"/>
            </a:xfrm>
            <a:prstGeom prst="rect">
              <a:avLst/>
            </a:prstGeom>
          </p:spPr>
        </p:pic>
        <p:pic>
          <p:nvPicPr>
            <p:cNvPr id="14" name="Imagem 13" descr="Desenho com traços pretos em fundo branco e letras pretas em fundo branco&#10;&#10;Descrição gerada automaticamente com confiança média">
              <a:extLst>
                <a:ext uri="{FF2B5EF4-FFF2-40B4-BE49-F238E27FC236}">
                  <a16:creationId xmlns:a16="http://schemas.microsoft.com/office/drawing/2014/main" id="{1FD3683B-E985-4DBF-936E-ECFBEB1A4D8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48617" y="116632"/>
              <a:ext cx="673021" cy="4441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Imagem 14">
              <a:extLst>
                <a:ext uri="{FF2B5EF4-FFF2-40B4-BE49-F238E27FC236}">
                  <a16:creationId xmlns:a16="http://schemas.microsoft.com/office/drawing/2014/main" id="{836D65D2-A504-412A-8D99-409A8F39514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50549" y="116632"/>
              <a:ext cx="663678" cy="444194"/>
            </a:xfrm>
            <a:prstGeom prst="rect">
              <a:avLst/>
            </a:prstGeom>
          </p:spPr>
        </p:pic>
        <p:sp>
          <p:nvSpPr>
            <p:cNvPr id="16" name="Fluxograma: Processo 15">
              <a:extLst>
                <a:ext uri="{FF2B5EF4-FFF2-40B4-BE49-F238E27FC236}">
                  <a16:creationId xmlns:a16="http://schemas.microsoft.com/office/drawing/2014/main" id="{E6EFDE81-375D-46A2-9305-B22A016B8CF8}"/>
                </a:ext>
              </a:extLst>
            </p:cNvPr>
            <p:cNvSpPr/>
            <p:nvPr/>
          </p:nvSpPr>
          <p:spPr>
            <a:xfrm>
              <a:off x="2629213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7" name="Fluxograma: Processo 16">
              <a:extLst>
                <a:ext uri="{FF2B5EF4-FFF2-40B4-BE49-F238E27FC236}">
                  <a16:creationId xmlns:a16="http://schemas.microsoft.com/office/drawing/2014/main" id="{08215EA9-91DF-47BB-A92C-7621618F126B}"/>
                </a:ext>
              </a:extLst>
            </p:cNvPr>
            <p:cNvSpPr/>
            <p:nvPr/>
          </p:nvSpPr>
          <p:spPr>
            <a:xfrm>
              <a:off x="4909367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8" name="Fluxograma: Processo 17">
              <a:extLst>
                <a:ext uri="{FF2B5EF4-FFF2-40B4-BE49-F238E27FC236}">
                  <a16:creationId xmlns:a16="http://schemas.microsoft.com/office/drawing/2014/main" id="{DDA02A59-78BF-494F-9DE5-B03A6E02905F}"/>
                </a:ext>
              </a:extLst>
            </p:cNvPr>
            <p:cNvSpPr/>
            <p:nvPr/>
          </p:nvSpPr>
          <p:spPr>
            <a:xfrm>
              <a:off x="7215168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pic>
        <p:nvPicPr>
          <p:cNvPr id="19" name="Imagem 18">
            <a:extLst>
              <a:ext uri="{FF2B5EF4-FFF2-40B4-BE49-F238E27FC236}">
                <a16:creationId xmlns:a16="http://schemas.microsoft.com/office/drawing/2014/main" id="{D5A78529-A422-49F7-91D8-9F0157E633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256" y="96696"/>
            <a:ext cx="1514156" cy="523992"/>
          </a:xfrm>
          <a:prstGeom prst="rect">
            <a:avLst/>
          </a:prstGeom>
        </p:spPr>
      </p:pic>
      <p:graphicFrame>
        <p:nvGraphicFramePr>
          <p:cNvPr id="21" name="Gráfico 20">
            <a:extLst>
              <a:ext uri="{FF2B5EF4-FFF2-40B4-BE49-F238E27FC236}">
                <a16:creationId xmlns:a16="http://schemas.microsoft.com/office/drawing/2014/main" id="{A9DCB4EB-2349-41F2-A516-B0ED4BCC58F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34034152"/>
              </p:ext>
            </p:extLst>
          </p:nvPr>
        </p:nvGraphicFramePr>
        <p:xfrm>
          <a:off x="2270020" y="2237286"/>
          <a:ext cx="6624736" cy="39280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  <p:extLst>
      <p:ext uri="{BB962C8B-B14F-4D97-AF65-F5344CB8AC3E}">
        <p14:creationId xmlns:p14="http://schemas.microsoft.com/office/powerpoint/2010/main" val="2382023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Rodapé 6"/>
          <p:cNvSpPr>
            <a:spLocks noGrp="1"/>
          </p:cNvSpPr>
          <p:nvPr>
            <p:ph type="ftr" sz="quarter" idx="11"/>
          </p:nvPr>
        </p:nvSpPr>
        <p:spPr>
          <a:xfrm>
            <a:off x="6565193" y="6302834"/>
            <a:ext cx="3974065" cy="365125"/>
          </a:xfrm>
        </p:spPr>
        <p:txBody>
          <a:bodyPr/>
          <a:lstStyle/>
          <a:p>
            <a:pPr rtl="0"/>
            <a:r>
              <a:rPr lang="pt-BR" noProof="0" dirty="0"/>
              <a:t>Equipe_03</a:t>
            </a: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DC1BBB0-96F0-4077-A278-0F3FB5C104D3}" type="slidenum">
              <a:rPr lang="pt-BR" noProof="0" smtClean="0"/>
              <a:pPr rtl="0"/>
              <a:t>33</a:t>
            </a:fld>
            <a:endParaRPr lang="pt-BR" noProof="0" dirty="0"/>
          </a:p>
        </p:txBody>
      </p:sp>
      <p:sp>
        <p:nvSpPr>
          <p:cNvPr id="5" name="Espaço reservado para conteúdo 13">
            <a:extLst>
              <a:ext uri="{FF2B5EF4-FFF2-40B4-BE49-F238E27FC236}">
                <a16:creationId xmlns:a16="http://schemas.microsoft.com/office/drawing/2014/main" id="{68EA1406-9D0A-F316-CA4B-D6FA46DEDD20}"/>
              </a:ext>
            </a:extLst>
          </p:cNvPr>
          <p:cNvSpPr txBox="1">
            <a:spLocks/>
          </p:cNvSpPr>
          <p:nvPr/>
        </p:nvSpPr>
        <p:spPr>
          <a:xfrm>
            <a:off x="1125861" y="2237286"/>
            <a:ext cx="1656183" cy="385276"/>
          </a:xfrm>
          <a:prstGeom prst="rect">
            <a:avLst/>
          </a:prstGeom>
        </p:spPr>
        <p:txBody>
          <a:bodyPr rtlCol="0"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000" b="1" dirty="0">
                <a:solidFill>
                  <a:schemeClr val="tx2">
                    <a:lumMod val="85000"/>
                    <a:lumOff val="15000"/>
                  </a:schemeClr>
                </a:solidFill>
              </a:rPr>
              <a:t>Soft Skills</a:t>
            </a:r>
          </a:p>
          <a:p>
            <a:endParaRPr lang="pt-BR" sz="2000" dirty="0"/>
          </a:p>
          <a:p>
            <a:endParaRPr lang="pt-BR" sz="2000" dirty="0"/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306CF383-86BE-4807-90B1-358A5BECE709}"/>
              </a:ext>
            </a:extLst>
          </p:cNvPr>
          <p:cNvSpPr txBox="1">
            <a:spLocks/>
          </p:cNvSpPr>
          <p:nvPr/>
        </p:nvSpPr>
        <p:spPr>
          <a:xfrm>
            <a:off x="1053852" y="836712"/>
            <a:ext cx="6397054" cy="7312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400" b="1" dirty="0"/>
              <a:t>Trabalho de Conclusão de Curso</a:t>
            </a:r>
          </a:p>
        </p:txBody>
      </p:sp>
      <p:sp>
        <p:nvSpPr>
          <p:cNvPr id="13" name="Subtítulo 2">
            <a:extLst>
              <a:ext uri="{FF2B5EF4-FFF2-40B4-BE49-F238E27FC236}">
                <a16:creationId xmlns:a16="http://schemas.microsoft.com/office/drawing/2014/main" id="{00B1AEDC-7D96-4DE1-B8DF-DCD9B40C88B7}"/>
              </a:ext>
            </a:extLst>
          </p:cNvPr>
          <p:cNvSpPr txBox="1">
            <a:spLocks/>
          </p:cNvSpPr>
          <p:nvPr/>
        </p:nvSpPr>
        <p:spPr>
          <a:xfrm>
            <a:off x="1099566" y="1484545"/>
            <a:ext cx="3969503" cy="5953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Euphemia" pitchFamily="34" charset="0"/>
              <a:buNone/>
            </a:pPr>
            <a:r>
              <a:rPr lang="pt-BR" sz="1800" dirty="0"/>
              <a:t>Desenvolvimento de Sistemas</a:t>
            </a: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A40F2AE1-D35B-45F6-B403-7441794FAC04}"/>
              </a:ext>
            </a:extLst>
          </p:cNvPr>
          <p:cNvGrpSpPr/>
          <p:nvPr/>
        </p:nvGrpSpPr>
        <p:grpSpPr>
          <a:xfrm>
            <a:off x="2629213" y="0"/>
            <a:ext cx="6913821" cy="620688"/>
            <a:chOff x="2629213" y="0"/>
            <a:chExt cx="6913821" cy="620688"/>
          </a:xfrm>
        </p:grpSpPr>
        <p:pic>
          <p:nvPicPr>
            <p:cNvPr id="15" name="Imagem 14">
              <a:extLst>
                <a:ext uri="{FF2B5EF4-FFF2-40B4-BE49-F238E27FC236}">
                  <a16:creationId xmlns:a16="http://schemas.microsoft.com/office/drawing/2014/main" id="{097D918F-CC2B-42C3-AA79-7935C824CE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44163" y="84791"/>
              <a:ext cx="1998871" cy="444194"/>
            </a:xfrm>
            <a:prstGeom prst="rect">
              <a:avLst/>
            </a:prstGeom>
          </p:spPr>
        </p:pic>
        <p:pic>
          <p:nvPicPr>
            <p:cNvPr id="16" name="Imagem 15" descr="Desenho com traços pretos em fundo branco e letras pretas em fundo branco&#10;&#10;Descrição gerada automaticamente com confiança média">
              <a:extLst>
                <a:ext uri="{FF2B5EF4-FFF2-40B4-BE49-F238E27FC236}">
                  <a16:creationId xmlns:a16="http://schemas.microsoft.com/office/drawing/2014/main" id="{2DC19A36-0916-4BCB-AB5D-E7A2A48E1E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48617" y="116632"/>
              <a:ext cx="673021" cy="4441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Imagem 16">
              <a:extLst>
                <a:ext uri="{FF2B5EF4-FFF2-40B4-BE49-F238E27FC236}">
                  <a16:creationId xmlns:a16="http://schemas.microsoft.com/office/drawing/2014/main" id="{68398C3D-8562-4F85-B4C6-86BBDA332CF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50549" y="116632"/>
              <a:ext cx="663678" cy="444194"/>
            </a:xfrm>
            <a:prstGeom prst="rect">
              <a:avLst/>
            </a:prstGeom>
          </p:spPr>
        </p:pic>
        <p:sp>
          <p:nvSpPr>
            <p:cNvPr id="18" name="Fluxograma: Processo 17">
              <a:extLst>
                <a:ext uri="{FF2B5EF4-FFF2-40B4-BE49-F238E27FC236}">
                  <a16:creationId xmlns:a16="http://schemas.microsoft.com/office/drawing/2014/main" id="{974A88B2-9B2F-46D6-AA77-38E50B00D999}"/>
                </a:ext>
              </a:extLst>
            </p:cNvPr>
            <p:cNvSpPr/>
            <p:nvPr/>
          </p:nvSpPr>
          <p:spPr>
            <a:xfrm>
              <a:off x="2629213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9" name="Fluxograma: Processo 18">
              <a:extLst>
                <a:ext uri="{FF2B5EF4-FFF2-40B4-BE49-F238E27FC236}">
                  <a16:creationId xmlns:a16="http://schemas.microsoft.com/office/drawing/2014/main" id="{D1B5B00C-0D47-4611-81F3-7F90BB12AA59}"/>
                </a:ext>
              </a:extLst>
            </p:cNvPr>
            <p:cNvSpPr/>
            <p:nvPr/>
          </p:nvSpPr>
          <p:spPr>
            <a:xfrm>
              <a:off x="4909367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20" name="Fluxograma: Processo 19">
              <a:extLst>
                <a:ext uri="{FF2B5EF4-FFF2-40B4-BE49-F238E27FC236}">
                  <a16:creationId xmlns:a16="http://schemas.microsoft.com/office/drawing/2014/main" id="{EC49A414-0956-4A38-BDDF-956BCCE78AEE}"/>
                </a:ext>
              </a:extLst>
            </p:cNvPr>
            <p:cNvSpPr/>
            <p:nvPr/>
          </p:nvSpPr>
          <p:spPr>
            <a:xfrm>
              <a:off x="7215168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sp>
        <p:nvSpPr>
          <p:cNvPr id="2" name="Retângulo 1">
            <a:extLst>
              <a:ext uri="{FF2B5EF4-FFF2-40B4-BE49-F238E27FC236}">
                <a16:creationId xmlns:a16="http://schemas.microsoft.com/office/drawing/2014/main" id="{3D6A16B1-EEDA-4424-B40E-C3888EB4AC45}"/>
              </a:ext>
            </a:extLst>
          </p:cNvPr>
          <p:cNvSpPr/>
          <p:nvPr/>
        </p:nvSpPr>
        <p:spPr>
          <a:xfrm>
            <a:off x="2991248" y="3081998"/>
            <a:ext cx="799146" cy="461665"/>
          </a:xfrm>
          <a:custGeom>
            <a:avLst/>
            <a:gdLst>
              <a:gd name="connsiteX0" fmla="*/ 0 w 4009724"/>
              <a:gd name="connsiteY0" fmla="*/ 0 h 3416320"/>
              <a:gd name="connsiteX1" fmla="*/ 4009724 w 4009724"/>
              <a:gd name="connsiteY1" fmla="*/ 0 h 3416320"/>
              <a:gd name="connsiteX2" fmla="*/ 4009724 w 4009724"/>
              <a:gd name="connsiteY2" fmla="*/ 3416320 h 3416320"/>
              <a:gd name="connsiteX3" fmla="*/ 0 w 4009724"/>
              <a:gd name="connsiteY3" fmla="*/ 3416320 h 3416320"/>
              <a:gd name="connsiteX4" fmla="*/ 0 w 4009724"/>
              <a:gd name="connsiteY4" fmla="*/ 0 h 3416320"/>
              <a:gd name="connsiteX0" fmla="*/ 0 w 4009724"/>
              <a:gd name="connsiteY0" fmla="*/ 0 h 3416320"/>
              <a:gd name="connsiteX1" fmla="*/ 4009724 w 4009724"/>
              <a:gd name="connsiteY1" fmla="*/ 0 h 3416320"/>
              <a:gd name="connsiteX2" fmla="*/ 682324 w 4009724"/>
              <a:gd name="connsiteY2" fmla="*/ 355620 h 3416320"/>
              <a:gd name="connsiteX3" fmla="*/ 0 w 4009724"/>
              <a:gd name="connsiteY3" fmla="*/ 3416320 h 3416320"/>
              <a:gd name="connsiteX4" fmla="*/ 0 w 4009724"/>
              <a:gd name="connsiteY4" fmla="*/ 0 h 3416320"/>
              <a:gd name="connsiteX0" fmla="*/ 0 w 682324"/>
              <a:gd name="connsiteY0" fmla="*/ 25400 h 3441720"/>
              <a:gd name="connsiteX1" fmla="*/ 656924 w 682324"/>
              <a:gd name="connsiteY1" fmla="*/ 0 h 3441720"/>
              <a:gd name="connsiteX2" fmla="*/ 682324 w 682324"/>
              <a:gd name="connsiteY2" fmla="*/ 381020 h 3441720"/>
              <a:gd name="connsiteX3" fmla="*/ 0 w 682324"/>
              <a:gd name="connsiteY3" fmla="*/ 3441720 h 3441720"/>
              <a:gd name="connsiteX4" fmla="*/ 0 w 682324"/>
              <a:gd name="connsiteY4" fmla="*/ 25400 h 3441720"/>
              <a:gd name="connsiteX0" fmla="*/ 0 w 682324"/>
              <a:gd name="connsiteY0" fmla="*/ 0 h 3416320"/>
              <a:gd name="connsiteX1" fmla="*/ 669624 w 682324"/>
              <a:gd name="connsiteY1" fmla="*/ 12700 h 3416320"/>
              <a:gd name="connsiteX2" fmla="*/ 682324 w 682324"/>
              <a:gd name="connsiteY2" fmla="*/ 355620 h 3416320"/>
              <a:gd name="connsiteX3" fmla="*/ 0 w 682324"/>
              <a:gd name="connsiteY3" fmla="*/ 3416320 h 3416320"/>
              <a:gd name="connsiteX4" fmla="*/ 0 w 682324"/>
              <a:gd name="connsiteY4" fmla="*/ 0 h 3416320"/>
              <a:gd name="connsiteX0" fmla="*/ 0 w 682324"/>
              <a:gd name="connsiteY0" fmla="*/ 0 h 419120"/>
              <a:gd name="connsiteX1" fmla="*/ 669624 w 682324"/>
              <a:gd name="connsiteY1" fmla="*/ 12700 h 419120"/>
              <a:gd name="connsiteX2" fmla="*/ 682324 w 682324"/>
              <a:gd name="connsiteY2" fmla="*/ 355620 h 419120"/>
              <a:gd name="connsiteX3" fmla="*/ 25400 w 682324"/>
              <a:gd name="connsiteY3" fmla="*/ 419120 h 419120"/>
              <a:gd name="connsiteX4" fmla="*/ 0 w 682324"/>
              <a:gd name="connsiteY4" fmla="*/ 0 h 419120"/>
              <a:gd name="connsiteX0" fmla="*/ 0 w 695024"/>
              <a:gd name="connsiteY0" fmla="*/ 0 h 431820"/>
              <a:gd name="connsiteX1" fmla="*/ 669624 w 695024"/>
              <a:gd name="connsiteY1" fmla="*/ 12700 h 431820"/>
              <a:gd name="connsiteX2" fmla="*/ 695024 w 695024"/>
              <a:gd name="connsiteY2" fmla="*/ 431820 h 431820"/>
              <a:gd name="connsiteX3" fmla="*/ 25400 w 695024"/>
              <a:gd name="connsiteY3" fmla="*/ 419120 h 431820"/>
              <a:gd name="connsiteX4" fmla="*/ 0 w 695024"/>
              <a:gd name="connsiteY4" fmla="*/ 0 h 431820"/>
              <a:gd name="connsiteX0" fmla="*/ 12700 w 707724"/>
              <a:gd name="connsiteY0" fmla="*/ 0 h 431820"/>
              <a:gd name="connsiteX1" fmla="*/ 682324 w 707724"/>
              <a:gd name="connsiteY1" fmla="*/ 12700 h 431820"/>
              <a:gd name="connsiteX2" fmla="*/ 707724 w 707724"/>
              <a:gd name="connsiteY2" fmla="*/ 431820 h 431820"/>
              <a:gd name="connsiteX3" fmla="*/ 0 w 707724"/>
              <a:gd name="connsiteY3" fmla="*/ 419120 h 431820"/>
              <a:gd name="connsiteX4" fmla="*/ 12700 w 707724"/>
              <a:gd name="connsiteY4" fmla="*/ 0 h 431820"/>
              <a:gd name="connsiteX0" fmla="*/ 12700 w 707724"/>
              <a:gd name="connsiteY0" fmla="*/ 0 h 431820"/>
              <a:gd name="connsiteX1" fmla="*/ 695024 w 707724"/>
              <a:gd name="connsiteY1" fmla="*/ 25400 h 431820"/>
              <a:gd name="connsiteX2" fmla="*/ 707724 w 707724"/>
              <a:gd name="connsiteY2" fmla="*/ 431820 h 431820"/>
              <a:gd name="connsiteX3" fmla="*/ 0 w 707724"/>
              <a:gd name="connsiteY3" fmla="*/ 419120 h 431820"/>
              <a:gd name="connsiteX4" fmla="*/ 12700 w 707724"/>
              <a:gd name="connsiteY4" fmla="*/ 0 h 431820"/>
              <a:gd name="connsiteX0" fmla="*/ 12700 w 707724"/>
              <a:gd name="connsiteY0" fmla="*/ 0 h 431820"/>
              <a:gd name="connsiteX1" fmla="*/ 389726 w 707724"/>
              <a:gd name="connsiteY1" fmla="*/ 1321 h 431820"/>
              <a:gd name="connsiteX2" fmla="*/ 707724 w 707724"/>
              <a:gd name="connsiteY2" fmla="*/ 431820 h 431820"/>
              <a:gd name="connsiteX3" fmla="*/ 0 w 707724"/>
              <a:gd name="connsiteY3" fmla="*/ 419120 h 431820"/>
              <a:gd name="connsiteX4" fmla="*/ 12700 w 707724"/>
              <a:gd name="connsiteY4" fmla="*/ 0 h 431820"/>
              <a:gd name="connsiteX0" fmla="*/ 12700 w 446948"/>
              <a:gd name="connsiteY0" fmla="*/ 0 h 425399"/>
              <a:gd name="connsiteX1" fmla="*/ 389726 w 446948"/>
              <a:gd name="connsiteY1" fmla="*/ 1321 h 425399"/>
              <a:gd name="connsiteX2" fmla="*/ 446948 w 446948"/>
              <a:gd name="connsiteY2" fmla="*/ 425399 h 425399"/>
              <a:gd name="connsiteX3" fmla="*/ 0 w 446948"/>
              <a:gd name="connsiteY3" fmla="*/ 419120 h 425399"/>
              <a:gd name="connsiteX4" fmla="*/ 12700 w 446948"/>
              <a:gd name="connsiteY4" fmla="*/ 0 h 425399"/>
              <a:gd name="connsiteX0" fmla="*/ 12700 w 440588"/>
              <a:gd name="connsiteY0" fmla="*/ 0 h 420583"/>
              <a:gd name="connsiteX1" fmla="*/ 389726 w 440588"/>
              <a:gd name="connsiteY1" fmla="*/ 1321 h 420583"/>
              <a:gd name="connsiteX2" fmla="*/ 440588 w 440588"/>
              <a:gd name="connsiteY2" fmla="*/ 420583 h 420583"/>
              <a:gd name="connsiteX3" fmla="*/ 0 w 440588"/>
              <a:gd name="connsiteY3" fmla="*/ 419120 h 420583"/>
              <a:gd name="connsiteX4" fmla="*/ 12700 w 440588"/>
              <a:gd name="connsiteY4" fmla="*/ 0 h 4205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0588" h="420583">
                <a:moveTo>
                  <a:pt x="12700" y="0"/>
                </a:moveTo>
                <a:lnTo>
                  <a:pt x="389726" y="1321"/>
                </a:lnTo>
                <a:lnTo>
                  <a:pt x="440588" y="420583"/>
                </a:lnTo>
                <a:lnTo>
                  <a:pt x="0" y="419120"/>
                </a:lnTo>
                <a:lnTo>
                  <a:pt x="12700" y="0"/>
                </a:lnTo>
                <a:close/>
              </a:path>
            </a:pathLst>
          </a:custGeom>
        </p:spPr>
        <p:txBody>
          <a:bodyPr wrap="square">
            <a:spAutoFit/>
          </a:bodyPr>
          <a:lstStyle/>
          <a:p>
            <a:r>
              <a:rPr lang="pt-BR" sz="2400" dirty="0"/>
              <a:t>Raí: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EF8DC2B7-A68B-415A-AB81-D21853221266}"/>
              </a:ext>
            </a:extLst>
          </p:cNvPr>
          <p:cNvSpPr/>
          <p:nvPr/>
        </p:nvSpPr>
        <p:spPr>
          <a:xfrm>
            <a:off x="5014336" y="3081998"/>
            <a:ext cx="1292526" cy="461665"/>
          </a:xfrm>
          <a:custGeom>
            <a:avLst/>
            <a:gdLst>
              <a:gd name="connsiteX0" fmla="*/ 0 w 1132192"/>
              <a:gd name="connsiteY0" fmla="*/ 0 h 4893647"/>
              <a:gd name="connsiteX1" fmla="*/ 1132192 w 1132192"/>
              <a:gd name="connsiteY1" fmla="*/ 0 h 4893647"/>
              <a:gd name="connsiteX2" fmla="*/ 1132192 w 1132192"/>
              <a:gd name="connsiteY2" fmla="*/ 4893647 h 4893647"/>
              <a:gd name="connsiteX3" fmla="*/ 0 w 1132192"/>
              <a:gd name="connsiteY3" fmla="*/ 4893647 h 4893647"/>
              <a:gd name="connsiteX4" fmla="*/ 0 w 1132192"/>
              <a:gd name="connsiteY4" fmla="*/ 0 h 4893647"/>
              <a:gd name="connsiteX0" fmla="*/ 0 w 1132192"/>
              <a:gd name="connsiteY0" fmla="*/ 0 h 4893647"/>
              <a:gd name="connsiteX1" fmla="*/ 1132192 w 1132192"/>
              <a:gd name="connsiteY1" fmla="*/ 0 h 4893647"/>
              <a:gd name="connsiteX2" fmla="*/ 1132192 w 1132192"/>
              <a:gd name="connsiteY2" fmla="*/ 1807547 h 4893647"/>
              <a:gd name="connsiteX3" fmla="*/ 0 w 1132192"/>
              <a:gd name="connsiteY3" fmla="*/ 4893647 h 4893647"/>
              <a:gd name="connsiteX4" fmla="*/ 0 w 1132192"/>
              <a:gd name="connsiteY4" fmla="*/ 0 h 4893647"/>
              <a:gd name="connsiteX0" fmla="*/ 0 w 1132192"/>
              <a:gd name="connsiteY0" fmla="*/ 0 h 1807547"/>
              <a:gd name="connsiteX1" fmla="*/ 1132192 w 1132192"/>
              <a:gd name="connsiteY1" fmla="*/ 0 h 1807547"/>
              <a:gd name="connsiteX2" fmla="*/ 1132192 w 1132192"/>
              <a:gd name="connsiteY2" fmla="*/ 1807547 h 1807547"/>
              <a:gd name="connsiteX3" fmla="*/ 0 w 1132192"/>
              <a:gd name="connsiteY3" fmla="*/ 1807547 h 1807547"/>
              <a:gd name="connsiteX4" fmla="*/ 0 w 1132192"/>
              <a:gd name="connsiteY4" fmla="*/ 0 h 1807547"/>
              <a:gd name="connsiteX0" fmla="*/ 0 w 1132192"/>
              <a:gd name="connsiteY0" fmla="*/ 0 h 1807547"/>
              <a:gd name="connsiteX1" fmla="*/ 1132192 w 1132192"/>
              <a:gd name="connsiteY1" fmla="*/ 0 h 1807547"/>
              <a:gd name="connsiteX2" fmla="*/ 1132192 w 1132192"/>
              <a:gd name="connsiteY2" fmla="*/ 1807547 h 1807547"/>
              <a:gd name="connsiteX3" fmla="*/ 0 w 1132192"/>
              <a:gd name="connsiteY3" fmla="*/ 1807547 h 1807547"/>
              <a:gd name="connsiteX4" fmla="*/ 0 w 1132192"/>
              <a:gd name="connsiteY4" fmla="*/ 0 h 1807547"/>
              <a:gd name="connsiteX0" fmla="*/ 0 w 1132192"/>
              <a:gd name="connsiteY0" fmla="*/ 0 h 1807547"/>
              <a:gd name="connsiteX1" fmla="*/ 1132192 w 1132192"/>
              <a:gd name="connsiteY1" fmla="*/ 0 h 1807547"/>
              <a:gd name="connsiteX2" fmla="*/ 1132192 w 1132192"/>
              <a:gd name="connsiteY2" fmla="*/ 1807547 h 1807547"/>
              <a:gd name="connsiteX3" fmla="*/ 0 w 1132192"/>
              <a:gd name="connsiteY3" fmla="*/ 1807547 h 1807547"/>
              <a:gd name="connsiteX4" fmla="*/ 0 w 1132192"/>
              <a:gd name="connsiteY4" fmla="*/ 0 h 18075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2192" h="1807547">
                <a:moveTo>
                  <a:pt x="0" y="0"/>
                </a:moveTo>
                <a:lnTo>
                  <a:pt x="1132192" y="0"/>
                </a:lnTo>
                <a:lnTo>
                  <a:pt x="1132192" y="1807547"/>
                </a:lnTo>
                <a:lnTo>
                  <a:pt x="0" y="1807547"/>
                </a:lnTo>
                <a:cubicBezTo>
                  <a:pt x="12700" y="912931"/>
                  <a:pt x="0" y="602516"/>
                  <a:pt x="0" y="0"/>
                </a:cubicBezTo>
                <a:close/>
              </a:path>
            </a:pathLst>
          </a:custGeom>
        </p:spPr>
        <p:txBody>
          <a:bodyPr wrap="square">
            <a:spAutoFit/>
          </a:bodyPr>
          <a:lstStyle/>
          <a:p>
            <a:r>
              <a:rPr lang="pt-BR" sz="2400" dirty="0"/>
              <a:t>Flavio: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23591374-5DD7-4F6B-88F9-08E1A4D63719}"/>
              </a:ext>
            </a:extLst>
          </p:cNvPr>
          <p:cNvSpPr/>
          <p:nvPr/>
        </p:nvSpPr>
        <p:spPr>
          <a:xfrm>
            <a:off x="7354210" y="3081998"/>
            <a:ext cx="99685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 dirty="0"/>
              <a:t>Julia:</a:t>
            </a:r>
          </a:p>
        </p:txBody>
      </p:sp>
      <p:sp>
        <p:nvSpPr>
          <p:cNvPr id="24" name="Espaço reservado para conteúdo 13">
            <a:extLst>
              <a:ext uri="{FF2B5EF4-FFF2-40B4-BE49-F238E27FC236}">
                <a16:creationId xmlns:a16="http://schemas.microsoft.com/office/drawing/2014/main" id="{F3263F39-D0D8-E504-B180-3B7C495B2C60}"/>
              </a:ext>
            </a:extLst>
          </p:cNvPr>
          <p:cNvSpPr txBox="1">
            <a:spLocks/>
          </p:cNvSpPr>
          <p:nvPr/>
        </p:nvSpPr>
        <p:spPr>
          <a:xfrm>
            <a:off x="2992103" y="3605052"/>
            <a:ext cx="2088232" cy="1064897"/>
          </a:xfrm>
          <a:prstGeom prst="rect">
            <a:avLst/>
          </a:prstGeom>
        </p:spPr>
        <p:txBody>
          <a:bodyPr rtlCol="0"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600" dirty="0"/>
              <a:t>Comunicação</a:t>
            </a:r>
          </a:p>
          <a:p>
            <a:r>
              <a:rPr lang="pt-BR" sz="1600" dirty="0"/>
              <a:t>Gestão de tempo</a:t>
            </a:r>
          </a:p>
          <a:p>
            <a:r>
              <a:rPr lang="pt-BR" sz="1600" dirty="0"/>
              <a:t>Disciplina</a:t>
            </a:r>
          </a:p>
          <a:p>
            <a:endParaRPr lang="pt-BR" sz="1600" dirty="0"/>
          </a:p>
          <a:p>
            <a:endParaRPr lang="pt-BR" sz="1600" dirty="0"/>
          </a:p>
          <a:p>
            <a:endParaRPr lang="pt-BR" sz="1600" dirty="0"/>
          </a:p>
        </p:txBody>
      </p:sp>
      <p:sp>
        <p:nvSpPr>
          <p:cNvPr id="25" name="Espaço reservado para conteúdo 13">
            <a:extLst>
              <a:ext uri="{FF2B5EF4-FFF2-40B4-BE49-F238E27FC236}">
                <a16:creationId xmlns:a16="http://schemas.microsoft.com/office/drawing/2014/main" id="{FEF40435-8748-574D-6C9C-A892061EB29A}"/>
              </a:ext>
            </a:extLst>
          </p:cNvPr>
          <p:cNvSpPr txBox="1">
            <a:spLocks/>
          </p:cNvSpPr>
          <p:nvPr/>
        </p:nvSpPr>
        <p:spPr>
          <a:xfrm>
            <a:off x="7368264" y="3615359"/>
            <a:ext cx="2110524" cy="1829865"/>
          </a:xfrm>
          <a:prstGeom prst="rect">
            <a:avLst/>
          </a:prstGeom>
        </p:spPr>
        <p:txBody>
          <a:bodyPr rtlCol="0"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600" dirty="0"/>
              <a:t>Empatia</a:t>
            </a:r>
          </a:p>
          <a:p>
            <a:r>
              <a:rPr lang="pt-BR" sz="1600" dirty="0"/>
              <a:t>Comunicação</a:t>
            </a:r>
          </a:p>
          <a:p>
            <a:r>
              <a:rPr lang="pt-BR" sz="1600" dirty="0"/>
              <a:t>Responsabilidade</a:t>
            </a:r>
          </a:p>
          <a:p>
            <a:r>
              <a:rPr lang="pt-BR" sz="1600" dirty="0"/>
              <a:t>Gestão de tempo</a:t>
            </a:r>
          </a:p>
          <a:p>
            <a:endParaRPr lang="pt-BR" sz="1600" dirty="0"/>
          </a:p>
          <a:p>
            <a:endParaRPr lang="pt-BR" sz="1600" dirty="0"/>
          </a:p>
          <a:p>
            <a:endParaRPr lang="pt-BR" sz="1600" dirty="0"/>
          </a:p>
          <a:p>
            <a:endParaRPr lang="pt-BR" sz="1600" dirty="0"/>
          </a:p>
        </p:txBody>
      </p:sp>
      <p:sp>
        <p:nvSpPr>
          <p:cNvPr id="27" name="Espaço reservado para conteúdo 13">
            <a:extLst>
              <a:ext uri="{FF2B5EF4-FFF2-40B4-BE49-F238E27FC236}">
                <a16:creationId xmlns:a16="http://schemas.microsoft.com/office/drawing/2014/main" id="{783AFCAA-505C-82F8-DC0A-F0F8683F0129}"/>
              </a:ext>
            </a:extLst>
          </p:cNvPr>
          <p:cNvSpPr txBox="1">
            <a:spLocks/>
          </p:cNvSpPr>
          <p:nvPr/>
        </p:nvSpPr>
        <p:spPr>
          <a:xfrm>
            <a:off x="5014336" y="3615359"/>
            <a:ext cx="2110524" cy="1054590"/>
          </a:xfrm>
          <a:prstGeom prst="rect">
            <a:avLst/>
          </a:prstGeom>
        </p:spPr>
        <p:txBody>
          <a:bodyPr rtlCol="0"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600" dirty="0"/>
              <a:t>Comunicação</a:t>
            </a:r>
          </a:p>
          <a:p>
            <a:r>
              <a:rPr lang="pt-BR" sz="1600" dirty="0"/>
              <a:t>Responsabilidade</a:t>
            </a:r>
          </a:p>
          <a:p>
            <a:r>
              <a:rPr lang="pt-BR" sz="1600" dirty="0"/>
              <a:t>Proatividade</a:t>
            </a:r>
          </a:p>
        </p:txBody>
      </p:sp>
      <p:pic>
        <p:nvPicPr>
          <p:cNvPr id="28" name="Imagem 27">
            <a:extLst>
              <a:ext uri="{FF2B5EF4-FFF2-40B4-BE49-F238E27FC236}">
                <a16:creationId xmlns:a16="http://schemas.microsoft.com/office/drawing/2014/main" id="{390D8811-8C51-436A-B177-DBA9CE882B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256" y="96696"/>
            <a:ext cx="1514156" cy="523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247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Rodapé 6"/>
          <p:cNvSpPr>
            <a:spLocks noGrp="1"/>
          </p:cNvSpPr>
          <p:nvPr>
            <p:ph type="ftr" sz="quarter" idx="11"/>
          </p:nvPr>
        </p:nvSpPr>
        <p:spPr>
          <a:xfrm>
            <a:off x="6595933" y="6356351"/>
            <a:ext cx="3974065" cy="365125"/>
          </a:xfrm>
        </p:spPr>
        <p:txBody>
          <a:bodyPr/>
          <a:lstStyle/>
          <a:p>
            <a:pPr rtl="0"/>
            <a:r>
              <a:rPr lang="pt-BR" noProof="0" dirty="0"/>
              <a:t>Equipe_03</a:t>
            </a: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DC1BBB0-96F0-4077-A278-0F3FB5C104D3}" type="slidenum">
              <a:rPr lang="pt-BR" noProof="0" smtClean="0"/>
              <a:pPr rtl="0"/>
              <a:t>34</a:t>
            </a:fld>
            <a:endParaRPr lang="pt-BR" noProof="0" dirty="0"/>
          </a:p>
        </p:txBody>
      </p:sp>
      <p:sp>
        <p:nvSpPr>
          <p:cNvPr id="5" name="Espaço reservado para conteúdo 13">
            <a:extLst>
              <a:ext uri="{FF2B5EF4-FFF2-40B4-BE49-F238E27FC236}">
                <a16:creationId xmlns:a16="http://schemas.microsoft.com/office/drawing/2014/main" id="{68EA1406-9D0A-F316-CA4B-D6FA46DEDD20}"/>
              </a:ext>
            </a:extLst>
          </p:cNvPr>
          <p:cNvSpPr txBox="1">
            <a:spLocks/>
          </p:cNvSpPr>
          <p:nvPr/>
        </p:nvSpPr>
        <p:spPr>
          <a:xfrm>
            <a:off x="1125861" y="2237286"/>
            <a:ext cx="1656184" cy="327618"/>
          </a:xfrm>
          <a:prstGeom prst="rect">
            <a:avLst/>
          </a:prstGeom>
        </p:spPr>
        <p:txBody>
          <a:bodyPr rtlCol="0"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000" b="1" dirty="0">
                <a:solidFill>
                  <a:schemeClr val="tx2">
                    <a:lumMod val="85000"/>
                    <a:lumOff val="15000"/>
                  </a:schemeClr>
                </a:solidFill>
              </a:rPr>
              <a:t>Hard Skills</a:t>
            </a:r>
          </a:p>
          <a:p>
            <a:endParaRPr lang="pt-BR" sz="2000" dirty="0"/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306CF383-86BE-4807-90B1-358A5BECE709}"/>
              </a:ext>
            </a:extLst>
          </p:cNvPr>
          <p:cNvSpPr txBox="1">
            <a:spLocks/>
          </p:cNvSpPr>
          <p:nvPr/>
        </p:nvSpPr>
        <p:spPr>
          <a:xfrm>
            <a:off x="1053852" y="836712"/>
            <a:ext cx="6397054" cy="7312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400" b="1" dirty="0"/>
              <a:t>Trabalho de Conclusão de Curso</a:t>
            </a:r>
          </a:p>
        </p:txBody>
      </p:sp>
      <p:sp>
        <p:nvSpPr>
          <p:cNvPr id="13" name="Subtítulo 2">
            <a:extLst>
              <a:ext uri="{FF2B5EF4-FFF2-40B4-BE49-F238E27FC236}">
                <a16:creationId xmlns:a16="http://schemas.microsoft.com/office/drawing/2014/main" id="{00B1AEDC-7D96-4DE1-B8DF-DCD9B40C88B7}"/>
              </a:ext>
            </a:extLst>
          </p:cNvPr>
          <p:cNvSpPr txBox="1">
            <a:spLocks/>
          </p:cNvSpPr>
          <p:nvPr/>
        </p:nvSpPr>
        <p:spPr>
          <a:xfrm>
            <a:off x="1099566" y="1486339"/>
            <a:ext cx="3969503" cy="5953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Euphemia" pitchFamily="34" charset="0"/>
              <a:buNone/>
            </a:pPr>
            <a:r>
              <a:rPr lang="pt-BR" sz="1800" dirty="0"/>
              <a:t>Desenvolvimento de Sistemas</a:t>
            </a: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A40F2AE1-D35B-45F6-B403-7441794FAC04}"/>
              </a:ext>
            </a:extLst>
          </p:cNvPr>
          <p:cNvGrpSpPr/>
          <p:nvPr/>
        </p:nvGrpSpPr>
        <p:grpSpPr>
          <a:xfrm>
            <a:off x="2629213" y="0"/>
            <a:ext cx="6913821" cy="620688"/>
            <a:chOff x="2629213" y="0"/>
            <a:chExt cx="6913821" cy="620688"/>
          </a:xfrm>
        </p:grpSpPr>
        <p:pic>
          <p:nvPicPr>
            <p:cNvPr id="15" name="Imagem 14">
              <a:extLst>
                <a:ext uri="{FF2B5EF4-FFF2-40B4-BE49-F238E27FC236}">
                  <a16:creationId xmlns:a16="http://schemas.microsoft.com/office/drawing/2014/main" id="{097D918F-CC2B-42C3-AA79-7935C824CE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44163" y="84791"/>
              <a:ext cx="1998871" cy="444194"/>
            </a:xfrm>
            <a:prstGeom prst="rect">
              <a:avLst/>
            </a:prstGeom>
          </p:spPr>
        </p:pic>
        <p:pic>
          <p:nvPicPr>
            <p:cNvPr id="16" name="Imagem 15" descr="Desenho com traços pretos em fundo branco e letras pretas em fundo branco&#10;&#10;Descrição gerada automaticamente com confiança média">
              <a:extLst>
                <a:ext uri="{FF2B5EF4-FFF2-40B4-BE49-F238E27FC236}">
                  <a16:creationId xmlns:a16="http://schemas.microsoft.com/office/drawing/2014/main" id="{2DC19A36-0916-4BCB-AB5D-E7A2A48E1E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48617" y="116632"/>
              <a:ext cx="673021" cy="4441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Imagem 16">
              <a:extLst>
                <a:ext uri="{FF2B5EF4-FFF2-40B4-BE49-F238E27FC236}">
                  <a16:creationId xmlns:a16="http://schemas.microsoft.com/office/drawing/2014/main" id="{68398C3D-8562-4F85-B4C6-86BBDA332CF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50549" y="116632"/>
              <a:ext cx="663678" cy="444194"/>
            </a:xfrm>
            <a:prstGeom prst="rect">
              <a:avLst/>
            </a:prstGeom>
          </p:spPr>
        </p:pic>
        <p:sp>
          <p:nvSpPr>
            <p:cNvPr id="18" name="Fluxograma: Processo 17">
              <a:extLst>
                <a:ext uri="{FF2B5EF4-FFF2-40B4-BE49-F238E27FC236}">
                  <a16:creationId xmlns:a16="http://schemas.microsoft.com/office/drawing/2014/main" id="{974A88B2-9B2F-46D6-AA77-38E50B00D999}"/>
                </a:ext>
              </a:extLst>
            </p:cNvPr>
            <p:cNvSpPr/>
            <p:nvPr/>
          </p:nvSpPr>
          <p:spPr>
            <a:xfrm>
              <a:off x="2629213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9" name="Fluxograma: Processo 18">
              <a:extLst>
                <a:ext uri="{FF2B5EF4-FFF2-40B4-BE49-F238E27FC236}">
                  <a16:creationId xmlns:a16="http://schemas.microsoft.com/office/drawing/2014/main" id="{D1B5B00C-0D47-4611-81F3-7F90BB12AA59}"/>
                </a:ext>
              </a:extLst>
            </p:cNvPr>
            <p:cNvSpPr/>
            <p:nvPr/>
          </p:nvSpPr>
          <p:spPr>
            <a:xfrm>
              <a:off x="4909367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20" name="Fluxograma: Processo 19">
              <a:extLst>
                <a:ext uri="{FF2B5EF4-FFF2-40B4-BE49-F238E27FC236}">
                  <a16:creationId xmlns:a16="http://schemas.microsoft.com/office/drawing/2014/main" id="{EC49A414-0956-4A38-BDDF-956BCCE78AEE}"/>
                </a:ext>
              </a:extLst>
            </p:cNvPr>
            <p:cNvSpPr/>
            <p:nvPr/>
          </p:nvSpPr>
          <p:spPr>
            <a:xfrm>
              <a:off x="7215168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sp>
        <p:nvSpPr>
          <p:cNvPr id="31" name="Espaço reservado para conteúdo 13">
            <a:extLst>
              <a:ext uri="{FF2B5EF4-FFF2-40B4-BE49-F238E27FC236}">
                <a16:creationId xmlns:a16="http://schemas.microsoft.com/office/drawing/2014/main" id="{FBD7822F-4EC0-3746-03BE-74B09C6C756A}"/>
              </a:ext>
            </a:extLst>
          </p:cNvPr>
          <p:cNvSpPr txBox="1">
            <a:spLocks/>
          </p:cNvSpPr>
          <p:nvPr/>
        </p:nvSpPr>
        <p:spPr>
          <a:xfrm>
            <a:off x="5782068" y="3608876"/>
            <a:ext cx="2110524" cy="2484636"/>
          </a:xfrm>
          <a:prstGeom prst="rect">
            <a:avLst/>
          </a:prstGeom>
        </p:spPr>
        <p:txBody>
          <a:bodyPr rtlCol="0"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sz="1600" dirty="0"/>
          </a:p>
          <a:p>
            <a:endParaRPr lang="pt-BR" sz="1600" dirty="0"/>
          </a:p>
          <a:p>
            <a:endParaRPr lang="pt-BR" sz="1600" dirty="0"/>
          </a:p>
          <a:p>
            <a:endParaRPr lang="pt-BR" sz="1600" dirty="0"/>
          </a:p>
          <a:p>
            <a:endParaRPr lang="pt-BR" sz="1600" dirty="0"/>
          </a:p>
          <a:p>
            <a:endParaRPr lang="pt-BR" sz="1600" dirty="0"/>
          </a:p>
        </p:txBody>
      </p:sp>
      <p:sp>
        <p:nvSpPr>
          <p:cNvPr id="33" name="Espaço reservado para conteúdo 13">
            <a:extLst>
              <a:ext uri="{FF2B5EF4-FFF2-40B4-BE49-F238E27FC236}">
                <a16:creationId xmlns:a16="http://schemas.microsoft.com/office/drawing/2014/main" id="{C15F3D64-4E79-7608-AAD5-DD135FEF37AE}"/>
              </a:ext>
            </a:extLst>
          </p:cNvPr>
          <p:cNvSpPr txBox="1">
            <a:spLocks/>
          </p:cNvSpPr>
          <p:nvPr/>
        </p:nvSpPr>
        <p:spPr>
          <a:xfrm>
            <a:off x="3262411" y="3585447"/>
            <a:ext cx="2110524" cy="2484636"/>
          </a:xfrm>
          <a:prstGeom prst="rect">
            <a:avLst/>
          </a:prstGeom>
        </p:spPr>
        <p:txBody>
          <a:bodyPr rtlCol="0"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sz="1600" dirty="0"/>
          </a:p>
          <a:p>
            <a:endParaRPr lang="pt-BR" sz="1600" dirty="0"/>
          </a:p>
          <a:p>
            <a:endParaRPr lang="pt-BR" sz="1600" dirty="0"/>
          </a:p>
          <a:p>
            <a:endParaRPr lang="pt-BR" sz="1600" dirty="0"/>
          </a:p>
        </p:txBody>
      </p:sp>
      <p:sp>
        <p:nvSpPr>
          <p:cNvPr id="22" name="Retângulo 1">
            <a:extLst>
              <a:ext uri="{FF2B5EF4-FFF2-40B4-BE49-F238E27FC236}">
                <a16:creationId xmlns:a16="http://schemas.microsoft.com/office/drawing/2014/main" id="{F604A8F3-7221-4E45-9955-77172F9EAFE4}"/>
              </a:ext>
            </a:extLst>
          </p:cNvPr>
          <p:cNvSpPr/>
          <p:nvPr/>
        </p:nvSpPr>
        <p:spPr>
          <a:xfrm>
            <a:off x="3063256" y="3090299"/>
            <a:ext cx="799146" cy="461665"/>
          </a:xfrm>
          <a:custGeom>
            <a:avLst/>
            <a:gdLst>
              <a:gd name="connsiteX0" fmla="*/ 0 w 4009724"/>
              <a:gd name="connsiteY0" fmla="*/ 0 h 3416320"/>
              <a:gd name="connsiteX1" fmla="*/ 4009724 w 4009724"/>
              <a:gd name="connsiteY1" fmla="*/ 0 h 3416320"/>
              <a:gd name="connsiteX2" fmla="*/ 4009724 w 4009724"/>
              <a:gd name="connsiteY2" fmla="*/ 3416320 h 3416320"/>
              <a:gd name="connsiteX3" fmla="*/ 0 w 4009724"/>
              <a:gd name="connsiteY3" fmla="*/ 3416320 h 3416320"/>
              <a:gd name="connsiteX4" fmla="*/ 0 w 4009724"/>
              <a:gd name="connsiteY4" fmla="*/ 0 h 3416320"/>
              <a:gd name="connsiteX0" fmla="*/ 0 w 4009724"/>
              <a:gd name="connsiteY0" fmla="*/ 0 h 3416320"/>
              <a:gd name="connsiteX1" fmla="*/ 4009724 w 4009724"/>
              <a:gd name="connsiteY1" fmla="*/ 0 h 3416320"/>
              <a:gd name="connsiteX2" fmla="*/ 682324 w 4009724"/>
              <a:gd name="connsiteY2" fmla="*/ 355620 h 3416320"/>
              <a:gd name="connsiteX3" fmla="*/ 0 w 4009724"/>
              <a:gd name="connsiteY3" fmla="*/ 3416320 h 3416320"/>
              <a:gd name="connsiteX4" fmla="*/ 0 w 4009724"/>
              <a:gd name="connsiteY4" fmla="*/ 0 h 3416320"/>
              <a:gd name="connsiteX0" fmla="*/ 0 w 682324"/>
              <a:gd name="connsiteY0" fmla="*/ 25400 h 3441720"/>
              <a:gd name="connsiteX1" fmla="*/ 656924 w 682324"/>
              <a:gd name="connsiteY1" fmla="*/ 0 h 3441720"/>
              <a:gd name="connsiteX2" fmla="*/ 682324 w 682324"/>
              <a:gd name="connsiteY2" fmla="*/ 381020 h 3441720"/>
              <a:gd name="connsiteX3" fmla="*/ 0 w 682324"/>
              <a:gd name="connsiteY3" fmla="*/ 3441720 h 3441720"/>
              <a:gd name="connsiteX4" fmla="*/ 0 w 682324"/>
              <a:gd name="connsiteY4" fmla="*/ 25400 h 3441720"/>
              <a:gd name="connsiteX0" fmla="*/ 0 w 682324"/>
              <a:gd name="connsiteY0" fmla="*/ 0 h 3416320"/>
              <a:gd name="connsiteX1" fmla="*/ 669624 w 682324"/>
              <a:gd name="connsiteY1" fmla="*/ 12700 h 3416320"/>
              <a:gd name="connsiteX2" fmla="*/ 682324 w 682324"/>
              <a:gd name="connsiteY2" fmla="*/ 355620 h 3416320"/>
              <a:gd name="connsiteX3" fmla="*/ 0 w 682324"/>
              <a:gd name="connsiteY3" fmla="*/ 3416320 h 3416320"/>
              <a:gd name="connsiteX4" fmla="*/ 0 w 682324"/>
              <a:gd name="connsiteY4" fmla="*/ 0 h 3416320"/>
              <a:gd name="connsiteX0" fmla="*/ 0 w 682324"/>
              <a:gd name="connsiteY0" fmla="*/ 0 h 419120"/>
              <a:gd name="connsiteX1" fmla="*/ 669624 w 682324"/>
              <a:gd name="connsiteY1" fmla="*/ 12700 h 419120"/>
              <a:gd name="connsiteX2" fmla="*/ 682324 w 682324"/>
              <a:gd name="connsiteY2" fmla="*/ 355620 h 419120"/>
              <a:gd name="connsiteX3" fmla="*/ 25400 w 682324"/>
              <a:gd name="connsiteY3" fmla="*/ 419120 h 419120"/>
              <a:gd name="connsiteX4" fmla="*/ 0 w 682324"/>
              <a:gd name="connsiteY4" fmla="*/ 0 h 419120"/>
              <a:gd name="connsiteX0" fmla="*/ 0 w 695024"/>
              <a:gd name="connsiteY0" fmla="*/ 0 h 431820"/>
              <a:gd name="connsiteX1" fmla="*/ 669624 w 695024"/>
              <a:gd name="connsiteY1" fmla="*/ 12700 h 431820"/>
              <a:gd name="connsiteX2" fmla="*/ 695024 w 695024"/>
              <a:gd name="connsiteY2" fmla="*/ 431820 h 431820"/>
              <a:gd name="connsiteX3" fmla="*/ 25400 w 695024"/>
              <a:gd name="connsiteY3" fmla="*/ 419120 h 431820"/>
              <a:gd name="connsiteX4" fmla="*/ 0 w 695024"/>
              <a:gd name="connsiteY4" fmla="*/ 0 h 431820"/>
              <a:gd name="connsiteX0" fmla="*/ 12700 w 707724"/>
              <a:gd name="connsiteY0" fmla="*/ 0 h 431820"/>
              <a:gd name="connsiteX1" fmla="*/ 682324 w 707724"/>
              <a:gd name="connsiteY1" fmla="*/ 12700 h 431820"/>
              <a:gd name="connsiteX2" fmla="*/ 707724 w 707724"/>
              <a:gd name="connsiteY2" fmla="*/ 431820 h 431820"/>
              <a:gd name="connsiteX3" fmla="*/ 0 w 707724"/>
              <a:gd name="connsiteY3" fmla="*/ 419120 h 431820"/>
              <a:gd name="connsiteX4" fmla="*/ 12700 w 707724"/>
              <a:gd name="connsiteY4" fmla="*/ 0 h 431820"/>
              <a:gd name="connsiteX0" fmla="*/ 12700 w 707724"/>
              <a:gd name="connsiteY0" fmla="*/ 0 h 431820"/>
              <a:gd name="connsiteX1" fmla="*/ 695024 w 707724"/>
              <a:gd name="connsiteY1" fmla="*/ 25400 h 431820"/>
              <a:gd name="connsiteX2" fmla="*/ 707724 w 707724"/>
              <a:gd name="connsiteY2" fmla="*/ 431820 h 431820"/>
              <a:gd name="connsiteX3" fmla="*/ 0 w 707724"/>
              <a:gd name="connsiteY3" fmla="*/ 419120 h 431820"/>
              <a:gd name="connsiteX4" fmla="*/ 12700 w 707724"/>
              <a:gd name="connsiteY4" fmla="*/ 0 h 431820"/>
              <a:gd name="connsiteX0" fmla="*/ 12700 w 707724"/>
              <a:gd name="connsiteY0" fmla="*/ 0 h 431820"/>
              <a:gd name="connsiteX1" fmla="*/ 389726 w 707724"/>
              <a:gd name="connsiteY1" fmla="*/ 1321 h 431820"/>
              <a:gd name="connsiteX2" fmla="*/ 707724 w 707724"/>
              <a:gd name="connsiteY2" fmla="*/ 431820 h 431820"/>
              <a:gd name="connsiteX3" fmla="*/ 0 w 707724"/>
              <a:gd name="connsiteY3" fmla="*/ 419120 h 431820"/>
              <a:gd name="connsiteX4" fmla="*/ 12700 w 707724"/>
              <a:gd name="connsiteY4" fmla="*/ 0 h 431820"/>
              <a:gd name="connsiteX0" fmla="*/ 12700 w 446948"/>
              <a:gd name="connsiteY0" fmla="*/ 0 h 425399"/>
              <a:gd name="connsiteX1" fmla="*/ 389726 w 446948"/>
              <a:gd name="connsiteY1" fmla="*/ 1321 h 425399"/>
              <a:gd name="connsiteX2" fmla="*/ 446948 w 446948"/>
              <a:gd name="connsiteY2" fmla="*/ 425399 h 425399"/>
              <a:gd name="connsiteX3" fmla="*/ 0 w 446948"/>
              <a:gd name="connsiteY3" fmla="*/ 419120 h 425399"/>
              <a:gd name="connsiteX4" fmla="*/ 12700 w 446948"/>
              <a:gd name="connsiteY4" fmla="*/ 0 h 425399"/>
              <a:gd name="connsiteX0" fmla="*/ 12700 w 440588"/>
              <a:gd name="connsiteY0" fmla="*/ 0 h 420583"/>
              <a:gd name="connsiteX1" fmla="*/ 389726 w 440588"/>
              <a:gd name="connsiteY1" fmla="*/ 1321 h 420583"/>
              <a:gd name="connsiteX2" fmla="*/ 440588 w 440588"/>
              <a:gd name="connsiteY2" fmla="*/ 420583 h 420583"/>
              <a:gd name="connsiteX3" fmla="*/ 0 w 440588"/>
              <a:gd name="connsiteY3" fmla="*/ 419120 h 420583"/>
              <a:gd name="connsiteX4" fmla="*/ 12700 w 440588"/>
              <a:gd name="connsiteY4" fmla="*/ 0 h 4205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0588" h="420583">
                <a:moveTo>
                  <a:pt x="12700" y="0"/>
                </a:moveTo>
                <a:lnTo>
                  <a:pt x="389726" y="1321"/>
                </a:lnTo>
                <a:lnTo>
                  <a:pt x="440588" y="420583"/>
                </a:lnTo>
                <a:lnTo>
                  <a:pt x="0" y="419120"/>
                </a:lnTo>
                <a:lnTo>
                  <a:pt x="12700" y="0"/>
                </a:lnTo>
                <a:close/>
              </a:path>
            </a:pathLst>
          </a:custGeom>
        </p:spPr>
        <p:txBody>
          <a:bodyPr wrap="square">
            <a:spAutoFit/>
          </a:bodyPr>
          <a:lstStyle/>
          <a:p>
            <a:r>
              <a:rPr lang="pt-BR" sz="2400" dirty="0"/>
              <a:t>Raí:</a:t>
            </a:r>
          </a:p>
        </p:txBody>
      </p:sp>
      <p:sp>
        <p:nvSpPr>
          <p:cNvPr id="23" name="Retângulo 2">
            <a:extLst>
              <a:ext uri="{FF2B5EF4-FFF2-40B4-BE49-F238E27FC236}">
                <a16:creationId xmlns:a16="http://schemas.microsoft.com/office/drawing/2014/main" id="{42DA7805-F0C1-4C5F-8253-B4DD99AB39B6}"/>
              </a:ext>
            </a:extLst>
          </p:cNvPr>
          <p:cNvSpPr/>
          <p:nvPr/>
        </p:nvSpPr>
        <p:spPr>
          <a:xfrm>
            <a:off x="5086344" y="3090299"/>
            <a:ext cx="1292526" cy="461665"/>
          </a:xfrm>
          <a:custGeom>
            <a:avLst/>
            <a:gdLst>
              <a:gd name="connsiteX0" fmla="*/ 0 w 1132192"/>
              <a:gd name="connsiteY0" fmla="*/ 0 h 4893647"/>
              <a:gd name="connsiteX1" fmla="*/ 1132192 w 1132192"/>
              <a:gd name="connsiteY1" fmla="*/ 0 h 4893647"/>
              <a:gd name="connsiteX2" fmla="*/ 1132192 w 1132192"/>
              <a:gd name="connsiteY2" fmla="*/ 4893647 h 4893647"/>
              <a:gd name="connsiteX3" fmla="*/ 0 w 1132192"/>
              <a:gd name="connsiteY3" fmla="*/ 4893647 h 4893647"/>
              <a:gd name="connsiteX4" fmla="*/ 0 w 1132192"/>
              <a:gd name="connsiteY4" fmla="*/ 0 h 4893647"/>
              <a:gd name="connsiteX0" fmla="*/ 0 w 1132192"/>
              <a:gd name="connsiteY0" fmla="*/ 0 h 4893647"/>
              <a:gd name="connsiteX1" fmla="*/ 1132192 w 1132192"/>
              <a:gd name="connsiteY1" fmla="*/ 0 h 4893647"/>
              <a:gd name="connsiteX2" fmla="*/ 1132192 w 1132192"/>
              <a:gd name="connsiteY2" fmla="*/ 1807547 h 4893647"/>
              <a:gd name="connsiteX3" fmla="*/ 0 w 1132192"/>
              <a:gd name="connsiteY3" fmla="*/ 4893647 h 4893647"/>
              <a:gd name="connsiteX4" fmla="*/ 0 w 1132192"/>
              <a:gd name="connsiteY4" fmla="*/ 0 h 4893647"/>
              <a:gd name="connsiteX0" fmla="*/ 0 w 1132192"/>
              <a:gd name="connsiteY0" fmla="*/ 0 h 1807547"/>
              <a:gd name="connsiteX1" fmla="*/ 1132192 w 1132192"/>
              <a:gd name="connsiteY1" fmla="*/ 0 h 1807547"/>
              <a:gd name="connsiteX2" fmla="*/ 1132192 w 1132192"/>
              <a:gd name="connsiteY2" fmla="*/ 1807547 h 1807547"/>
              <a:gd name="connsiteX3" fmla="*/ 0 w 1132192"/>
              <a:gd name="connsiteY3" fmla="*/ 1807547 h 1807547"/>
              <a:gd name="connsiteX4" fmla="*/ 0 w 1132192"/>
              <a:gd name="connsiteY4" fmla="*/ 0 h 1807547"/>
              <a:gd name="connsiteX0" fmla="*/ 0 w 1132192"/>
              <a:gd name="connsiteY0" fmla="*/ 0 h 1807547"/>
              <a:gd name="connsiteX1" fmla="*/ 1132192 w 1132192"/>
              <a:gd name="connsiteY1" fmla="*/ 0 h 1807547"/>
              <a:gd name="connsiteX2" fmla="*/ 1132192 w 1132192"/>
              <a:gd name="connsiteY2" fmla="*/ 1807547 h 1807547"/>
              <a:gd name="connsiteX3" fmla="*/ 0 w 1132192"/>
              <a:gd name="connsiteY3" fmla="*/ 1807547 h 1807547"/>
              <a:gd name="connsiteX4" fmla="*/ 0 w 1132192"/>
              <a:gd name="connsiteY4" fmla="*/ 0 h 1807547"/>
              <a:gd name="connsiteX0" fmla="*/ 0 w 1132192"/>
              <a:gd name="connsiteY0" fmla="*/ 0 h 1807547"/>
              <a:gd name="connsiteX1" fmla="*/ 1132192 w 1132192"/>
              <a:gd name="connsiteY1" fmla="*/ 0 h 1807547"/>
              <a:gd name="connsiteX2" fmla="*/ 1132192 w 1132192"/>
              <a:gd name="connsiteY2" fmla="*/ 1807547 h 1807547"/>
              <a:gd name="connsiteX3" fmla="*/ 0 w 1132192"/>
              <a:gd name="connsiteY3" fmla="*/ 1807547 h 1807547"/>
              <a:gd name="connsiteX4" fmla="*/ 0 w 1132192"/>
              <a:gd name="connsiteY4" fmla="*/ 0 h 18075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2192" h="1807547">
                <a:moveTo>
                  <a:pt x="0" y="0"/>
                </a:moveTo>
                <a:lnTo>
                  <a:pt x="1132192" y="0"/>
                </a:lnTo>
                <a:lnTo>
                  <a:pt x="1132192" y="1807547"/>
                </a:lnTo>
                <a:lnTo>
                  <a:pt x="0" y="1807547"/>
                </a:lnTo>
                <a:cubicBezTo>
                  <a:pt x="12700" y="912931"/>
                  <a:pt x="0" y="602516"/>
                  <a:pt x="0" y="0"/>
                </a:cubicBezTo>
                <a:close/>
              </a:path>
            </a:pathLst>
          </a:custGeom>
        </p:spPr>
        <p:txBody>
          <a:bodyPr wrap="square">
            <a:spAutoFit/>
          </a:bodyPr>
          <a:lstStyle/>
          <a:p>
            <a:r>
              <a:rPr lang="pt-BR" sz="2400" dirty="0"/>
              <a:t>Flavio: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ADF4718B-A55F-4A36-8DBF-8791002ADC07}"/>
              </a:ext>
            </a:extLst>
          </p:cNvPr>
          <p:cNvSpPr/>
          <p:nvPr/>
        </p:nvSpPr>
        <p:spPr>
          <a:xfrm>
            <a:off x="7426218" y="3090299"/>
            <a:ext cx="99685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 dirty="0"/>
              <a:t>Julia:</a:t>
            </a:r>
          </a:p>
        </p:txBody>
      </p:sp>
      <p:sp>
        <p:nvSpPr>
          <p:cNvPr id="34" name="Espaço reservado para conteúdo 13">
            <a:extLst>
              <a:ext uri="{FF2B5EF4-FFF2-40B4-BE49-F238E27FC236}">
                <a16:creationId xmlns:a16="http://schemas.microsoft.com/office/drawing/2014/main" id="{10B00366-244E-4F6B-B1A4-2F14E2CC9967}"/>
              </a:ext>
            </a:extLst>
          </p:cNvPr>
          <p:cNvSpPr txBox="1">
            <a:spLocks/>
          </p:cNvSpPr>
          <p:nvPr/>
        </p:nvSpPr>
        <p:spPr>
          <a:xfrm>
            <a:off x="3064111" y="3613353"/>
            <a:ext cx="2088232" cy="1543839"/>
          </a:xfrm>
          <a:prstGeom prst="rect">
            <a:avLst/>
          </a:prstGeom>
        </p:spPr>
        <p:txBody>
          <a:bodyPr rtlCol="0"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600" dirty="0"/>
              <a:t>Documentação</a:t>
            </a:r>
          </a:p>
          <a:p>
            <a:r>
              <a:rPr lang="pt-BR" sz="1600" dirty="0"/>
              <a:t>PowerPoint</a:t>
            </a:r>
          </a:p>
          <a:p>
            <a:r>
              <a:rPr lang="pt-BR" sz="1600" dirty="0" err="1"/>
              <a:t>Canva</a:t>
            </a:r>
            <a:endParaRPr lang="pt-BR" sz="1600" dirty="0"/>
          </a:p>
          <a:p>
            <a:r>
              <a:rPr lang="pt-BR" sz="1600" dirty="0"/>
              <a:t>Draw.io</a:t>
            </a:r>
          </a:p>
          <a:p>
            <a:endParaRPr lang="pt-BR" sz="1600" dirty="0"/>
          </a:p>
          <a:p>
            <a:endParaRPr lang="pt-BR" sz="1600" dirty="0"/>
          </a:p>
        </p:txBody>
      </p:sp>
      <p:sp>
        <p:nvSpPr>
          <p:cNvPr id="35" name="Espaço reservado para conteúdo 13">
            <a:extLst>
              <a:ext uri="{FF2B5EF4-FFF2-40B4-BE49-F238E27FC236}">
                <a16:creationId xmlns:a16="http://schemas.microsoft.com/office/drawing/2014/main" id="{E1D6C9AE-2613-425D-9019-758271288A38}"/>
              </a:ext>
            </a:extLst>
          </p:cNvPr>
          <p:cNvSpPr txBox="1">
            <a:spLocks/>
          </p:cNvSpPr>
          <p:nvPr/>
        </p:nvSpPr>
        <p:spPr>
          <a:xfrm>
            <a:off x="7440272" y="3623660"/>
            <a:ext cx="2110524" cy="1338847"/>
          </a:xfrm>
          <a:prstGeom prst="rect">
            <a:avLst/>
          </a:prstGeom>
        </p:spPr>
        <p:txBody>
          <a:bodyPr rtlCol="0"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600" dirty="0"/>
              <a:t>Documentação</a:t>
            </a:r>
          </a:p>
          <a:p>
            <a:r>
              <a:rPr lang="pt-BR" sz="1600" dirty="0"/>
              <a:t>Analise de dados</a:t>
            </a:r>
          </a:p>
          <a:p>
            <a:r>
              <a:rPr lang="pt-BR" sz="1600" dirty="0"/>
              <a:t>Gerenciamento de projetos</a:t>
            </a:r>
          </a:p>
          <a:p>
            <a:endParaRPr lang="pt-BR" sz="1600" u="sng" dirty="0"/>
          </a:p>
          <a:p>
            <a:endParaRPr lang="pt-BR" sz="1600" dirty="0"/>
          </a:p>
          <a:p>
            <a:endParaRPr lang="pt-BR" sz="1600" dirty="0"/>
          </a:p>
          <a:p>
            <a:endParaRPr lang="pt-BR" sz="1600" dirty="0"/>
          </a:p>
        </p:txBody>
      </p:sp>
      <p:sp>
        <p:nvSpPr>
          <p:cNvPr id="37" name="Espaço reservado para conteúdo 13">
            <a:extLst>
              <a:ext uri="{FF2B5EF4-FFF2-40B4-BE49-F238E27FC236}">
                <a16:creationId xmlns:a16="http://schemas.microsoft.com/office/drawing/2014/main" id="{C068372C-3C19-4F69-AFDF-E6FCC824B9F6}"/>
              </a:ext>
            </a:extLst>
          </p:cNvPr>
          <p:cNvSpPr txBox="1">
            <a:spLocks/>
          </p:cNvSpPr>
          <p:nvPr/>
        </p:nvSpPr>
        <p:spPr>
          <a:xfrm>
            <a:off x="5086344" y="3623659"/>
            <a:ext cx="2110524" cy="1432099"/>
          </a:xfrm>
          <a:prstGeom prst="rect">
            <a:avLst/>
          </a:prstGeom>
        </p:spPr>
        <p:txBody>
          <a:bodyPr rtlCol="0"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600" dirty="0"/>
              <a:t>Documentação</a:t>
            </a:r>
          </a:p>
          <a:p>
            <a:r>
              <a:rPr lang="pt-BR" sz="1600" dirty="0"/>
              <a:t>PowerPoint </a:t>
            </a:r>
          </a:p>
          <a:p>
            <a:r>
              <a:rPr lang="pt-BR" sz="1600" dirty="0"/>
              <a:t>Canva</a:t>
            </a:r>
          </a:p>
          <a:p>
            <a:r>
              <a:rPr lang="pt-BR" sz="1600" dirty="0"/>
              <a:t>Figma</a:t>
            </a:r>
          </a:p>
        </p:txBody>
      </p:sp>
      <p:pic>
        <p:nvPicPr>
          <p:cNvPr id="26" name="Imagem 25">
            <a:extLst>
              <a:ext uri="{FF2B5EF4-FFF2-40B4-BE49-F238E27FC236}">
                <a16:creationId xmlns:a16="http://schemas.microsoft.com/office/drawing/2014/main" id="{382C22F1-D4EE-4B71-9043-C6F7AB3FC3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256" y="96696"/>
            <a:ext cx="1514156" cy="523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121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Rodapé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BR" noProof="0" dirty="0"/>
              <a:t>Equipe_03</a:t>
            </a: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DC1BBB0-96F0-4077-A278-0F3FB5C104D3}" type="slidenum">
              <a:rPr lang="pt-BR" noProof="0" smtClean="0"/>
              <a:pPr rtl="0"/>
              <a:t>35</a:t>
            </a:fld>
            <a:endParaRPr lang="pt-BR" noProof="0" dirty="0"/>
          </a:p>
        </p:txBody>
      </p:sp>
      <p:sp>
        <p:nvSpPr>
          <p:cNvPr id="5" name="Espaço reservado para conteúdo 13">
            <a:extLst>
              <a:ext uri="{FF2B5EF4-FFF2-40B4-BE49-F238E27FC236}">
                <a16:creationId xmlns:a16="http://schemas.microsoft.com/office/drawing/2014/main" id="{68EA1406-9D0A-F316-CA4B-D6FA46DEDD20}"/>
              </a:ext>
            </a:extLst>
          </p:cNvPr>
          <p:cNvSpPr txBox="1">
            <a:spLocks/>
          </p:cNvSpPr>
          <p:nvPr/>
        </p:nvSpPr>
        <p:spPr>
          <a:xfrm>
            <a:off x="1125861" y="2237286"/>
            <a:ext cx="1728192" cy="327618"/>
          </a:xfrm>
          <a:prstGeom prst="rect">
            <a:avLst/>
          </a:prstGeom>
        </p:spPr>
        <p:txBody>
          <a:bodyPr rtlCol="0"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000" b="1" dirty="0">
                <a:solidFill>
                  <a:schemeClr val="tx2">
                    <a:lumMod val="85000"/>
                    <a:lumOff val="15000"/>
                  </a:schemeClr>
                </a:solidFill>
              </a:rPr>
              <a:t>Conclusão</a:t>
            </a: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306CF383-86BE-4807-90B1-358A5BECE709}"/>
              </a:ext>
            </a:extLst>
          </p:cNvPr>
          <p:cNvSpPr txBox="1">
            <a:spLocks/>
          </p:cNvSpPr>
          <p:nvPr/>
        </p:nvSpPr>
        <p:spPr>
          <a:xfrm>
            <a:off x="1053852" y="836712"/>
            <a:ext cx="6397054" cy="7312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400" b="1" dirty="0"/>
              <a:t>Trabalho de Conclusão de Curso</a:t>
            </a:r>
          </a:p>
        </p:txBody>
      </p:sp>
      <p:sp>
        <p:nvSpPr>
          <p:cNvPr id="13" name="Subtítulo 2">
            <a:extLst>
              <a:ext uri="{FF2B5EF4-FFF2-40B4-BE49-F238E27FC236}">
                <a16:creationId xmlns:a16="http://schemas.microsoft.com/office/drawing/2014/main" id="{00B1AEDC-7D96-4DE1-B8DF-DCD9B40C88B7}"/>
              </a:ext>
            </a:extLst>
          </p:cNvPr>
          <p:cNvSpPr txBox="1">
            <a:spLocks/>
          </p:cNvSpPr>
          <p:nvPr/>
        </p:nvSpPr>
        <p:spPr>
          <a:xfrm>
            <a:off x="1099566" y="1486339"/>
            <a:ext cx="3969503" cy="5953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Euphemia" pitchFamily="34" charset="0"/>
              <a:buNone/>
            </a:pPr>
            <a:r>
              <a:rPr lang="pt-BR" sz="1800" dirty="0"/>
              <a:t>Desenvolvimento de Sistemas</a:t>
            </a: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A40F2AE1-D35B-45F6-B403-7441794FAC04}"/>
              </a:ext>
            </a:extLst>
          </p:cNvPr>
          <p:cNvGrpSpPr/>
          <p:nvPr/>
        </p:nvGrpSpPr>
        <p:grpSpPr>
          <a:xfrm>
            <a:off x="2629213" y="0"/>
            <a:ext cx="6913821" cy="620688"/>
            <a:chOff x="2629213" y="0"/>
            <a:chExt cx="6913821" cy="620688"/>
          </a:xfrm>
        </p:grpSpPr>
        <p:pic>
          <p:nvPicPr>
            <p:cNvPr id="15" name="Imagem 14">
              <a:extLst>
                <a:ext uri="{FF2B5EF4-FFF2-40B4-BE49-F238E27FC236}">
                  <a16:creationId xmlns:a16="http://schemas.microsoft.com/office/drawing/2014/main" id="{097D918F-CC2B-42C3-AA79-7935C824CE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44163" y="84791"/>
              <a:ext cx="1998871" cy="444194"/>
            </a:xfrm>
            <a:prstGeom prst="rect">
              <a:avLst/>
            </a:prstGeom>
          </p:spPr>
        </p:pic>
        <p:pic>
          <p:nvPicPr>
            <p:cNvPr id="16" name="Imagem 15" descr="Desenho com traços pretos em fundo branco e letras pretas em fundo branco&#10;&#10;Descrição gerada automaticamente com confiança média">
              <a:extLst>
                <a:ext uri="{FF2B5EF4-FFF2-40B4-BE49-F238E27FC236}">
                  <a16:creationId xmlns:a16="http://schemas.microsoft.com/office/drawing/2014/main" id="{2DC19A36-0916-4BCB-AB5D-E7A2A48E1E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48617" y="116632"/>
              <a:ext cx="673021" cy="4441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Imagem 16">
              <a:extLst>
                <a:ext uri="{FF2B5EF4-FFF2-40B4-BE49-F238E27FC236}">
                  <a16:creationId xmlns:a16="http://schemas.microsoft.com/office/drawing/2014/main" id="{68398C3D-8562-4F85-B4C6-86BBDA332CF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50549" y="116632"/>
              <a:ext cx="663678" cy="444194"/>
            </a:xfrm>
            <a:prstGeom prst="rect">
              <a:avLst/>
            </a:prstGeom>
          </p:spPr>
        </p:pic>
        <p:sp>
          <p:nvSpPr>
            <p:cNvPr id="18" name="Fluxograma: Processo 17">
              <a:extLst>
                <a:ext uri="{FF2B5EF4-FFF2-40B4-BE49-F238E27FC236}">
                  <a16:creationId xmlns:a16="http://schemas.microsoft.com/office/drawing/2014/main" id="{974A88B2-9B2F-46D6-AA77-38E50B00D999}"/>
                </a:ext>
              </a:extLst>
            </p:cNvPr>
            <p:cNvSpPr/>
            <p:nvPr/>
          </p:nvSpPr>
          <p:spPr>
            <a:xfrm>
              <a:off x="2629213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9" name="Fluxograma: Processo 18">
              <a:extLst>
                <a:ext uri="{FF2B5EF4-FFF2-40B4-BE49-F238E27FC236}">
                  <a16:creationId xmlns:a16="http://schemas.microsoft.com/office/drawing/2014/main" id="{D1B5B00C-0D47-4611-81F3-7F90BB12AA59}"/>
                </a:ext>
              </a:extLst>
            </p:cNvPr>
            <p:cNvSpPr/>
            <p:nvPr/>
          </p:nvSpPr>
          <p:spPr>
            <a:xfrm>
              <a:off x="4909367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20" name="Fluxograma: Processo 19">
              <a:extLst>
                <a:ext uri="{FF2B5EF4-FFF2-40B4-BE49-F238E27FC236}">
                  <a16:creationId xmlns:a16="http://schemas.microsoft.com/office/drawing/2014/main" id="{EC49A414-0956-4A38-BDDF-956BCCE78AEE}"/>
                </a:ext>
              </a:extLst>
            </p:cNvPr>
            <p:cNvSpPr/>
            <p:nvPr/>
          </p:nvSpPr>
          <p:spPr>
            <a:xfrm>
              <a:off x="7215168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pic>
        <p:nvPicPr>
          <p:cNvPr id="2" name="Picture 4" descr="mulher precisa de ajuda. menina e inscrição me ajudam. pessoa com estresse.  personagem de vetor em estilo cartoon. 4899916 Vetor no Vecteezy">
            <a:extLst>
              <a:ext uri="{FF2B5EF4-FFF2-40B4-BE49-F238E27FC236}">
                <a16:creationId xmlns:a16="http://schemas.microsoft.com/office/drawing/2014/main" id="{43B65FDA-2F22-E391-5371-F32425C678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4979" y="2989687"/>
            <a:ext cx="1935201" cy="1935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8D53116E-0C13-051C-9933-7005097161AF}"/>
              </a:ext>
            </a:extLst>
          </p:cNvPr>
          <p:cNvSpPr/>
          <p:nvPr/>
        </p:nvSpPr>
        <p:spPr>
          <a:xfrm>
            <a:off x="8783174" y="4904670"/>
            <a:ext cx="151881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800" dirty="0">
                <a:solidFill>
                  <a:schemeClr val="accent6">
                    <a:lumMod val="50000"/>
                  </a:schemeClr>
                </a:solidFill>
                <a:latin typeface="Quicksand-Regular"/>
              </a:rPr>
              <a:t>Foto: https://pt.vecteezy.com/</a:t>
            </a:r>
          </a:p>
          <a:p>
            <a:endParaRPr lang="pt-BR" sz="8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" name="Espaço reservado para conteúdo 13">
            <a:extLst>
              <a:ext uri="{FF2B5EF4-FFF2-40B4-BE49-F238E27FC236}">
                <a16:creationId xmlns:a16="http://schemas.microsoft.com/office/drawing/2014/main" id="{952E9970-C775-2181-D59E-06EFE522E654}"/>
              </a:ext>
            </a:extLst>
          </p:cNvPr>
          <p:cNvSpPr txBox="1">
            <a:spLocks/>
          </p:cNvSpPr>
          <p:nvPr/>
        </p:nvSpPr>
        <p:spPr>
          <a:xfrm>
            <a:off x="1125862" y="3064937"/>
            <a:ext cx="5470072" cy="1711412"/>
          </a:xfrm>
          <a:prstGeom prst="rect">
            <a:avLst/>
          </a:prstGeom>
        </p:spPr>
        <p:txBody>
          <a:bodyPr rtlCol="0"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sz="1600" dirty="0"/>
              <a:t>Concluímos que esta aplicação tem grande potencial para melhorar significativamente a qualidade de vida dos idosos, proporcionando uma gestão mais eficaz e segura sobre sua saúde, o que pode reduzir interações prejudiciais e promover uma melhora em relação a tratamento, impactando positivamente a saúde e o bem-estar dessa população tão esquecida e deixada de lado.</a:t>
            </a:r>
          </a:p>
        </p:txBody>
      </p:sp>
      <p:pic>
        <p:nvPicPr>
          <p:cNvPr id="22" name="Imagem 21">
            <a:extLst>
              <a:ext uri="{FF2B5EF4-FFF2-40B4-BE49-F238E27FC236}">
                <a16:creationId xmlns:a16="http://schemas.microsoft.com/office/drawing/2014/main" id="{D8BA4431-31DC-4ABC-9352-FC8B19EF1CB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4256" y="96696"/>
            <a:ext cx="1514156" cy="523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839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Rodapé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BR" noProof="0" dirty="0"/>
              <a:t>Equipe_03</a:t>
            </a: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DC1BBB0-96F0-4077-A278-0F3FB5C104D3}" type="slidenum">
              <a:rPr lang="pt-BR" noProof="0" smtClean="0"/>
              <a:pPr rtl="0"/>
              <a:t>36</a:t>
            </a:fld>
            <a:endParaRPr lang="pt-BR" noProof="0" dirty="0"/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306CF383-86BE-4807-90B1-358A5BECE709}"/>
              </a:ext>
            </a:extLst>
          </p:cNvPr>
          <p:cNvSpPr txBox="1">
            <a:spLocks/>
          </p:cNvSpPr>
          <p:nvPr/>
        </p:nvSpPr>
        <p:spPr>
          <a:xfrm>
            <a:off x="1053852" y="836712"/>
            <a:ext cx="6397054" cy="7312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400" b="1" dirty="0"/>
              <a:t>Trabalho de Conclusão de Curso</a:t>
            </a:r>
          </a:p>
        </p:txBody>
      </p:sp>
      <p:sp>
        <p:nvSpPr>
          <p:cNvPr id="13" name="Subtítulo 2">
            <a:extLst>
              <a:ext uri="{FF2B5EF4-FFF2-40B4-BE49-F238E27FC236}">
                <a16:creationId xmlns:a16="http://schemas.microsoft.com/office/drawing/2014/main" id="{00B1AEDC-7D96-4DE1-B8DF-DCD9B40C88B7}"/>
              </a:ext>
            </a:extLst>
          </p:cNvPr>
          <p:cNvSpPr txBox="1">
            <a:spLocks/>
          </p:cNvSpPr>
          <p:nvPr/>
        </p:nvSpPr>
        <p:spPr>
          <a:xfrm>
            <a:off x="1099566" y="1486339"/>
            <a:ext cx="3969503" cy="5953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Euphemia" pitchFamily="34" charset="0"/>
              <a:buNone/>
            </a:pPr>
            <a:r>
              <a:rPr lang="pt-BR" sz="1800" dirty="0"/>
              <a:t>Desenvolvimento de Sistemas</a:t>
            </a: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A40F2AE1-D35B-45F6-B403-7441794FAC04}"/>
              </a:ext>
            </a:extLst>
          </p:cNvPr>
          <p:cNvGrpSpPr/>
          <p:nvPr/>
        </p:nvGrpSpPr>
        <p:grpSpPr>
          <a:xfrm>
            <a:off x="2629213" y="0"/>
            <a:ext cx="6913821" cy="620688"/>
            <a:chOff x="2629213" y="0"/>
            <a:chExt cx="6913821" cy="620688"/>
          </a:xfrm>
        </p:grpSpPr>
        <p:pic>
          <p:nvPicPr>
            <p:cNvPr id="15" name="Imagem 14">
              <a:extLst>
                <a:ext uri="{FF2B5EF4-FFF2-40B4-BE49-F238E27FC236}">
                  <a16:creationId xmlns:a16="http://schemas.microsoft.com/office/drawing/2014/main" id="{097D918F-CC2B-42C3-AA79-7935C824CE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44163" y="84791"/>
              <a:ext cx="1998871" cy="444194"/>
            </a:xfrm>
            <a:prstGeom prst="rect">
              <a:avLst/>
            </a:prstGeom>
          </p:spPr>
        </p:pic>
        <p:pic>
          <p:nvPicPr>
            <p:cNvPr id="16" name="Imagem 15" descr="Desenho com traços pretos em fundo branco e letras pretas em fundo branco&#10;&#10;Descrição gerada automaticamente com confiança média">
              <a:extLst>
                <a:ext uri="{FF2B5EF4-FFF2-40B4-BE49-F238E27FC236}">
                  <a16:creationId xmlns:a16="http://schemas.microsoft.com/office/drawing/2014/main" id="{2DC19A36-0916-4BCB-AB5D-E7A2A48E1E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48617" y="116632"/>
              <a:ext cx="673021" cy="4441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Imagem 16">
              <a:extLst>
                <a:ext uri="{FF2B5EF4-FFF2-40B4-BE49-F238E27FC236}">
                  <a16:creationId xmlns:a16="http://schemas.microsoft.com/office/drawing/2014/main" id="{68398C3D-8562-4F85-B4C6-86BBDA332CF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50549" y="116632"/>
              <a:ext cx="663678" cy="444194"/>
            </a:xfrm>
            <a:prstGeom prst="rect">
              <a:avLst/>
            </a:prstGeom>
          </p:spPr>
        </p:pic>
        <p:sp>
          <p:nvSpPr>
            <p:cNvPr id="18" name="Fluxograma: Processo 17">
              <a:extLst>
                <a:ext uri="{FF2B5EF4-FFF2-40B4-BE49-F238E27FC236}">
                  <a16:creationId xmlns:a16="http://schemas.microsoft.com/office/drawing/2014/main" id="{974A88B2-9B2F-46D6-AA77-38E50B00D999}"/>
                </a:ext>
              </a:extLst>
            </p:cNvPr>
            <p:cNvSpPr/>
            <p:nvPr/>
          </p:nvSpPr>
          <p:spPr>
            <a:xfrm>
              <a:off x="2629213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9" name="Fluxograma: Processo 18">
              <a:extLst>
                <a:ext uri="{FF2B5EF4-FFF2-40B4-BE49-F238E27FC236}">
                  <a16:creationId xmlns:a16="http://schemas.microsoft.com/office/drawing/2014/main" id="{D1B5B00C-0D47-4611-81F3-7F90BB12AA59}"/>
                </a:ext>
              </a:extLst>
            </p:cNvPr>
            <p:cNvSpPr/>
            <p:nvPr/>
          </p:nvSpPr>
          <p:spPr>
            <a:xfrm>
              <a:off x="4909367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20" name="Fluxograma: Processo 19">
              <a:extLst>
                <a:ext uri="{FF2B5EF4-FFF2-40B4-BE49-F238E27FC236}">
                  <a16:creationId xmlns:a16="http://schemas.microsoft.com/office/drawing/2014/main" id="{EC49A414-0956-4A38-BDDF-956BCCE78AEE}"/>
                </a:ext>
              </a:extLst>
            </p:cNvPr>
            <p:cNvSpPr/>
            <p:nvPr/>
          </p:nvSpPr>
          <p:spPr>
            <a:xfrm>
              <a:off x="7215168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sp>
        <p:nvSpPr>
          <p:cNvPr id="6" name="Retângulo 5">
            <a:extLst>
              <a:ext uri="{FF2B5EF4-FFF2-40B4-BE49-F238E27FC236}">
                <a16:creationId xmlns:a16="http://schemas.microsoft.com/office/drawing/2014/main" id="{ACCC0088-6890-4E0D-A00A-2BAB71F4493E}"/>
              </a:ext>
            </a:extLst>
          </p:cNvPr>
          <p:cNvSpPr/>
          <p:nvPr/>
        </p:nvSpPr>
        <p:spPr>
          <a:xfrm>
            <a:off x="4359042" y="2405035"/>
            <a:ext cx="25423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dirty="0">
                <a:solidFill>
                  <a:schemeClr val="tx2">
                    <a:lumMod val="85000"/>
                    <a:lumOff val="15000"/>
                  </a:schemeClr>
                </a:solidFill>
              </a:rPr>
              <a:t>Isso é tudo pessoal !!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792FB99E-A53B-44AB-9DD6-DA3339B65813}"/>
              </a:ext>
            </a:extLst>
          </p:cNvPr>
          <p:cNvSpPr/>
          <p:nvPr/>
        </p:nvSpPr>
        <p:spPr>
          <a:xfrm>
            <a:off x="4871581" y="2655850"/>
            <a:ext cx="14980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>
                <a:solidFill>
                  <a:schemeClr val="tx2">
                    <a:lumMod val="85000"/>
                    <a:lumOff val="15000"/>
                  </a:schemeClr>
                </a:solidFill>
              </a:rPr>
              <a:t>The end... </a:t>
            </a:r>
            <a:r>
              <a:rPr lang="pt-BR" dirty="0">
                <a:solidFill>
                  <a:schemeClr val="tx2">
                    <a:lumMod val="85000"/>
                    <a:lumOff val="15000"/>
                  </a:schemeClr>
                </a:solidFill>
                <a:sym typeface="Wingdings" panose="05000000000000000000" pitchFamily="2" charset="2"/>
              </a:rPr>
              <a:t></a:t>
            </a:r>
            <a:endParaRPr lang="pt-BR" dirty="0">
              <a:solidFill>
                <a:schemeClr val="tx2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10697A88-169E-4BE1-8974-98DF03A4B540}"/>
              </a:ext>
            </a:extLst>
          </p:cNvPr>
          <p:cNvSpPr/>
          <p:nvPr/>
        </p:nvSpPr>
        <p:spPr>
          <a:xfrm>
            <a:off x="5383608" y="3244334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/>
              <a:t> 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AC64D727-F88A-42AD-919A-26D398F9D2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57908" y="3097749"/>
            <a:ext cx="8784976" cy="3198739"/>
          </a:xfrm>
          <a:prstGeom prst="rect">
            <a:avLst/>
          </a:prstGeom>
        </p:spPr>
      </p:pic>
      <p:pic>
        <p:nvPicPr>
          <p:cNvPr id="22" name="Imagem 21">
            <a:extLst>
              <a:ext uri="{FF2B5EF4-FFF2-40B4-BE49-F238E27FC236}">
                <a16:creationId xmlns:a16="http://schemas.microsoft.com/office/drawing/2014/main" id="{37983112-21B3-4683-A413-45F0124EF5D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4256" y="96696"/>
            <a:ext cx="1514156" cy="523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608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Matemática 16:9">
  <a:themeElements>
    <a:clrScheme name="Math_16x9">
      <a:dk1>
        <a:srgbClr val="465562"/>
      </a:dk1>
      <a:lt1>
        <a:srgbClr val="FFFFFF"/>
      </a:lt1>
      <a:dk2>
        <a:srgbClr val="000000"/>
      </a:dk2>
      <a:lt2>
        <a:srgbClr val="F2ECE2"/>
      </a:lt2>
      <a:accent1>
        <a:srgbClr val="9BAAB7"/>
      </a:accent1>
      <a:accent2>
        <a:srgbClr val="B8D082"/>
      </a:accent2>
      <a:accent3>
        <a:srgbClr val="EFDB85"/>
      </a:accent3>
      <a:accent4>
        <a:srgbClr val="E8A565"/>
      </a:accent4>
      <a:accent5>
        <a:srgbClr val="BC9AAE"/>
      </a:accent5>
      <a:accent6>
        <a:srgbClr val="BABABA"/>
      </a:accent6>
      <a:hlink>
        <a:srgbClr val="8FC48C"/>
      </a:hlink>
      <a:folHlink>
        <a:srgbClr val="969696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16309057_TF02787947.potx" id="{F6616D8B-E49F-43FC-919C-EA67C56073C6}" vid="{41E3CBBC-B989-484B-85AF-2EEA8BFB5111}"/>
    </a:ext>
  </a:extLst>
</a:theme>
</file>

<file path=ppt/theme/theme2.xml><?xml version="1.0" encoding="utf-8"?>
<a:theme xmlns:a="http://schemas.openxmlformats.org/drawingml/2006/main" name="Tema do Office">
  <a:themeElements>
    <a:clrScheme name="Math_16x9">
      <a:dk1>
        <a:srgbClr val="465562"/>
      </a:dk1>
      <a:lt1>
        <a:srgbClr val="FFFFFF"/>
      </a:lt1>
      <a:dk2>
        <a:srgbClr val="000000"/>
      </a:dk2>
      <a:lt2>
        <a:srgbClr val="F2ECE2"/>
      </a:lt2>
      <a:accent1>
        <a:srgbClr val="9BAAB7"/>
      </a:accent1>
      <a:accent2>
        <a:srgbClr val="B8D082"/>
      </a:accent2>
      <a:accent3>
        <a:srgbClr val="EFDB85"/>
      </a:accent3>
      <a:accent4>
        <a:srgbClr val="E8A565"/>
      </a:accent4>
      <a:accent5>
        <a:srgbClr val="BC9AAE"/>
      </a:accent5>
      <a:accent6>
        <a:srgbClr val="BABABA"/>
      </a:accent6>
      <a:hlink>
        <a:srgbClr val="8FC48C"/>
      </a:hlink>
      <a:folHlink>
        <a:srgbClr val="A97C96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Math_16x9">
      <a:dk1>
        <a:srgbClr val="465562"/>
      </a:dk1>
      <a:lt1>
        <a:srgbClr val="FFFFFF"/>
      </a:lt1>
      <a:dk2>
        <a:srgbClr val="000000"/>
      </a:dk2>
      <a:lt2>
        <a:srgbClr val="F2ECE2"/>
      </a:lt2>
      <a:accent1>
        <a:srgbClr val="9BAAB7"/>
      </a:accent1>
      <a:accent2>
        <a:srgbClr val="B8D082"/>
      </a:accent2>
      <a:accent3>
        <a:srgbClr val="EFDB85"/>
      </a:accent3>
      <a:accent4>
        <a:srgbClr val="E8A565"/>
      </a:accent4>
      <a:accent5>
        <a:srgbClr val="BC9AAE"/>
      </a:accent5>
      <a:accent6>
        <a:srgbClr val="BABABA"/>
      </a:accent6>
      <a:hlink>
        <a:srgbClr val="8FC48C"/>
      </a:hlink>
      <a:folHlink>
        <a:srgbClr val="A97C96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406582A6A40B74C867BA7128243823E" ma:contentTypeVersion="3" ma:contentTypeDescription="Crie um novo documento." ma:contentTypeScope="" ma:versionID="02181b104780dc0b5be01041d2437ddd">
  <xsd:schema xmlns:xsd="http://www.w3.org/2001/XMLSchema" xmlns:xs="http://www.w3.org/2001/XMLSchema" xmlns:p="http://schemas.microsoft.com/office/2006/metadata/properties" xmlns:ns2="9b33b812-9665-42fb-bf55-a2ee3db0179a" targetNamespace="http://schemas.microsoft.com/office/2006/metadata/properties" ma:root="true" ma:fieldsID="72d3c5cf311b7b4b9afe631b924b9647" ns2:_="">
    <xsd:import namespace="9b33b812-9665-42fb-bf55-a2ee3db0179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b33b812-9665-42fb-bf55-a2ee3db0179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41C8876-6DAA-45D3-9BDC-516F7FCA0414}">
  <ds:schemaRefs>
    <ds:schemaRef ds:uri="http://schemas.openxmlformats.org/package/2006/metadata/core-properties"/>
    <ds:schemaRef ds:uri="http://schemas.microsoft.com/office/2006/documentManagement/types"/>
    <ds:schemaRef ds:uri="http://www.w3.org/XML/1998/namespace"/>
    <ds:schemaRef ds:uri="http://purl.org/dc/terms/"/>
    <ds:schemaRef ds:uri="http://purl.org/dc/elements/1.1/"/>
    <ds:schemaRef ds:uri="http://purl.org/dc/dcmitype/"/>
    <ds:schemaRef ds:uri="http://schemas.microsoft.com/office/infopath/2007/PartnerControls"/>
    <ds:schemaRef ds:uri="9b33b812-9665-42fb-bf55-a2ee3db0179a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FC03AFF2-EEAB-412D-BF1A-664581DA127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b33b812-9665-42fb-bf55-a2ee3db0179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1921D19-86FA-4CD0-9E63-80556BBC4F3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2024</TotalTime>
  <Words>2068</Words>
  <Application>Microsoft Office PowerPoint</Application>
  <PresentationFormat>Personalizar</PresentationFormat>
  <Paragraphs>421</Paragraphs>
  <Slides>36</Slides>
  <Notes>36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36</vt:i4>
      </vt:variant>
    </vt:vector>
  </HeadingPairs>
  <TitlesOfParts>
    <vt:vector size="41" baseType="lpstr">
      <vt:lpstr>Arial</vt:lpstr>
      <vt:lpstr>Euphemia</vt:lpstr>
      <vt:lpstr>Quicksand-Regular</vt:lpstr>
      <vt:lpstr>Wingdings</vt:lpstr>
      <vt:lpstr>Matemática 16:9</vt:lpstr>
      <vt:lpstr>Trabalho de Conclusão de Curso</vt:lpstr>
      <vt:lpstr>Trabalho de Conclusão de Curso</vt:lpstr>
      <vt:lpstr>Trabalho de Conclusão de Curso</vt:lpstr>
      <vt:lpstr>Apresentação do PowerPoint</vt:lpstr>
      <vt:lpstr>Trabalho de Conclusão de Curso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Trabalho de Conclusão de Curso</vt:lpstr>
      <vt:lpstr>Apresentação do PowerPoint</vt:lpstr>
      <vt:lpstr>Apresentação do PowerPoint</vt:lpstr>
      <vt:lpstr>Apresentação do PowerPoint</vt:lpstr>
      <vt:lpstr>Trabalho de Conclusão de Curso</vt:lpstr>
      <vt:lpstr>Apresentação do PowerPoint</vt:lpstr>
      <vt:lpstr>Trabalho de Conclusão de Curso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Reforço Escolar</dc:title>
  <dc:creator>Prof. Paulo Rogério</dc:creator>
  <cp:lastModifiedBy>RAI_5125</cp:lastModifiedBy>
  <cp:revision>104</cp:revision>
  <dcterms:created xsi:type="dcterms:W3CDTF">2023-04-28T14:29:41Z</dcterms:created>
  <dcterms:modified xsi:type="dcterms:W3CDTF">2025-12-09T00:42:32Z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0x010100D406582A6A40B74C867BA7128243823E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