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2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4"/>
  </p:notesMasterIdLst>
  <p:handoutMasterIdLst>
    <p:handoutMasterId r:id="rId45"/>
  </p:handoutMasterIdLst>
  <p:sldIdLst>
    <p:sldId id="256" r:id="rId5"/>
    <p:sldId id="280" r:id="rId6"/>
    <p:sldId id="281" r:id="rId7"/>
    <p:sldId id="282" r:id="rId8"/>
    <p:sldId id="307" r:id="rId9"/>
    <p:sldId id="283" r:id="rId10"/>
    <p:sldId id="287" r:id="rId11"/>
    <p:sldId id="289" r:id="rId12"/>
    <p:sldId id="288" r:id="rId13"/>
    <p:sldId id="290" r:id="rId14"/>
    <p:sldId id="308" r:id="rId15"/>
    <p:sldId id="309" r:id="rId16"/>
    <p:sldId id="292" r:id="rId17"/>
    <p:sldId id="293" r:id="rId18"/>
    <p:sldId id="294" r:id="rId19"/>
    <p:sldId id="304" r:id="rId20"/>
    <p:sldId id="318" r:id="rId21"/>
    <p:sldId id="319" r:id="rId22"/>
    <p:sldId id="320" r:id="rId23"/>
    <p:sldId id="321" r:id="rId24"/>
    <p:sldId id="322" r:id="rId25"/>
    <p:sldId id="323" r:id="rId26"/>
    <p:sldId id="325" r:id="rId27"/>
    <p:sldId id="324" r:id="rId28"/>
    <p:sldId id="326" r:id="rId29"/>
    <p:sldId id="328" r:id="rId30"/>
    <p:sldId id="300" r:id="rId31"/>
    <p:sldId id="315" r:id="rId32"/>
    <p:sldId id="311" r:id="rId33"/>
    <p:sldId id="312" r:id="rId34"/>
    <p:sldId id="310" r:id="rId35"/>
    <p:sldId id="316" r:id="rId36"/>
    <p:sldId id="313" r:id="rId37"/>
    <p:sldId id="317" r:id="rId38"/>
    <p:sldId id="306" r:id="rId39"/>
    <p:sldId id="302" r:id="rId40"/>
    <p:sldId id="327" r:id="rId41"/>
    <p:sldId id="303" r:id="rId42"/>
    <p:sldId id="314" r:id="rId43"/>
  </p:sldIdLst>
  <p:sldSz cx="12188825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AB7"/>
    <a:srgbClr val="4E5B67"/>
    <a:srgbClr val="7D90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8F3D40-8054-5204-D8C4-F6EEF95F5AF8}" v="2" dt="2025-12-11T23:35:56.764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39"/>
        <p:guide pos="1007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 DE VICENCIO MENEGHINI" userId="S::rai.meneghini@etec.sp.gov.br::61bf2adc-c830-41eb-a8aa-308351693faa" providerId="AD" clId="Web-{E18F3D40-8054-5204-D8C4-F6EEF95F5AF8}"/>
    <pc:docChg chg="modSld">
      <pc:chgData name="RAI DE VICENCIO MENEGHINI" userId="S::rai.meneghini@etec.sp.gov.br::61bf2adc-c830-41eb-a8aa-308351693faa" providerId="AD" clId="Web-{E18F3D40-8054-5204-D8C4-F6EEF95F5AF8}" dt="2025-12-11T23:35:56.764" v="1" actId="1076"/>
      <pc:docMkLst>
        <pc:docMk/>
      </pc:docMkLst>
      <pc:sldChg chg="modSp">
        <pc:chgData name="RAI DE VICENCIO MENEGHINI" userId="S::rai.meneghini@etec.sp.gov.br::61bf2adc-c830-41eb-a8aa-308351693faa" providerId="AD" clId="Web-{E18F3D40-8054-5204-D8C4-F6EEF95F5AF8}" dt="2025-12-11T23:35:56.764" v="1" actId="1076"/>
        <pc:sldMkLst>
          <pc:docMk/>
          <pc:sldMk cId="506761459" sldId="256"/>
        </pc:sldMkLst>
        <pc:spChg chg="mod">
          <ac:chgData name="RAI DE VICENCIO MENEGHINI" userId="S::rai.meneghini@etec.sp.gov.br::61bf2adc-c830-41eb-a8aa-308351693faa" providerId="AD" clId="Web-{E18F3D40-8054-5204-D8C4-F6EEF95F5AF8}" dt="2025-12-11T23:35:56.764" v="1" actId="1076"/>
          <ac:spMkLst>
            <pc:docMk/>
            <pc:sldMk cId="506761459" sldId="256"/>
            <ac:spMk id="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Pasta1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pt-BR" sz="1400" b="1" i="0" u="none" strike="noStrike" baseline="0">
                <a:effectLst/>
              </a:rPr>
              <a:t>Gráfico – Idosos dependentes no Brasil (2019).</a:t>
            </a:r>
            <a:endParaRPr lang="pt-BR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Planilha1!$A$1:$D$1</c:f>
              <c:strCache>
                <c:ptCount val="4"/>
                <c:pt idx="0">
                  <c:v>idosos com 80 ou mais</c:v>
                </c:pt>
                <c:pt idx="1">
                  <c:v>idosos com 75 ou mais</c:v>
                </c:pt>
                <c:pt idx="2">
                  <c:v>idosos com 65-74 anos</c:v>
                </c:pt>
                <c:pt idx="3">
                  <c:v>idosos com 60-64 anos</c:v>
                </c:pt>
              </c:strCache>
            </c:strRef>
          </c:cat>
          <c:val>
            <c:numRef>
              <c:f>Planilha1!$A$2:$D$2</c:f>
              <c:numCache>
                <c:formatCode>0.00%</c:formatCode>
                <c:ptCount val="4"/>
                <c:pt idx="0" formatCode="0%">
                  <c:v>0.26</c:v>
                </c:pt>
                <c:pt idx="1">
                  <c:v>0.185</c:v>
                </c:pt>
                <c:pt idx="2">
                  <c:v>6.9000000000000006E-2</c:v>
                </c:pt>
                <c:pt idx="3">
                  <c:v>5.2999999999999999E-2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73-4958-99B5-DBDAD45124D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127087664"/>
        <c:axId val="2124859744"/>
      </c:barChart>
      <c:catAx>
        <c:axId val="2127087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24859744"/>
        <c:crosses val="autoZero"/>
        <c:auto val="1"/>
        <c:lblAlgn val="ctr"/>
        <c:lblOffset val="100"/>
        <c:noMultiLvlLbl val="0"/>
      </c:catAx>
      <c:valAx>
        <c:axId val="2124859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20000"/>
                  <a:lumOff val="80000"/>
                </a:schemeClr>
              </a:solidFill>
              <a:round/>
            </a:ln>
            <a:effectLst>
              <a:outerShdw blurRad="50800" dist="50800" dir="5400000" algn="ctr" rotWithShape="0">
                <a:schemeClr val="bg2"/>
              </a:outerShdw>
            </a:effectLst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2708766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sz="1800">
                <a:solidFill>
                  <a:schemeClr val="tx1"/>
                </a:solidFill>
              </a:rPr>
              <a:t>Gráfico</a:t>
            </a:r>
            <a:r>
              <a:rPr lang="pt-BR" sz="1800" baseline="0">
                <a:solidFill>
                  <a:schemeClr val="tx1"/>
                </a:solidFill>
              </a:rPr>
              <a:t> -</a:t>
            </a:r>
            <a:r>
              <a:rPr lang="pt-BR" sz="1800">
                <a:solidFill>
                  <a:schemeClr val="tx1"/>
                </a:solidFill>
                <a:effectLst/>
              </a:rPr>
              <a:t>Aplicativos mais usados entre idosos</a:t>
            </a:r>
            <a:r>
              <a:rPr lang="pt-BR" sz="1800" baseline="0">
                <a:solidFill>
                  <a:schemeClr val="tx1"/>
                </a:solidFill>
              </a:rPr>
              <a:t> </a:t>
            </a:r>
            <a:endParaRPr lang="pt-BR" sz="180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F2E-4380-BF8A-30F4A93C82B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Planilha1!$A$1:$I$1</c:f>
              <c:strCache>
                <c:ptCount val="9"/>
                <c:pt idx="0">
                  <c:v>WhatsApp</c:v>
                </c:pt>
                <c:pt idx="1">
                  <c:v>Facebook</c:v>
                </c:pt>
                <c:pt idx="2">
                  <c:v>YouTube</c:v>
                </c:pt>
                <c:pt idx="3">
                  <c:v>redes sociais</c:v>
                </c:pt>
                <c:pt idx="4">
                  <c:v>Eletroeletrônicos </c:v>
                </c:pt>
                <c:pt idx="5">
                  <c:v>Remédios </c:v>
                </c:pt>
                <c:pt idx="6">
                  <c:v>Eletrodomésticos </c:v>
                </c:pt>
                <c:pt idx="7">
                  <c:v>Apps de transporte</c:v>
                </c:pt>
                <c:pt idx="8">
                  <c:v>Apps bancários</c:v>
                </c:pt>
              </c:strCache>
            </c:strRef>
          </c:cat>
          <c:val>
            <c:numRef>
              <c:f>Planilha1!$A$2:$I$2</c:f>
              <c:numCache>
                <c:formatCode>0%</c:formatCode>
                <c:ptCount val="9"/>
                <c:pt idx="0">
                  <c:v>0.92</c:v>
                </c:pt>
                <c:pt idx="1">
                  <c:v>0.85</c:v>
                </c:pt>
                <c:pt idx="2">
                  <c:v>0.77</c:v>
                </c:pt>
                <c:pt idx="3">
                  <c:v>0.72</c:v>
                </c:pt>
                <c:pt idx="4">
                  <c:v>0.57999999999999996</c:v>
                </c:pt>
                <c:pt idx="5">
                  <c:v>0.49</c:v>
                </c:pt>
                <c:pt idx="6">
                  <c:v>0.47</c:v>
                </c:pt>
                <c:pt idx="7">
                  <c:v>0.47</c:v>
                </c:pt>
                <c:pt idx="8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2E-4380-BF8A-30F4A93C82B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964040479"/>
        <c:axId val="1718332783"/>
      </c:barChart>
      <c:catAx>
        <c:axId val="196404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18332783"/>
        <c:crosses val="autoZero"/>
        <c:auto val="1"/>
        <c:lblAlgn val="ctr"/>
        <c:lblOffset val="100"/>
        <c:noMultiLvlLbl val="0"/>
      </c:catAx>
      <c:valAx>
        <c:axId val="1718332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96404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Gráfico - índice de esquecimentos pela idade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D58-4050-BDC4-E275966462E9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D58-4050-BDC4-E275966462E9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D58-4050-BDC4-E275966462E9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3D58-4050-BDC4-E275966462E9}"/>
              </c:ext>
            </c:extLst>
          </c:dPt>
          <c:dLbls>
            <c:dLbl>
              <c:idx val="0"/>
              <c:layout>
                <c:manualLayout>
                  <c:x val="3.8341150500185966E-2"/>
                  <c:y val="4.8497741099964409E-2"/>
                </c:manualLayout>
              </c:layout>
              <c:spPr>
                <a:solidFill>
                  <a:schemeClr val="lt1"/>
                </a:solidFill>
                <a:ln w="12700" cap="flat" cmpd="sng" algn="ctr">
                  <a:solidFill>
                    <a:schemeClr val="dk1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D58-4050-BDC4-E275966462E9}"/>
                </c:ext>
              </c:extLst>
            </c:dLbl>
            <c:dLbl>
              <c:idx val="1"/>
              <c:layout>
                <c:manualLayout>
                  <c:x val="1.3419402675065089E-2"/>
                  <c:y val="3.8798192879971528E-2"/>
                </c:manualLayout>
              </c:layout>
              <c:spPr>
                <a:solidFill>
                  <a:schemeClr val="lt1"/>
                </a:solidFill>
                <a:ln w="12700" cap="flat" cmpd="sng" algn="ctr">
                  <a:solidFill>
                    <a:schemeClr val="dk1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D58-4050-BDC4-E275966462E9}"/>
                </c:ext>
              </c:extLst>
            </c:dLbl>
            <c:dLbl>
              <c:idx val="2"/>
              <c:layout>
                <c:manualLayout>
                  <c:x val="0.13994519932567878"/>
                  <c:y val="-3.2331827399976393E-2"/>
                </c:manualLayout>
              </c:layout>
              <c:spPr>
                <a:solidFill>
                  <a:schemeClr val="lt1"/>
                </a:solidFill>
                <a:ln w="12700" cap="flat" cmpd="sng" algn="ctr">
                  <a:solidFill>
                    <a:schemeClr val="dk1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D58-4050-BDC4-E275966462E9}"/>
                </c:ext>
              </c:extLst>
            </c:dLbl>
            <c:dLbl>
              <c:idx val="3"/>
              <c:layout>
                <c:manualLayout>
                  <c:x val="-3.2589977925158074E-2"/>
                  <c:y val="-2.2632151889324395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330" b="1" i="0" u="none" strike="noStrike" kern="1200" spc="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err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Não</a:t>
                    </a:r>
                    <a:r>
                      <a:rPr lang="en-US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 </a:t>
                    </a:r>
                    <a:r>
                      <a:rPr lang="en-US" err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Esquecem</a:t>
                    </a:r>
                    <a:r>
                      <a:rPr lang="en-US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 </a:t>
                    </a:r>
                  </a:p>
                  <a:p>
                    <a:pPr>
                      <a:defRPr>
                        <a:solidFill>
                          <a:schemeClr val="dk1"/>
                        </a:solidFill>
                      </a:defRPr>
                    </a:pPr>
                    <a:fld id="{1A4AFA9B-D4B0-4EA1-8150-D0941351C072}" type="PERCENTAGE">
                      <a:rPr lang="en-US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pPr>
                        <a:defRPr>
                          <a:solidFill>
                            <a:schemeClr val="dk1"/>
                          </a:solidFill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spPr>
                <a:solidFill>
                  <a:schemeClr val="lt1"/>
                </a:solidFill>
                <a:ln w="12700" cap="flat" cmpd="sng" algn="ctr">
                  <a:solidFill>
                    <a:schemeClr val="dk1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825230469561353"/>
                      <c:h val="0.1340640496046606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3D58-4050-BDC4-E275966462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spc="0" baseline="0">
                    <a:solidFill>
                      <a:schemeClr val="dk1">
                        <a:tint val="885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Planilha2!$A$1:$D$1</c:f>
              <c:strCache>
                <c:ptCount val="4"/>
                <c:pt idx="0">
                  <c:v>80+ anos</c:v>
                </c:pt>
                <c:pt idx="1">
                  <c:v>70–79 anos</c:v>
                </c:pt>
                <c:pt idx="2">
                  <c:v>60–69 anos </c:v>
                </c:pt>
                <c:pt idx="3">
                  <c:v>não esquecem</c:v>
                </c:pt>
              </c:strCache>
            </c:strRef>
          </c:cat>
          <c:val>
            <c:numRef>
              <c:f>Planilha2!$A$2:$D$2</c:f>
              <c:numCache>
                <c:formatCode>0.00%</c:formatCode>
                <c:ptCount val="4"/>
                <c:pt idx="0">
                  <c:v>0.14399999999999999</c:v>
                </c:pt>
                <c:pt idx="1">
                  <c:v>0.193</c:v>
                </c:pt>
                <c:pt idx="2">
                  <c:v>0.26100000000000001</c:v>
                </c:pt>
                <c:pt idx="3">
                  <c:v>0.40200000000000002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D58-4050-BDC4-E275966462E9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981B7D-53F6-4039-A8FA-44779F95F4C7}" type="datetime1">
              <a:rPr lang="pt-BR" smtClean="0"/>
              <a:t>11/12/2025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4360E59-1627-4404-ACC5-51C744AB0F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FD1732DB-6DE7-4ED0-8D58-5BB99683AAF5}" type="datetime1">
              <a:rPr lang="pt-BR" noProof="0" smtClean="0"/>
              <a:t>11/12/2025</a:t>
            </a:fld>
            <a:endParaRPr lang="pt-BR" noProof="0"/>
          </a:p>
        </p:txBody>
      </p:sp>
      <p:sp>
        <p:nvSpPr>
          <p:cNvPr id="4" name="Espaço reservado para 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841221E5-7225-48EB-A4EE-420E7BFCF705}" type="slidenum">
              <a:rPr lang="pt-BR" noProof="0" smtClean="0"/>
              <a:pPr rtl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436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2819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545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9129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348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647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136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9681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362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185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213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117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657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623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736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24138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34979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493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2230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18733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0966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8749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07044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0882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9010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3677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65096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78996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20415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9783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7876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9844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66012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1039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21702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29540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1607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09762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754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0" name="Retângulo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1" name="Retângulo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2" name="Retângulo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13" name="Conector reto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15" name="Conector reto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 rtlCol="0">
            <a:noAutofit/>
          </a:bodyPr>
          <a:lstStyle>
            <a:lvl1pPr>
              <a:defRPr sz="54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8CF9E3DC-7299-4B05-809A-5B49B2FE7AF9}" type="datetime1">
              <a:rPr lang="pt-BR" noProof="0" smtClean="0"/>
              <a:t>11/12/2025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83CAA7E-3E75-44C8-A2C7-4C05D52B2FA1}" type="datetime1">
              <a:rPr lang="pt-BR" noProof="0" smtClean="0"/>
              <a:t>11/12/2025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0" name="Retângulo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4" name="Retângulo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1" name="Retângulo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22" name="Conector reto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/>
          </a:p>
        </p:txBody>
      </p:sp>
      <p:cxnSp>
        <p:nvCxnSpPr>
          <p:cNvPr id="23" name="Conector reto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7" name="Retângulo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8" name="Retângulo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9" name="Retângulo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30" name="Retângulo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31" name="Conector reto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33" name="Conector reto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8CF2E68F-F985-4986-B024-0FC8C7AE2C1B}" type="datetime1">
              <a:rPr lang="pt-BR" noProof="0" smtClean="0"/>
              <a:t>11/12/2025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DA4F2-6A33-4AC7-8E78-BF93E4CA2325}" type="datetime1">
              <a:rPr lang="pt-BR" noProof="0" smtClean="0"/>
              <a:t>11/12/2025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FECF235-9052-434D-9210-E5F733C07A25}" type="datetime1">
              <a:rPr lang="pt-BR" noProof="0" smtClean="0"/>
              <a:t>11/12/2025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01FB55-4A16-41A5-BB72-289DDF81266B}" type="datetime1">
              <a:rPr lang="pt-BR" noProof="0" smtClean="0"/>
              <a:t>11/12/2025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6" name="Retângulo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cxnSp>
        <p:nvCxnSpPr>
          <p:cNvPr id="7" name="Conector reto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E0E9FA-B55D-4813-98B8-D8C2B1295A53}" type="datetime1">
              <a:rPr lang="pt-BR" noProof="0" smtClean="0"/>
              <a:t>11/12/2025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cxnSp>
        <p:nvCxnSpPr>
          <p:cNvPr id="10" name="Conector reto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8E7951-E498-47D1-BE16-2C63407A06A1}" type="datetime1">
              <a:rPr lang="pt-BR" noProof="0" smtClean="0"/>
              <a:t>11/12/2025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8" name="Retângulo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 rtlCol="0"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B6D5139B-774C-4260-8335-315AD6FC9ED3}" type="datetime1">
              <a:rPr lang="pt-BR" noProof="0" smtClean="0"/>
              <a:t>11/12/2025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Equipe_04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‹#›</a:t>
            </a:fld>
            <a:endParaRPr lang="pt-BR" noProof="0"/>
          </a:p>
        </p:txBody>
      </p:sp>
      <p:cxnSp>
        <p:nvCxnSpPr>
          <p:cNvPr id="10" name="Conector reto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AAB6E8-DECC-4374-9E89-4B608ECFE3D5}" type="datetime1">
              <a:rPr lang="pt-BR" noProof="0" smtClean="0"/>
              <a:t>11/12/2025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8" name="Retâ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0" name="Retângulo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cxnSp>
        <p:nvCxnSpPr>
          <p:cNvPr id="11" name="Conector reto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/>
          </a:p>
        </p:txBody>
      </p:sp>
      <p:cxnSp>
        <p:nvCxnSpPr>
          <p:cNvPr id="14" name="Conector reto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EE400E-D093-4D95-9BEC-411F2E346232}" type="datetime1">
              <a:rPr lang="pt-BR" noProof="0" smtClean="0"/>
              <a:t>11/12/2025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8" name="Retâ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3" name="Retângulo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cxnSp>
        <p:nvCxnSpPr>
          <p:cNvPr id="14" name="Conector reto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/>
          </a:p>
        </p:txBody>
      </p:sp>
      <p:cxnSp>
        <p:nvCxnSpPr>
          <p:cNvPr id="16" name="Conector reto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20DFF7A9-BA36-411E-AE0E-59A71496C0E4}" type="datetime1">
              <a:rPr lang="pt-BR" noProof="0" smtClean="0"/>
              <a:t>11/12/2025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slide" Target="slide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slide" Target="slide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slide" Target="slide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hyperlink" Target="https://br.freepik.com/fotos/negocio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5.jpeg"/><Relationship Id="rId12" Type="http://schemas.openxmlformats.org/officeDocument/2006/relationships/image" Target="../media/image4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3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4" Type="http://schemas.openxmlformats.org/officeDocument/2006/relationships/image" Target="../media/image2.jpe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</a:t>
            </a:fld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929605" y="1532941"/>
            <a:ext cx="8329612" cy="1116013"/>
          </a:xfrm>
        </p:spPr>
        <p:txBody>
          <a:bodyPr rtlCol="0"/>
          <a:lstStyle/>
          <a:p>
            <a:pPr rtl="0"/>
            <a:r>
              <a:rPr lang="pt-BR" sz="4000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3742088" y="2934714"/>
            <a:ext cx="4704646" cy="595313"/>
          </a:xfrm>
        </p:spPr>
        <p:txBody>
          <a:bodyPr rtlCol="0">
            <a:normAutofit/>
          </a:bodyPr>
          <a:lstStyle/>
          <a:p>
            <a:pPr rtl="0"/>
            <a:r>
              <a:rPr lang="pt-BR" sz="2400">
                <a:solidFill>
                  <a:schemeClr val="tx2">
                    <a:lumMod val="85000"/>
                    <a:lumOff val="15000"/>
                  </a:schemeClr>
                </a:solidFill>
              </a:rPr>
              <a:t>Desenvolvimento de Sistemas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E773F132-2576-42A4-A8E2-E8C85095DDF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2FDEB2B5-B9EA-C075-0877-C27473274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0" name="Imagem 9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4D00AAF-7372-1224-7834-8FDBA2C4F9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01D09122-4620-3F1A-69C8-80D230244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3" name="Fluxograma: Processo 12">
              <a:extLst>
                <a:ext uri="{FF2B5EF4-FFF2-40B4-BE49-F238E27FC236}">
                  <a16:creationId xmlns:a16="http://schemas.microsoft.com/office/drawing/2014/main" id="{0E915286-BE23-4956-88DA-86EBF808B417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Fluxograma: Processo 13">
              <a:extLst>
                <a:ext uri="{FF2B5EF4-FFF2-40B4-BE49-F238E27FC236}">
                  <a16:creationId xmlns:a16="http://schemas.microsoft.com/office/drawing/2014/main" id="{CB6A7877-8226-4B47-9164-83522AFE2D9C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Fluxograma: Processo 14">
              <a:extLst>
                <a:ext uri="{FF2B5EF4-FFF2-40B4-BE49-F238E27FC236}">
                  <a16:creationId xmlns:a16="http://schemas.microsoft.com/office/drawing/2014/main" id="{C29B5421-EFEC-4C19-81A5-CAB27AB8C37A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8" name="Imagem 17">
            <a:extLst>
              <a:ext uri="{FF2B5EF4-FFF2-40B4-BE49-F238E27FC236}">
                <a16:creationId xmlns:a16="http://schemas.microsoft.com/office/drawing/2014/main" id="{D8ABE227-2204-4E77-A11D-590D3772DC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</a:t>
            </a:fld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53852" y="836712"/>
            <a:ext cx="6397054" cy="731260"/>
          </a:xfrm>
        </p:spPr>
        <p:txBody>
          <a:bodyPr rtlCol="0">
            <a:normAutofit/>
          </a:bodyPr>
          <a:lstStyle/>
          <a:p>
            <a:pPr rtl="0"/>
            <a:r>
              <a:rPr lang="pt-BR" sz="3200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1116797" y="1506026"/>
            <a:ext cx="3969503" cy="59531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BR" sz="2000"/>
              <a:t>Desenvolvimento de Sistemas</a:t>
            </a:r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49246EFC-B76B-4F23-B7D8-9CEB9EDD4763}"/>
              </a:ext>
            </a:extLst>
          </p:cNvPr>
          <p:cNvSpPr txBox="1">
            <a:spLocks/>
          </p:cNvSpPr>
          <p:nvPr/>
        </p:nvSpPr>
        <p:spPr>
          <a:xfrm>
            <a:off x="1053852" y="2743133"/>
            <a:ext cx="6840759" cy="139906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Curso</a:t>
            </a:r>
            <a:r>
              <a:rPr lang="pt-BR" sz="2000">
                <a:solidFill>
                  <a:schemeClr val="tx2">
                    <a:lumMod val="85000"/>
                    <a:lumOff val="15000"/>
                  </a:schemeClr>
                </a:solidFill>
              </a:rPr>
              <a:t>: </a:t>
            </a:r>
            <a:r>
              <a:rPr lang="pt-BR" sz="2000"/>
              <a:t>Técnico em Desenvolvimento de Sistemas </a:t>
            </a:r>
          </a:p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Modulo: 2</a:t>
            </a:r>
            <a:r>
              <a:rPr lang="pt-BR" sz="2000">
                <a:solidFill>
                  <a:schemeClr val="tx2">
                    <a:lumMod val="85000"/>
                    <a:lumOff val="15000"/>
                  </a:schemeClr>
                </a:solidFill>
              </a:rPr>
              <a:t>º </a:t>
            </a:r>
            <a:r>
              <a:rPr lang="pt-BR" sz="2000"/>
              <a:t>de 2025</a:t>
            </a:r>
          </a:p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Professor Orientador</a:t>
            </a:r>
            <a:r>
              <a:rPr lang="pt-BR" sz="2000">
                <a:solidFill>
                  <a:schemeClr val="tx2">
                    <a:lumMod val="85000"/>
                    <a:lumOff val="15000"/>
                  </a:schemeClr>
                </a:solidFill>
              </a:rPr>
              <a:t>: </a:t>
            </a:r>
            <a:r>
              <a:rPr lang="pt-BR" sz="2000"/>
              <a:t>Paulo Rogério Neves de Oliveira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B085A15-3FDB-4D33-BBA4-BA6DDD00F827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FF7345E4-EC70-4C4E-9C82-E9A7574E3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4" name="Imagem 13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15416457-33D5-4EDA-B7F7-F2E570107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793F2D4A-1208-4EE0-AD80-2E0861402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6" name="Fluxograma: Processo 15">
              <a:extLst>
                <a:ext uri="{FF2B5EF4-FFF2-40B4-BE49-F238E27FC236}">
                  <a16:creationId xmlns:a16="http://schemas.microsoft.com/office/drawing/2014/main" id="{BC78F85F-5C9F-4B1E-824A-8F302803B524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Fluxograma: Processo 16">
              <a:extLst>
                <a:ext uri="{FF2B5EF4-FFF2-40B4-BE49-F238E27FC236}">
                  <a16:creationId xmlns:a16="http://schemas.microsoft.com/office/drawing/2014/main" id="{D2DCE38F-73AB-44CA-AB11-683EF58E8E3A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26B3703C-0470-4933-A868-9F2EF56DF9BB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1" name="Imagem 20">
            <a:extLst>
              <a:ext uri="{FF2B5EF4-FFF2-40B4-BE49-F238E27FC236}">
                <a16:creationId xmlns:a16="http://schemas.microsoft.com/office/drawing/2014/main" id="{B83CE25B-4A5B-4AC9-8FF9-07B809DCCA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20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</a:t>
            </a:fld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53852" y="836712"/>
            <a:ext cx="6397054" cy="731260"/>
          </a:xfrm>
        </p:spPr>
        <p:txBody>
          <a:bodyPr rtlCol="0">
            <a:normAutofit/>
          </a:bodyPr>
          <a:lstStyle/>
          <a:p>
            <a:pPr rtl="0"/>
            <a:r>
              <a:rPr lang="pt-BR" sz="2400" b="1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1116797" y="1506026"/>
            <a:ext cx="3969503" cy="59531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BR" sz="1800"/>
              <a:t>Desenvolvimento de Sistemas</a:t>
            </a:r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E3267D9C-182E-5F94-2C06-BCBD4BA751EE}"/>
              </a:ext>
            </a:extLst>
          </p:cNvPr>
          <p:cNvSpPr txBox="1">
            <a:spLocks/>
          </p:cNvSpPr>
          <p:nvPr/>
        </p:nvSpPr>
        <p:spPr>
          <a:xfrm>
            <a:off x="1125860" y="2564903"/>
            <a:ext cx="3960440" cy="219175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2200" b="1">
                <a:solidFill>
                  <a:schemeClr val="tx2">
                    <a:lumMod val="85000"/>
                    <a:lumOff val="15000"/>
                  </a:schemeClr>
                </a:solidFill>
              </a:rPr>
              <a:t>Equipe_03</a:t>
            </a:r>
          </a:p>
          <a:p>
            <a:pPr marL="0" indent="0">
              <a:buFont typeface="Euphemia" pitchFamily="34" charset="0"/>
              <a:buNone/>
            </a:pPr>
            <a:endParaRPr lang="pt-BR" sz="2200"/>
          </a:p>
          <a:p>
            <a:r>
              <a:rPr lang="pt-BR" sz="1900"/>
              <a:t>Raí de Vicencio Meneghini</a:t>
            </a:r>
          </a:p>
          <a:p>
            <a:r>
              <a:rPr lang="pt-BR" sz="1900"/>
              <a:t>Flavio Henrique da Costa Silva</a:t>
            </a:r>
          </a:p>
          <a:p>
            <a:r>
              <a:rPr lang="pt-BR" sz="1900"/>
              <a:t>Julia Tenorio Alves Miranda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D6A6A2A-77C5-4862-B36C-2CBB8072543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CA8A43CE-C42B-46F4-BAA7-F13EB0F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4" name="Imagem 13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1FD3683B-E985-4DBF-936E-ECFBEB1A4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6D65D2-A504-412A-8D99-409A8F395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6" name="Fluxograma: Processo 15">
              <a:extLst>
                <a:ext uri="{FF2B5EF4-FFF2-40B4-BE49-F238E27FC236}">
                  <a16:creationId xmlns:a16="http://schemas.microsoft.com/office/drawing/2014/main" id="{E6EFDE81-375D-46A2-9305-B22A016B8CF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Fluxograma: Processo 16">
              <a:extLst>
                <a:ext uri="{FF2B5EF4-FFF2-40B4-BE49-F238E27FC236}">
                  <a16:creationId xmlns:a16="http://schemas.microsoft.com/office/drawing/2014/main" id="{08215EA9-91DF-47BB-A92C-7621618F126B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DDA02A59-78BF-494F-9DE5-B03A6E02905F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33C14FB9-883F-418D-BCAA-0E4DD73AE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303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4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126070DC-015A-DFDF-858A-F0EAE02BC82E}"/>
              </a:ext>
            </a:extLst>
          </p:cNvPr>
          <p:cNvSpPr txBox="1">
            <a:spLocks/>
          </p:cNvSpPr>
          <p:nvPr/>
        </p:nvSpPr>
        <p:spPr>
          <a:xfrm>
            <a:off x="1116797" y="2453317"/>
            <a:ext cx="3563938" cy="40720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/>
              <a:t>Logo e nome</a:t>
            </a:r>
          </a:p>
          <a:p>
            <a:r>
              <a:rPr lang="pt-BR" sz="1200"/>
              <a:t>Problematização</a:t>
            </a:r>
          </a:p>
          <a:p>
            <a:r>
              <a:rPr lang="pt-BR" sz="1200"/>
              <a:t>Solução</a:t>
            </a:r>
          </a:p>
          <a:p>
            <a:r>
              <a:rPr lang="pt-BR" sz="1200"/>
              <a:t>Público Alvo</a:t>
            </a:r>
          </a:p>
          <a:p>
            <a:r>
              <a:rPr lang="pt-BR" sz="1200"/>
              <a:t>Esboço</a:t>
            </a:r>
          </a:p>
          <a:p>
            <a:r>
              <a:rPr lang="pt-BR" sz="1200"/>
              <a:t>Objetivos Gerais</a:t>
            </a:r>
          </a:p>
          <a:p>
            <a:r>
              <a:rPr lang="pt-BR" sz="1200"/>
              <a:t>Objetivos específicos</a:t>
            </a:r>
          </a:p>
          <a:p>
            <a:r>
              <a:rPr lang="pt-BR" sz="1200"/>
              <a:t>Justificativa</a:t>
            </a:r>
          </a:p>
          <a:p>
            <a:r>
              <a:rPr lang="pt-BR" sz="1200"/>
              <a:t>Metodologias</a:t>
            </a:r>
          </a:p>
          <a:p>
            <a:r>
              <a:rPr lang="pt-BR" sz="1200"/>
              <a:t>Ferramentas</a:t>
            </a:r>
          </a:p>
          <a:p>
            <a:r>
              <a:rPr lang="pt-BR" sz="1200"/>
              <a:t>Requisitos funcionais </a:t>
            </a:r>
          </a:p>
          <a:p>
            <a:endParaRPr lang="pt-BR" sz="1200"/>
          </a:p>
          <a:p>
            <a:endParaRPr lang="pt-BR" sz="1200"/>
          </a:p>
        </p:txBody>
      </p:sp>
      <p:sp>
        <p:nvSpPr>
          <p:cNvPr id="6" name="Espaço reservado para conteúdo 13">
            <a:extLst>
              <a:ext uri="{FF2B5EF4-FFF2-40B4-BE49-F238E27FC236}">
                <a16:creationId xmlns:a16="http://schemas.microsoft.com/office/drawing/2014/main" id="{740BBCA1-CEFC-9AA2-CC16-5142B1FC48E7}"/>
              </a:ext>
            </a:extLst>
          </p:cNvPr>
          <p:cNvSpPr txBox="1">
            <a:spLocks/>
          </p:cNvSpPr>
          <p:nvPr/>
        </p:nvSpPr>
        <p:spPr>
          <a:xfrm>
            <a:off x="5582388" y="2453317"/>
            <a:ext cx="4523088" cy="407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6380" indent="-246380"/>
            <a:r>
              <a:rPr lang="pt-BR" sz="1200"/>
              <a:t>Requisitos Não Funcionais</a:t>
            </a:r>
          </a:p>
          <a:p>
            <a:pPr marL="246380" indent="-246380"/>
            <a:r>
              <a:rPr lang="pt-BR" sz="1200"/>
              <a:t>Protótipos</a:t>
            </a:r>
          </a:p>
          <a:p>
            <a:pPr marL="246380" indent="-246380"/>
            <a:r>
              <a:rPr lang="pt-BR" sz="1200"/>
              <a:t>Diagramas UML de Classe </a:t>
            </a:r>
          </a:p>
          <a:p>
            <a:pPr marL="246380" indent="-246380"/>
            <a:r>
              <a:rPr lang="pt-BR" sz="1200"/>
              <a:t>Diagramas UML de Caso de Uso</a:t>
            </a:r>
          </a:p>
          <a:p>
            <a:pPr marL="246380" indent="-246380"/>
            <a:r>
              <a:rPr lang="pt-BR" sz="1200"/>
              <a:t>Projeto de Banco de Dados (Conceitual e Lógico)</a:t>
            </a:r>
          </a:p>
          <a:p>
            <a:pPr marL="246380" indent="-246380"/>
            <a:r>
              <a:rPr lang="pt-BR" sz="1200"/>
              <a:t>Fundamentação Teórica</a:t>
            </a:r>
          </a:p>
          <a:p>
            <a:pPr marL="246380" indent="-246380"/>
            <a:r>
              <a:rPr lang="pt-BR" sz="1200"/>
              <a:t>Pesquisas </a:t>
            </a:r>
          </a:p>
          <a:p>
            <a:pPr marL="246380" indent="-246380"/>
            <a:r>
              <a:rPr lang="pt-BR" sz="1200"/>
              <a:t>Hard Skills</a:t>
            </a:r>
          </a:p>
          <a:p>
            <a:pPr marL="246380" indent="-246380"/>
            <a:r>
              <a:rPr lang="pt-BR" sz="1200"/>
              <a:t>Soft Skills</a:t>
            </a:r>
          </a:p>
          <a:p>
            <a:pPr marL="246380" indent="-246380"/>
            <a:r>
              <a:rPr lang="pt-BR" sz="1200"/>
              <a:t>Desafios</a:t>
            </a:r>
          </a:p>
          <a:p>
            <a:pPr marL="246380" indent="-246380"/>
            <a:r>
              <a:rPr lang="pt-BR" sz="1200"/>
              <a:t>Conclusão</a:t>
            </a:r>
          </a:p>
          <a:p>
            <a:pPr marL="0" indent="0">
              <a:buNone/>
            </a:pPr>
            <a:endParaRPr lang="pt-BR" sz="1200"/>
          </a:p>
          <a:p>
            <a:endParaRPr lang="pt-BR" sz="1200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AB097550-61C8-4FEB-9BE4-D07000E1ACBC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7D4DCB69-F7C1-40F6-9EFE-848532426752}"/>
              </a:ext>
            </a:extLst>
          </p:cNvPr>
          <p:cNvSpPr txBox="1">
            <a:spLocks/>
          </p:cNvSpPr>
          <p:nvPr/>
        </p:nvSpPr>
        <p:spPr>
          <a:xfrm>
            <a:off x="1116797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E3560065-E5D9-4B43-A23D-6A267366BAF1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59F222EE-68BE-4AC3-938E-0ADCBDB57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722452BA-93DD-4D25-AB5E-40C975475C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DCAC907D-1AB9-435A-8D6F-9EF2356ED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334A04A-8E3B-4623-9B16-C74A8CE1EF33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63C82C99-1033-468C-8A71-F9877EB53C1D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47D67273-0657-42DF-9C9C-258B77AF29F4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786C3202-F955-4694-8710-53DE9E952A44}"/>
              </a:ext>
            </a:extLst>
          </p:cNvPr>
          <p:cNvSpPr txBox="1">
            <a:spLocks/>
          </p:cNvSpPr>
          <p:nvPr/>
        </p:nvSpPr>
        <p:spPr>
          <a:xfrm>
            <a:off x="1269876" y="1985901"/>
            <a:ext cx="1872209" cy="432049"/>
          </a:xfrm>
          <a:prstGeom prst="rect">
            <a:avLst/>
          </a:prstGeom>
        </p:spPr>
        <p:txBody>
          <a:bodyPr rtlCol="0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2200" b="1">
                <a:solidFill>
                  <a:schemeClr val="tx2">
                    <a:lumMod val="85000"/>
                    <a:lumOff val="15000"/>
                  </a:schemeClr>
                </a:solidFill>
              </a:rPr>
              <a:t>Sumario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7CA1EF64-3074-4007-9BAF-1FDC61A394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58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5</a:t>
            </a:fld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53852" y="836712"/>
            <a:ext cx="6397054" cy="731260"/>
          </a:xfrm>
        </p:spPr>
        <p:txBody>
          <a:bodyPr rtlCol="0">
            <a:normAutofit/>
          </a:bodyPr>
          <a:lstStyle/>
          <a:p>
            <a:pPr rtl="0"/>
            <a:r>
              <a:rPr lang="pt-BR" sz="2400" b="1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1116797" y="1506026"/>
            <a:ext cx="3969503" cy="59531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BR" sz="1800"/>
              <a:t>Desenvolvimento de Sistemas</a:t>
            </a:r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E3267D9C-182E-5F94-2C06-BCBD4BA751EE}"/>
              </a:ext>
            </a:extLst>
          </p:cNvPr>
          <p:cNvSpPr txBox="1">
            <a:spLocks/>
          </p:cNvSpPr>
          <p:nvPr/>
        </p:nvSpPr>
        <p:spPr>
          <a:xfrm>
            <a:off x="1125859" y="2564903"/>
            <a:ext cx="1872209" cy="432049"/>
          </a:xfrm>
          <a:prstGeom prst="rect">
            <a:avLst/>
          </a:prstGeom>
        </p:spPr>
        <p:txBody>
          <a:bodyPr rtlCol="0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2200" b="1">
                <a:solidFill>
                  <a:schemeClr val="tx2">
                    <a:lumMod val="85000"/>
                    <a:lumOff val="15000"/>
                  </a:schemeClr>
                </a:solidFill>
              </a:rPr>
              <a:t>Logo e Nome 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D6A6A2A-77C5-4862-B36C-2CBB8072543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CA8A43CE-C42B-46F4-BAA7-F13EB0F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4" name="Imagem 13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1FD3683B-E985-4DBF-936E-ECFBEB1A4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6D65D2-A504-412A-8D99-409A8F395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6" name="Fluxograma: Processo 15">
              <a:extLst>
                <a:ext uri="{FF2B5EF4-FFF2-40B4-BE49-F238E27FC236}">
                  <a16:creationId xmlns:a16="http://schemas.microsoft.com/office/drawing/2014/main" id="{E6EFDE81-375D-46A2-9305-B22A016B8CF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Fluxograma: Processo 16">
              <a:extLst>
                <a:ext uri="{FF2B5EF4-FFF2-40B4-BE49-F238E27FC236}">
                  <a16:creationId xmlns:a16="http://schemas.microsoft.com/office/drawing/2014/main" id="{08215EA9-91DF-47BB-A92C-7621618F126B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DDA02A59-78BF-494F-9DE5-B03A6E02905F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0" name="Imagem 19">
            <a:extLst>
              <a:ext uri="{FF2B5EF4-FFF2-40B4-BE49-F238E27FC236}">
                <a16:creationId xmlns:a16="http://schemas.microsoft.com/office/drawing/2014/main" id="{B34C6B6E-063E-497E-A802-313C7B9D5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4012" y="3042625"/>
            <a:ext cx="6573211" cy="2274739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65CB6A5D-59E7-461B-A00F-8A27DF43269C}"/>
              </a:ext>
            </a:extLst>
          </p:cNvPr>
          <p:cNvSpPr/>
          <p:nvPr/>
        </p:nvSpPr>
        <p:spPr>
          <a:xfrm>
            <a:off x="5011410" y="5101920"/>
            <a:ext cx="180563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>
                <a:solidFill>
                  <a:schemeClr val="accent6">
                    <a:lumMod val="50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Foto:</a:t>
            </a:r>
            <a:r>
              <a:rPr lang="it-IT" sz="8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sz="800">
                <a:solidFill>
                  <a:schemeClr val="accent6">
                    <a:lumMod val="75000"/>
                  </a:schemeClr>
                </a:solidFill>
              </a:rPr>
              <a:t>Figma + ChatGPT + Canva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5A78529-A422-49F7-91D8-9F0157E63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97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6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175085" cy="187220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Problematização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16797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5A4BA5BA-5EBE-B99E-EDF7-7CCD371D9391}"/>
              </a:ext>
            </a:extLst>
          </p:cNvPr>
          <p:cNvSpPr txBox="1">
            <a:spLocks/>
          </p:cNvSpPr>
          <p:nvPr/>
        </p:nvSpPr>
        <p:spPr>
          <a:xfrm>
            <a:off x="1125860" y="2671043"/>
            <a:ext cx="5616624" cy="2916028"/>
          </a:xfrm>
          <a:prstGeom prst="rect">
            <a:avLst/>
          </a:prstGeom>
        </p:spPr>
        <p:txBody>
          <a:bodyPr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endParaRPr lang="pt-BR" sz="1800"/>
          </a:p>
          <a:p>
            <a:pPr algn="just"/>
            <a:r>
              <a:rPr lang="pt-BR" sz="1800"/>
              <a:t>Idosos enfrentam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dificuldades</a:t>
            </a:r>
            <a:r>
              <a:rPr lang="pt-BR" sz="1800" b="1"/>
              <a:t> no cuidado com a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saúde</a:t>
            </a:r>
            <a:r>
              <a:rPr lang="pt-BR" sz="1800"/>
              <a:t>, como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esquecer de tomar os remédios</a:t>
            </a:r>
            <a:r>
              <a:rPr lang="pt-BR" sz="1800"/>
              <a:t>, confusão pela quantidade de medicamentos e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dificuldade</a:t>
            </a:r>
            <a:r>
              <a:rPr lang="pt-BR" sz="1800"/>
              <a:t> em seguir os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horários corretos</a:t>
            </a:r>
            <a:r>
              <a:rPr lang="pt-BR" sz="1800">
                <a:solidFill>
                  <a:schemeClr val="tx2">
                    <a:lumMod val="85000"/>
                    <a:lumOff val="15000"/>
                  </a:schemeClr>
                </a:solidFill>
              </a:rPr>
              <a:t>. </a:t>
            </a:r>
          </a:p>
          <a:p>
            <a:pPr algn="just"/>
            <a:r>
              <a:rPr lang="pt-BR" sz="1800"/>
              <a:t>Além disso, muitos têm a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saúde prejudicada</a:t>
            </a:r>
            <a:r>
              <a:rPr lang="pt-BR" sz="1800"/>
              <a:t>, não conseguem realizar atividades sozinhos, apresentam barreiras no uso da tecnologia e encontram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problemas para marcar consultas e exames</a:t>
            </a:r>
            <a:r>
              <a:rPr lang="pt-BR" sz="1800"/>
              <a:t>.</a:t>
            </a:r>
          </a:p>
        </p:txBody>
      </p:sp>
      <p:pic>
        <p:nvPicPr>
          <p:cNvPr id="3074" name="Picture 2" descr="problema ">
            <a:extLst>
              <a:ext uri="{FF2B5EF4-FFF2-40B4-BE49-F238E27FC236}">
                <a16:creationId xmlns:a16="http://schemas.microsoft.com/office/drawing/2014/main" id="{5FB3BC86-3186-1A4C-24F1-CC00950D9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628" y="2962320"/>
            <a:ext cx="1601166" cy="160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5012298-B359-55E1-50EE-F1759F95EDB2}"/>
              </a:ext>
            </a:extLst>
          </p:cNvPr>
          <p:cNvSpPr/>
          <p:nvPr/>
        </p:nvSpPr>
        <p:spPr>
          <a:xfrm>
            <a:off x="8047123" y="4792145"/>
            <a:ext cx="158417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>
                <a:solidFill>
                  <a:schemeClr val="accent6">
                    <a:lumMod val="50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Foto:</a:t>
            </a:r>
            <a:r>
              <a:rPr lang="it-IT" sz="8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sz="800">
                <a:solidFill>
                  <a:schemeClr val="accent6">
                    <a:lumMod val="75000"/>
                  </a:schemeClr>
                </a:solidFill>
              </a:rPr>
              <a:t>https://br.freepik.com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8E39B29-91A4-4995-A732-16B9C1D9A1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719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7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175085" cy="187220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Solução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16797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8ADAB723-EF1A-42D8-A5B3-C80124DC2D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3296" y="4912283"/>
            <a:ext cx="5550908" cy="50802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5B7067A-65C9-B428-EB66-C6669B565E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473" y="2668287"/>
            <a:ext cx="2598983" cy="249800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1D0E88D3-2AE6-74D9-B17F-FBC97A547511}"/>
              </a:ext>
            </a:extLst>
          </p:cNvPr>
          <p:cNvSpPr/>
          <p:nvPr/>
        </p:nvSpPr>
        <p:spPr>
          <a:xfrm>
            <a:off x="7790877" y="5204865"/>
            <a:ext cx="158417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>
                <a:solidFill>
                  <a:schemeClr val="accent6">
                    <a:lumMod val="50000"/>
                  </a:schemeClr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Foto:</a:t>
            </a:r>
            <a:r>
              <a:rPr lang="it-IT" sz="8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sz="800">
                <a:solidFill>
                  <a:schemeClr val="accent6">
                    <a:lumMod val="75000"/>
                  </a:schemeClr>
                </a:solidFill>
              </a:rPr>
              <a:t>https://br.freepik.com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Espaço reservado para conteúdo 13">
            <a:extLst>
              <a:ext uri="{FF2B5EF4-FFF2-40B4-BE49-F238E27FC236}">
                <a16:creationId xmlns:a16="http://schemas.microsoft.com/office/drawing/2014/main" id="{E14B0DB1-B185-EF21-0381-27E872574B7E}"/>
              </a:ext>
            </a:extLst>
          </p:cNvPr>
          <p:cNvSpPr txBox="1">
            <a:spLocks/>
          </p:cNvSpPr>
          <p:nvPr/>
        </p:nvSpPr>
        <p:spPr>
          <a:xfrm>
            <a:off x="1125860" y="3071019"/>
            <a:ext cx="5176192" cy="341557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/>
              <a:t>A criação de um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aplicativo</a:t>
            </a:r>
            <a:r>
              <a:rPr lang="pt-BR" sz="1800" b="1"/>
              <a:t> </a:t>
            </a:r>
            <a:r>
              <a:rPr lang="pt-BR" sz="1800"/>
              <a:t>voltado para idosos, que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auxilia no cuidado com a saúde </a:t>
            </a:r>
            <a:r>
              <a:rPr lang="pt-BR" sz="1800"/>
              <a:t>de forma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simples e acessível</a:t>
            </a:r>
            <a:r>
              <a:rPr lang="pt-BR" sz="1800"/>
              <a:t>. O app contará com telas específicas para organização dos medicamentos, além de um espaço para agendar consultas e exames. </a:t>
            </a:r>
          </a:p>
          <a:p>
            <a:r>
              <a:rPr lang="pt-BR" sz="1800"/>
              <a:t>Também oferecerá uma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interface intuitiva</a:t>
            </a:r>
            <a:r>
              <a:rPr lang="pt-BR" sz="1800" b="1"/>
              <a:t>,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facilitando o uso </a:t>
            </a:r>
            <a:r>
              <a:rPr lang="pt-BR" sz="1800"/>
              <a:t>mesmo para aqueles que tenham pouca familiaridade com a tecnologia.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730650AD-BEA5-44F2-8110-F61744B97A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566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8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175085" cy="187220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Público Alvo (IBGE – 2019)</a:t>
            </a:r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16797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C0A2E4FD-18EA-4BB0-AA2F-46C8AFAE7F6B}"/>
              </a:ext>
            </a:extLst>
          </p:cNvPr>
          <p:cNvSpPr/>
          <p:nvPr/>
        </p:nvSpPr>
        <p:spPr>
          <a:xfrm>
            <a:off x="1236789" y="2708920"/>
            <a:ext cx="554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>
                <a:solidFill>
                  <a:schemeClr val="tx2">
                    <a:lumMod val="85000"/>
                    <a:lumOff val="15000"/>
                  </a:schemeClr>
                </a:solidFill>
              </a:rPr>
              <a:t>Pessoas idosas </a:t>
            </a:r>
            <a:r>
              <a:rPr lang="pt-BR"/>
              <a:t>acima de 60 anos que precisam de apoio no </a:t>
            </a:r>
            <a:r>
              <a:rPr lang="pt-BR" b="1">
                <a:solidFill>
                  <a:schemeClr val="tx2">
                    <a:lumMod val="85000"/>
                    <a:lumOff val="15000"/>
                  </a:schemeClr>
                </a:solidFill>
              </a:rPr>
              <a:t>cuidado da saúde</a:t>
            </a:r>
            <a:r>
              <a:rPr lang="pt-BR"/>
              <a:t>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D033ABE-542F-4823-BED0-4981862A80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9782" y="2420887"/>
            <a:ext cx="2812035" cy="281203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9CB6EA3-9A78-4138-89CB-D483DA71A5A7}"/>
              </a:ext>
            </a:extLst>
          </p:cNvPr>
          <p:cNvSpPr/>
          <p:nvPr/>
        </p:nvSpPr>
        <p:spPr>
          <a:xfrm>
            <a:off x="8069695" y="5311855"/>
            <a:ext cx="187220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>
                <a:solidFill>
                  <a:schemeClr val="accent6">
                    <a:lumMod val="50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Foto: </a:t>
            </a:r>
            <a:r>
              <a:rPr lang="it-IT" sz="800">
                <a:solidFill>
                  <a:schemeClr val="accent6">
                    <a:lumMod val="75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https://www.flaticon.com/br</a:t>
            </a:r>
            <a:r>
              <a:rPr lang="it-IT" sz="80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957EE65-BC04-4163-BA3A-F820F4F08D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E1BA4BB-660C-4AB2-8771-62DADDB48F72}"/>
              </a:ext>
            </a:extLst>
          </p:cNvPr>
          <p:cNvSpPr/>
          <p:nvPr/>
        </p:nvSpPr>
        <p:spPr>
          <a:xfrm>
            <a:off x="1236789" y="4437112"/>
            <a:ext cx="6092825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>
                <a:solidFill>
                  <a:schemeClr val="tx2">
                    <a:lumMod val="85000"/>
                    <a:lumOff val="15000"/>
                  </a:schemeClr>
                </a:solidFill>
              </a:rPr>
              <a:t>Cuidadores responsáveis </a:t>
            </a:r>
            <a:r>
              <a:rPr lang="pt-BR"/>
              <a:t>pelo acompanhamento e </a:t>
            </a:r>
            <a:r>
              <a:rPr lang="pt-BR" b="1">
                <a:solidFill>
                  <a:schemeClr val="tx2">
                    <a:lumMod val="85000"/>
                    <a:lumOff val="15000"/>
                  </a:schemeClr>
                </a:solidFill>
              </a:rPr>
              <a:t>suporte</a:t>
            </a:r>
            <a:r>
              <a:rPr lang="pt-BR"/>
              <a:t> à saúde de idosos.</a:t>
            </a:r>
          </a:p>
        </p:txBody>
      </p:sp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0006122A-9701-4E59-A54B-EC948B25E2C6}"/>
              </a:ext>
            </a:extLst>
          </p:cNvPr>
          <p:cNvSpPr txBox="1">
            <a:spLocks/>
          </p:cNvSpPr>
          <p:nvPr/>
        </p:nvSpPr>
        <p:spPr>
          <a:xfrm>
            <a:off x="1292432" y="3356992"/>
            <a:ext cx="3145796" cy="103096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/>
              <a:t>53% correspondem 60-69 anos</a:t>
            </a:r>
          </a:p>
          <a:p>
            <a:r>
              <a:rPr lang="pt-BR" sz="1200"/>
              <a:t>31% correspondem 70-79 anos</a:t>
            </a:r>
          </a:p>
          <a:p>
            <a:r>
              <a:rPr lang="pt-BR" sz="1200"/>
              <a:t>16% correspondem 80+ anos</a:t>
            </a:r>
          </a:p>
        </p:txBody>
      </p:sp>
      <p:sp>
        <p:nvSpPr>
          <p:cNvPr id="23" name="Espaço reservado para conteúdo 13">
            <a:extLst>
              <a:ext uri="{FF2B5EF4-FFF2-40B4-BE49-F238E27FC236}">
                <a16:creationId xmlns:a16="http://schemas.microsoft.com/office/drawing/2014/main" id="{12087830-53B5-4ACB-A92D-70D5D5953BD6}"/>
              </a:ext>
            </a:extLst>
          </p:cNvPr>
          <p:cNvSpPr txBox="1">
            <a:spLocks/>
          </p:cNvSpPr>
          <p:nvPr/>
        </p:nvSpPr>
        <p:spPr>
          <a:xfrm>
            <a:off x="1236789" y="5190731"/>
            <a:ext cx="4857623" cy="1444084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/>
              <a:t>Idosos com doenças crônicas múltiplas (30%.).</a:t>
            </a:r>
          </a:p>
          <a:p>
            <a:r>
              <a:rPr lang="pt-BR" sz="1400"/>
              <a:t>Idosos assistidos por familiares ou cuidadores (20%).</a:t>
            </a:r>
          </a:p>
          <a:p>
            <a:r>
              <a:rPr lang="pt-BR" sz="1400"/>
              <a:t>Idosos com baixa alfabetização digital (65+ anos).</a:t>
            </a:r>
          </a:p>
          <a:p>
            <a:r>
              <a:rPr lang="pt-BR" sz="1400"/>
              <a:t>Idosos que são mais ativos digitalmente. </a:t>
            </a:r>
          </a:p>
        </p:txBody>
      </p:sp>
    </p:spTree>
    <p:extLst>
      <p:ext uri="{BB962C8B-B14F-4D97-AF65-F5344CB8AC3E}">
        <p14:creationId xmlns:p14="http://schemas.microsoft.com/office/powerpoint/2010/main" val="1482410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9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1" y="2237286"/>
            <a:ext cx="1402552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Esboço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8E3A4033-8DCB-4703-BCD8-2908D7C376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700" y="2101339"/>
            <a:ext cx="6397054" cy="424661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B26899A5-618F-4F5A-988E-7C58E7795B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78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10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175085" cy="187220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Objetivos Gerais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16797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Espaço reservado para conteúdo 13">
            <a:extLst>
              <a:ext uri="{FF2B5EF4-FFF2-40B4-BE49-F238E27FC236}">
                <a16:creationId xmlns:a16="http://schemas.microsoft.com/office/drawing/2014/main" id="{47638F1B-DC53-0D36-8DF5-EAA1FA6C663E}"/>
              </a:ext>
            </a:extLst>
          </p:cNvPr>
          <p:cNvSpPr txBox="1">
            <a:spLocks/>
          </p:cNvSpPr>
          <p:nvPr/>
        </p:nvSpPr>
        <p:spPr>
          <a:xfrm>
            <a:off x="1116797" y="2940773"/>
            <a:ext cx="5176192" cy="228842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800"/>
              <a:t>Desenvolver um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aplicativo que auxilie</a:t>
            </a:r>
            <a:r>
              <a:rPr lang="pt-BR" sz="180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800"/>
              <a:t>idosos a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manter sua saúde em dia</a:t>
            </a:r>
            <a:r>
              <a:rPr lang="pt-BR" sz="1800"/>
              <a:t>, evitando problemas graves em relação a remédios. Facilitar consultas, exames, medicamentos.</a:t>
            </a:r>
          </a:p>
          <a:p>
            <a:pPr algn="just"/>
            <a:r>
              <a:rPr lang="pt-BR" sz="1800"/>
              <a:t>além de permitir contato rápido com serviços de emergência.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Tornar o uso da tecnologia simples e acessível</a:t>
            </a:r>
            <a:r>
              <a:rPr lang="pt-BR" sz="1800">
                <a:solidFill>
                  <a:schemeClr val="tx2">
                    <a:lumMod val="85000"/>
                    <a:lumOff val="15000"/>
                  </a:schemeClr>
                </a:solidFill>
              </a:rPr>
              <a:t>, </a:t>
            </a:r>
            <a:r>
              <a:rPr lang="pt-BR" sz="1800"/>
              <a:t>evitando desânimo e promovendo autonomia.</a:t>
            </a:r>
          </a:p>
        </p:txBody>
      </p:sp>
      <p:pic>
        <p:nvPicPr>
          <p:cNvPr id="2050" name="Picture 2" descr="Objetivo - ícones de diversos grátis">
            <a:extLst>
              <a:ext uri="{FF2B5EF4-FFF2-40B4-BE49-F238E27FC236}">
                <a16:creationId xmlns:a16="http://schemas.microsoft.com/office/drawing/2014/main" id="{B6A8744E-AC16-C171-0D05-DE02DC7CA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604" y="2775842"/>
            <a:ext cx="2473982" cy="2473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597E49E-30C4-903D-116B-BB3CA6DD1440}"/>
              </a:ext>
            </a:extLst>
          </p:cNvPr>
          <p:cNvSpPr/>
          <p:nvPr/>
        </p:nvSpPr>
        <p:spPr>
          <a:xfrm>
            <a:off x="8123491" y="5301208"/>
            <a:ext cx="187220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>
                <a:solidFill>
                  <a:schemeClr val="accent6">
                    <a:lumMod val="50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Foto: </a:t>
            </a:r>
            <a:r>
              <a:rPr lang="it-IT" sz="800">
                <a:solidFill>
                  <a:schemeClr val="accent6">
                    <a:lumMod val="75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https://www.flaticon.com/br</a:t>
            </a:r>
            <a:r>
              <a:rPr lang="it-IT" sz="80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8EFA3E9E-7D46-46FD-8C6F-A30EF61B82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792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11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2952327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Objetivos Específicos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Espaço reservado para conteúdo 13">
            <a:extLst>
              <a:ext uri="{FF2B5EF4-FFF2-40B4-BE49-F238E27FC236}">
                <a16:creationId xmlns:a16="http://schemas.microsoft.com/office/drawing/2014/main" id="{D6F014D4-3F22-ED80-3E14-FF5C41B39D5C}"/>
              </a:ext>
            </a:extLst>
          </p:cNvPr>
          <p:cNvSpPr txBox="1">
            <a:spLocks/>
          </p:cNvSpPr>
          <p:nvPr/>
        </p:nvSpPr>
        <p:spPr>
          <a:xfrm>
            <a:off x="1125861" y="3003786"/>
            <a:ext cx="5760640" cy="21528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/>
              <a:t>Projetar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interface acessível </a:t>
            </a:r>
            <a:r>
              <a:rPr lang="pt-BR" sz="1400"/>
              <a:t>e fácil de usar.</a:t>
            </a:r>
          </a:p>
          <a:p>
            <a:r>
              <a:rPr lang="pt-BR" sz="1400"/>
              <a:t>Analisar aplicativos existentes e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identificar pontos fortes e fracos.</a:t>
            </a:r>
          </a:p>
          <a:p>
            <a:r>
              <a:rPr lang="pt-BR" sz="1400"/>
              <a:t>Criar módulo de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agendamento</a:t>
            </a:r>
            <a:r>
              <a:rPr lang="pt-BR" sz="1400"/>
              <a:t> de consultas e exames.</a:t>
            </a:r>
          </a:p>
          <a:p>
            <a:r>
              <a:rPr lang="pt-BR" sz="1400"/>
              <a:t>Testar o aplicativo com idosos e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ajustar conforme feedback</a:t>
            </a:r>
            <a:r>
              <a:rPr lang="pt-BR" sz="1400"/>
              <a:t>.</a:t>
            </a:r>
          </a:p>
          <a:p>
            <a:r>
              <a:rPr lang="pt-BR" sz="1400"/>
              <a:t>Avaliar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impacto </a:t>
            </a:r>
            <a:r>
              <a:rPr lang="pt-BR" sz="1400"/>
              <a:t>do app na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autonomia</a:t>
            </a:r>
            <a:r>
              <a:rPr lang="pt-BR" sz="1400"/>
              <a:t> dos idosos.</a:t>
            </a:r>
          </a:p>
          <a:p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Integrar contatos </a:t>
            </a:r>
            <a:r>
              <a:rPr lang="pt-BR" sz="1400"/>
              <a:t>de emergência e hospitais.</a:t>
            </a:r>
          </a:p>
          <a:p>
            <a:endParaRPr lang="pt-BR" sz="1050"/>
          </a:p>
          <a:p>
            <a:endParaRPr lang="pt-BR" sz="1400"/>
          </a:p>
        </p:txBody>
      </p:sp>
      <p:pic>
        <p:nvPicPr>
          <p:cNvPr id="1032" name="Picture 8" descr="Alignment, business, management, process, strategy icon ...">
            <a:extLst>
              <a:ext uri="{FF2B5EF4-FFF2-40B4-BE49-F238E27FC236}">
                <a16:creationId xmlns:a16="http://schemas.microsoft.com/office/drawing/2014/main" id="{C5829A8D-9D94-93A7-24FE-9AB79BA1B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225" y="3036159"/>
            <a:ext cx="1836089" cy="183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15B49E5A-7DA7-4809-17AA-25076CA32306}"/>
              </a:ext>
            </a:extLst>
          </p:cNvPr>
          <p:cNvSpPr/>
          <p:nvPr/>
        </p:nvSpPr>
        <p:spPr>
          <a:xfrm>
            <a:off x="7972728" y="4941168"/>
            <a:ext cx="175908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>
                <a:solidFill>
                  <a:schemeClr val="accent6">
                    <a:lumMod val="50000"/>
                  </a:schemeClr>
                </a:solidFill>
                <a:latin typeface="Quicksand-Regular"/>
              </a:rPr>
              <a:t>Foto: https://www.iconfinder.com/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7BCFCAC9-6EBE-4AE8-ADCC-598428C810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435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12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1822757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Justificativa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540075A1-E500-609B-C733-4FCA4BEE2EC6}"/>
              </a:ext>
            </a:extLst>
          </p:cNvPr>
          <p:cNvSpPr txBox="1">
            <a:spLocks/>
          </p:cNvSpPr>
          <p:nvPr/>
        </p:nvSpPr>
        <p:spPr>
          <a:xfrm>
            <a:off x="1194406" y="3063370"/>
            <a:ext cx="6397054" cy="151775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/>
              <a:t>Estima-se que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70%</a:t>
            </a:r>
            <a:r>
              <a:rPr lang="pt-BR" sz="160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600"/>
              <a:t>dos idosos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enfrentam dificuldades </a:t>
            </a:r>
            <a:r>
              <a:rPr lang="pt-BR" sz="1600"/>
              <a:t>em alguma determinada situação, seja em relação a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medicamentos</a:t>
            </a:r>
            <a:r>
              <a:rPr lang="pt-BR" sz="1600"/>
              <a:t>, agendamento de consultas e uso de tecnologia, o que compromete sua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autonomia e</a:t>
            </a:r>
            <a:r>
              <a:rPr lang="pt-BR" sz="160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saúde</a:t>
            </a:r>
            <a:r>
              <a:rPr lang="pt-BR" sz="1600"/>
              <a:t>. O desenvolvimento deste aplicativo busca facilitar essas </a:t>
            </a:r>
            <a:r>
              <a:rPr lang="pt-BR" sz="1600" b="1"/>
              <a:t>tarefas,</a:t>
            </a:r>
            <a:r>
              <a:rPr lang="pt-BR" sz="1600"/>
              <a:t> oferecendo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lembretes</a:t>
            </a:r>
            <a:r>
              <a:rPr lang="pt-BR" sz="1600" b="1"/>
              <a:t>,</a:t>
            </a:r>
            <a:r>
              <a:rPr lang="pt-BR" sz="1600"/>
              <a:t>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agendamentos</a:t>
            </a:r>
            <a:r>
              <a:rPr lang="pt-BR" sz="1600"/>
              <a:t> e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interface</a:t>
            </a:r>
            <a:r>
              <a:rPr lang="pt-BR" sz="1600" b="1"/>
              <a:t>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simples</a:t>
            </a:r>
            <a:r>
              <a:rPr lang="pt-BR" sz="1600"/>
              <a:t>, promovendo maior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segurança</a:t>
            </a:r>
            <a:r>
              <a:rPr lang="pt-BR" sz="1600" b="1"/>
              <a:t> </a:t>
            </a:r>
            <a:r>
              <a:rPr lang="pt-BR" sz="1600"/>
              <a:t>e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independência</a:t>
            </a:r>
            <a:r>
              <a:rPr lang="pt-BR" sz="1600"/>
              <a:t> para o público idoso.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E4AC62F-6797-62F2-A002-F23A0D275F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655" y="2966460"/>
            <a:ext cx="1681297" cy="1992516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F9C6C773-28BC-0A07-1922-753FD7E98B81}"/>
              </a:ext>
            </a:extLst>
          </p:cNvPr>
          <p:cNvSpPr/>
          <p:nvPr/>
        </p:nvSpPr>
        <p:spPr>
          <a:xfrm>
            <a:off x="8516680" y="5145574"/>
            <a:ext cx="14552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>
                <a:solidFill>
                  <a:schemeClr val="accent6">
                    <a:lumMod val="50000"/>
                  </a:schemeClr>
                </a:solidFill>
                <a:latin typeface="Quicksand-Regular"/>
              </a:rPr>
              <a:t>Foto: https://pngtree.com/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AAEC1E6D-82B7-4BC4-9EDE-A9BF5BDB15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867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13</a:t>
            </a:fld>
            <a:endParaRPr lang="pt-BR" noProof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505762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B87216F2-B448-45E6-8436-31B8779C7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497" y="2514743"/>
            <a:ext cx="3171299" cy="256014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494C0A6B-28C9-4DC8-9EAE-62C4D3C2F602}"/>
              </a:ext>
            </a:extLst>
          </p:cNvPr>
          <p:cNvSpPr/>
          <p:nvPr/>
        </p:nvSpPr>
        <p:spPr>
          <a:xfrm>
            <a:off x="7805973" y="5209642"/>
            <a:ext cx="147525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>
                <a:solidFill>
                  <a:schemeClr val="accent6">
                    <a:lumMod val="50000"/>
                  </a:schemeClr>
                </a:solidFill>
                <a:latin typeface="Quicksand-Regular"/>
              </a:rPr>
              <a:t>Foto: </a:t>
            </a:r>
            <a:r>
              <a:rPr lang="pt-BR" sz="800">
                <a:solidFill>
                  <a:schemeClr val="accent6">
                    <a:lumMod val="75000"/>
                  </a:schemeClr>
                </a:solidFill>
                <a:latin typeface="Quicksand-Regular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'https://br.freepik.com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05B37F-0845-7DA8-95B8-01F860CE5E17}"/>
              </a:ext>
            </a:extLst>
          </p:cNvPr>
          <p:cNvSpPr/>
          <p:nvPr/>
        </p:nvSpPr>
        <p:spPr>
          <a:xfrm>
            <a:off x="1424918" y="3356992"/>
            <a:ext cx="43934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sz="1800"/>
              <a:t>Entregar pequenas partes do projeto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rapidamente</a:t>
            </a:r>
            <a:r>
              <a:rPr lang="pt-BR" sz="1800"/>
              <a:t>, ajustando sempre que necessário, com foco em </a:t>
            </a:r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colaboração</a:t>
            </a:r>
            <a:r>
              <a:rPr lang="pt-BR" sz="1800"/>
              <a:t> e resultados.</a:t>
            </a:r>
          </a:p>
          <a:p>
            <a:endParaRPr lang="pt-BR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1AF808A0-F45E-453C-B987-6728FDA2E4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EA0112CB-5015-40C5-98F1-7A72482F444F}"/>
              </a:ext>
            </a:extLst>
          </p:cNvPr>
          <p:cNvSpPr txBox="1">
            <a:spLocks/>
          </p:cNvSpPr>
          <p:nvPr/>
        </p:nvSpPr>
        <p:spPr>
          <a:xfrm>
            <a:off x="1076919" y="2204864"/>
            <a:ext cx="4505469" cy="289043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Metodologia Utilizada foi o Scrum</a:t>
            </a:r>
          </a:p>
          <a:p>
            <a:endParaRPr lang="pt-BR" sz="2000" b="1">
              <a:solidFill>
                <a:schemeClr val="tx2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390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14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56895" y="1988840"/>
            <a:ext cx="1822757" cy="365125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Tecnologias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89494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F089F89C-65DB-4B1A-B56D-C65673B848C7}"/>
              </a:ext>
            </a:extLst>
          </p:cNvPr>
          <p:cNvSpPr/>
          <p:nvPr/>
        </p:nvSpPr>
        <p:spPr>
          <a:xfrm>
            <a:off x="1161461" y="2348880"/>
            <a:ext cx="41165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/>
              <a:t>Utilizamos as seguintes Ferramentas:</a:t>
            </a:r>
          </a:p>
        </p:txBody>
      </p:sp>
      <p:pic>
        <p:nvPicPr>
          <p:cNvPr id="1026" name="Picture 2" descr="Design PNG E SVG De Ícone De Ferramentas De Configuração Para Camisetas">
            <a:extLst>
              <a:ext uri="{FF2B5EF4-FFF2-40B4-BE49-F238E27FC236}">
                <a16:creationId xmlns:a16="http://schemas.microsoft.com/office/drawing/2014/main" id="{1330E849-DD85-62B5-4435-66B43ABBF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9272" y="3633920"/>
            <a:ext cx="1467386" cy="1467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C99C18B-85A3-7586-9D85-0C45E2C2870E}"/>
              </a:ext>
            </a:extLst>
          </p:cNvPr>
          <p:cNvSpPr/>
          <p:nvPr/>
        </p:nvSpPr>
        <p:spPr>
          <a:xfrm>
            <a:off x="7815962" y="5137153"/>
            <a:ext cx="14552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>
                <a:solidFill>
                  <a:schemeClr val="accent6">
                    <a:lumMod val="50000"/>
                  </a:schemeClr>
                </a:solidFill>
                <a:latin typeface="Quicksand-Regular"/>
              </a:rPr>
              <a:t>Foto: </a:t>
            </a:r>
            <a:r>
              <a:rPr lang="pt-BR" sz="800">
                <a:solidFill>
                  <a:schemeClr val="accent6">
                    <a:lumMod val="75000"/>
                  </a:schemeClr>
                </a:solidFill>
                <a:latin typeface="Quicksand-Regular"/>
              </a:rPr>
              <a:t>https://br.vexels.com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50226B5-1FE3-4B32-952D-F42D0AB59C06}"/>
              </a:ext>
            </a:extLst>
          </p:cNvPr>
          <p:cNvGrpSpPr/>
          <p:nvPr/>
        </p:nvGrpSpPr>
        <p:grpSpPr>
          <a:xfrm>
            <a:off x="1217899" y="2954297"/>
            <a:ext cx="2370525" cy="2528064"/>
            <a:chOff x="1156895" y="2628280"/>
            <a:chExt cx="2370525" cy="2528064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C1C2924C-EC15-4B6C-9C43-EAC79B11500B}"/>
                </a:ext>
              </a:extLst>
            </p:cNvPr>
            <p:cNvSpPr/>
            <p:nvPr/>
          </p:nvSpPr>
          <p:spPr>
            <a:xfrm>
              <a:off x="1156895" y="2628280"/>
              <a:ext cx="2175163" cy="2528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pt-BR"/>
                <a:t>Teams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pt-BR"/>
                <a:t>Bloco de Notas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pt-BR"/>
                <a:t>WhatsApp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pt-BR"/>
                <a:t>Google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pt-BR"/>
                <a:t>GitHub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pt-BR" err="1"/>
                <a:t>Discord</a:t>
              </a:r>
              <a:r>
                <a:rPr lang="pt-BR"/>
                <a:t> </a:t>
              </a:r>
            </a:p>
          </p:txBody>
        </p:sp>
        <p:pic>
          <p:nvPicPr>
            <p:cNvPr id="6" name="Picture 2" descr="File:Microsoft Office Teams (2018–present).svg - Wikimedia ...">
              <a:extLst>
                <a:ext uri="{FF2B5EF4-FFF2-40B4-BE49-F238E27FC236}">
                  <a16:creationId xmlns:a16="http://schemas.microsoft.com/office/drawing/2014/main" id="{81EE6CAA-3C4A-461E-9B01-E52A05193E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0701" y="2749513"/>
              <a:ext cx="3060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Ficheiro:Logo Bloco de Notas-pt.PNG – Wikipédia, a ...">
              <a:extLst>
                <a:ext uri="{FF2B5EF4-FFF2-40B4-BE49-F238E27FC236}">
                  <a16:creationId xmlns:a16="http://schemas.microsoft.com/office/drawing/2014/main" id="{CC3C442B-6493-4C98-A4EE-B8D5E2303D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3852" y="3200170"/>
              <a:ext cx="303568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Whatsapp PNG Images | Vetores E Arquivos PSD | Download ...">
              <a:extLst>
                <a:ext uri="{FF2B5EF4-FFF2-40B4-BE49-F238E27FC236}">
                  <a16:creationId xmlns:a16="http://schemas.microsoft.com/office/drawing/2014/main" id="{AC1F5A06-F49E-4177-826F-7689104A83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9446" y="3594629"/>
              <a:ext cx="2880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Ícone colorido de Google Logo em PNG, SVG">
              <a:extLst>
                <a:ext uri="{FF2B5EF4-FFF2-40B4-BE49-F238E27FC236}">
                  <a16:creationId xmlns:a16="http://schemas.microsoft.com/office/drawing/2014/main" id="{6948858C-7C4C-4C7A-BD7D-5D34E3B723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7431" y="4010580"/>
              <a:ext cx="263252" cy="247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Logotipo do github - ícones de mídia social grátis">
              <a:extLst>
                <a:ext uri="{FF2B5EF4-FFF2-40B4-BE49-F238E27FC236}">
                  <a16:creationId xmlns:a16="http://schemas.microsoft.com/office/drawing/2014/main" id="{BAAE0C50-D97C-45C5-BA2C-CFC2392B8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7701" y="4435358"/>
              <a:ext cx="247767" cy="247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9" name="Imagem 28">
            <a:extLst>
              <a:ext uri="{FF2B5EF4-FFF2-40B4-BE49-F238E27FC236}">
                <a16:creationId xmlns:a16="http://schemas.microsoft.com/office/drawing/2014/main" id="{1D05C3C7-62A9-4ED9-9242-60EBFAEC49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5E955B3D-9D5C-4B21-8126-342E87F32EF0}"/>
              </a:ext>
            </a:extLst>
          </p:cNvPr>
          <p:cNvGrpSpPr/>
          <p:nvPr/>
        </p:nvGrpSpPr>
        <p:grpSpPr>
          <a:xfrm>
            <a:off x="4798268" y="2954297"/>
            <a:ext cx="1930230" cy="2112566"/>
            <a:chOff x="4761273" y="2718212"/>
            <a:chExt cx="1930230" cy="2112566"/>
          </a:xfrm>
        </p:grpSpPr>
        <p:pic>
          <p:nvPicPr>
            <p:cNvPr id="1042" name="Picture 18" descr="Ícones, Logotipos, Símbolos de Microsoft word – Baixe ...">
              <a:extLst>
                <a:ext uri="{FF2B5EF4-FFF2-40B4-BE49-F238E27FC236}">
                  <a16:creationId xmlns:a16="http://schemas.microsoft.com/office/drawing/2014/main" id="{51452C51-A56C-473C-862F-29F376DAED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3311" y="2886814"/>
              <a:ext cx="311352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Figma logo - Ícones Social media e Logos">
              <a:extLst>
                <a:ext uri="{FF2B5EF4-FFF2-40B4-BE49-F238E27FC236}">
                  <a16:creationId xmlns:a16="http://schemas.microsoft.com/office/drawing/2014/main" id="{6C8522FA-5B78-4C0B-84D5-2B3D8FAFA7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0311" y="3295718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AutoShape 30" descr="Ícone colorido de Microsoft PowerPoint 2019 em PNG, SVG">
              <a:extLst>
                <a:ext uri="{FF2B5EF4-FFF2-40B4-BE49-F238E27FC236}">
                  <a16:creationId xmlns:a16="http://schemas.microsoft.com/office/drawing/2014/main" id="{048F3914-166C-45E2-BF9B-7498DBC9B1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02027" y="3436614"/>
              <a:ext cx="144786" cy="1447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1056" name="Picture 32" descr="Ícone colorido de Microsoft PowerPoint 2019 em PNG, SVG">
              <a:extLst>
                <a:ext uri="{FF2B5EF4-FFF2-40B4-BE49-F238E27FC236}">
                  <a16:creationId xmlns:a16="http://schemas.microsoft.com/office/drawing/2014/main" id="{8ACC3D40-7C84-4618-94F8-7593460AAE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3503" y="4081641"/>
              <a:ext cx="2880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8" name="Picture 34" descr="canva transparente ícone 48759334 PNG">
              <a:extLst>
                <a:ext uri="{FF2B5EF4-FFF2-40B4-BE49-F238E27FC236}">
                  <a16:creationId xmlns:a16="http://schemas.microsoft.com/office/drawing/2014/main" id="{5C584D1C-85EB-47B9-8F91-3AD850DD07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2851" y="3642452"/>
              <a:ext cx="369332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raw.io Avaliações 2025: Detalhes, Preços e Recursos | G2">
              <a:extLst>
                <a:ext uri="{FF2B5EF4-FFF2-40B4-BE49-F238E27FC236}">
                  <a16:creationId xmlns:a16="http://schemas.microsoft.com/office/drawing/2014/main" id="{6FEB097D-F31B-4002-8CB4-5C83A1662E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1192" y="4510771"/>
              <a:ext cx="503462" cy="264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8EAF87FF-7051-472B-922A-EFB2E0AB1DC2}"/>
                </a:ext>
              </a:extLst>
            </p:cNvPr>
            <p:cNvSpPr/>
            <p:nvPr/>
          </p:nvSpPr>
          <p:spPr>
            <a:xfrm>
              <a:off x="4761273" y="2718212"/>
              <a:ext cx="1642230" cy="21125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pt-BR"/>
                <a:t>Word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pt-BR" err="1"/>
                <a:t>Figma</a:t>
              </a:r>
              <a:endParaRPr lang="pt-BR"/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pt-BR" err="1"/>
                <a:t>Canva</a:t>
              </a:r>
              <a:endParaRPr lang="pt-BR"/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pt-BR"/>
                <a:t>PowerPoint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pt-BR"/>
                <a:t>Draw.io</a:t>
              </a:r>
            </a:p>
          </p:txBody>
        </p:sp>
      </p:grpSp>
      <p:pic>
        <p:nvPicPr>
          <p:cNvPr id="3076" name="Picture 4" descr="Discord - Free business icons">
            <a:extLst>
              <a:ext uri="{FF2B5EF4-FFF2-40B4-BE49-F238E27FC236}">
                <a16:creationId xmlns:a16="http://schemas.microsoft.com/office/drawing/2014/main" id="{3043C336-8AFB-484C-98C8-E9B10B524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494043" y="5157223"/>
            <a:ext cx="288001" cy="28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3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15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1" y="1703916"/>
            <a:ext cx="3709385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Requisitos Funcionais</a:t>
            </a:r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3898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53DB4806-85C0-4DEB-961B-1547851B1257}"/>
              </a:ext>
            </a:extLst>
          </p:cNvPr>
          <p:cNvSpPr txBox="1">
            <a:spLocks/>
          </p:cNvSpPr>
          <p:nvPr/>
        </p:nvSpPr>
        <p:spPr>
          <a:xfrm>
            <a:off x="1328210" y="2219086"/>
            <a:ext cx="2749978" cy="412813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/>
              <a:t>Prover telas intuitivas;</a:t>
            </a:r>
          </a:p>
          <a:p>
            <a:r>
              <a:rPr lang="pt-BR" sz="1600"/>
              <a:t>Prover tela para idosos e cuidadores ;</a:t>
            </a:r>
          </a:p>
          <a:p>
            <a:r>
              <a:rPr lang="pt-BR" sz="1600"/>
              <a:t>Prover relatórios;</a:t>
            </a:r>
          </a:p>
          <a:p>
            <a:r>
              <a:rPr lang="pt-BR" sz="1600"/>
              <a:t>Prover alertas;</a:t>
            </a:r>
          </a:p>
          <a:p>
            <a:r>
              <a:rPr lang="pt-BR" sz="1600"/>
              <a:t>Prover exames e consultas;</a:t>
            </a:r>
          </a:p>
          <a:p>
            <a:r>
              <a:rPr lang="pt-BR" sz="1600"/>
              <a:t>Prover leitura de voz;</a:t>
            </a:r>
          </a:p>
          <a:p>
            <a:r>
              <a:rPr lang="pt-BR" sz="1600"/>
              <a:t>Prover botão de ajuda;</a:t>
            </a:r>
          </a:p>
          <a:p>
            <a:r>
              <a:rPr lang="pt-BR" sz="1600"/>
              <a:t>Prover contato com os médicos;</a:t>
            </a:r>
          </a:p>
          <a:p>
            <a:r>
              <a:rPr lang="pt-BR" sz="1600"/>
              <a:t>Prover Chatbot; </a:t>
            </a:r>
          </a:p>
          <a:p>
            <a:endParaRPr lang="pt-BR" sz="1600"/>
          </a:p>
          <a:p>
            <a:endParaRPr lang="pt-BR" sz="1600"/>
          </a:p>
          <a:p>
            <a:endParaRPr lang="pt-BR" sz="1600"/>
          </a:p>
        </p:txBody>
      </p:sp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AD38B335-9A03-49CE-8998-7B84A8B620A3}"/>
              </a:ext>
            </a:extLst>
          </p:cNvPr>
          <p:cNvSpPr txBox="1">
            <a:spLocks/>
          </p:cNvSpPr>
          <p:nvPr/>
        </p:nvSpPr>
        <p:spPr>
          <a:xfrm>
            <a:off x="6330754" y="2219085"/>
            <a:ext cx="2643978" cy="4128139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/>
              <a:t>Prover informações da saúde do usuário;</a:t>
            </a:r>
          </a:p>
          <a:p>
            <a:r>
              <a:rPr lang="pt-BR" sz="1600"/>
              <a:t>Prover solicitação de medicamentos;</a:t>
            </a:r>
          </a:p>
          <a:p>
            <a:r>
              <a:rPr lang="pt-BR" sz="1600"/>
              <a:t>Prover receitas medicas;</a:t>
            </a:r>
          </a:p>
          <a:p>
            <a:r>
              <a:rPr lang="pt-BR" sz="1600"/>
              <a:t>Prover aplicativo</a:t>
            </a:r>
          </a:p>
          <a:p>
            <a:r>
              <a:rPr lang="pt-BR" sz="1600"/>
              <a:t>Prover notificações</a:t>
            </a:r>
          </a:p>
          <a:p>
            <a:r>
              <a:rPr lang="pt-BR" sz="1600"/>
              <a:t>Prover lembretes</a:t>
            </a:r>
          </a:p>
          <a:p>
            <a:r>
              <a:rPr lang="pt-BR" sz="1600"/>
              <a:t>Prover conexão com hospitais e farmácias </a:t>
            </a:r>
          </a:p>
          <a:p>
            <a:endParaRPr lang="pt-BR" sz="1600"/>
          </a:p>
          <a:p>
            <a:endParaRPr lang="pt-BR" sz="160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768AD0AA-6E68-4B87-8AB7-B5512CB3E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037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16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1" y="1703916"/>
            <a:ext cx="3709385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Requisitos Não Funcionais</a:t>
            </a:r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/>
          </a:p>
        </p:txBody>
      </p:sp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657B1673-177E-4AE8-840A-5C102D2B8750}"/>
              </a:ext>
            </a:extLst>
          </p:cNvPr>
          <p:cNvSpPr txBox="1">
            <a:spLocks/>
          </p:cNvSpPr>
          <p:nvPr/>
        </p:nvSpPr>
        <p:spPr>
          <a:xfrm>
            <a:off x="1342784" y="2264964"/>
            <a:ext cx="2088232" cy="3136721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/>
              <a:t>Segurança</a:t>
            </a:r>
          </a:p>
          <a:p>
            <a:r>
              <a:rPr lang="pt-BR" sz="1600"/>
              <a:t>Acessibilidade</a:t>
            </a:r>
          </a:p>
          <a:p>
            <a:r>
              <a:rPr lang="pt-BR" sz="1600"/>
              <a:t>Compatibilidade</a:t>
            </a:r>
          </a:p>
          <a:p>
            <a:r>
              <a:rPr lang="pt-BR" sz="1600"/>
              <a:t>Personalização</a:t>
            </a:r>
          </a:p>
          <a:p>
            <a:r>
              <a:rPr lang="pt-BR" sz="1600"/>
              <a:t>Otimização</a:t>
            </a:r>
          </a:p>
          <a:p>
            <a:r>
              <a:rPr lang="pt-BR" sz="1600"/>
              <a:t>Escalabilidade</a:t>
            </a:r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</p:txBody>
      </p:sp>
      <p:sp>
        <p:nvSpPr>
          <p:cNvPr id="23" name="Espaço reservado para conteúdo 13">
            <a:extLst>
              <a:ext uri="{FF2B5EF4-FFF2-40B4-BE49-F238E27FC236}">
                <a16:creationId xmlns:a16="http://schemas.microsoft.com/office/drawing/2014/main" id="{720CFA91-FAEF-46E3-A766-574851808B46}"/>
              </a:ext>
            </a:extLst>
          </p:cNvPr>
          <p:cNvSpPr txBox="1">
            <a:spLocks/>
          </p:cNvSpPr>
          <p:nvPr/>
        </p:nvSpPr>
        <p:spPr>
          <a:xfrm>
            <a:off x="6958508" y="2264964"/>
            <a:ext cx="2088232" cy="2859911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/>
              <a:t>Desempenho</a:t>
            </a:r>
          </a:p>
          <a:p>
            <a:r>
              <a:rPr lang="pt-BR" sz="1600"/>
              <a:t>Usabilidade</a:t>
            </a:r>
          </a:p>
          <a:p>
            <a:r>
              <a:rPr lang="pt-BR" sz="1600"/>
              <a:t>Confiabilidade</a:t>
            </a:r>
          </a:p>
          <a:p>
            <a:r>
              <a:rPr lang="pt-BR" sz="1600"/>
              <a:t>Disponibilidade</a:t>
            </a:r>
          </a:p>
          <a:p>
            <a:r>
              <a:rPr lang="pt-BR" sz="1600"/>
              <a:t>Criptografia</a:t>
            </a:r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71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17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1" y="1703916"/>
            <a:ext cx="3869036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Protótipo de Baixa Fidelidade</a:t>
            </a:r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6DD1452-97DB-42D4-B0E8-1191A17842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1884" y="2071836"/>
            <a:ext cx="9105900" cy="4381500"/>
          </a:xfrm>
          <a:prstGeom prst="rect">
            <a:avLst/>
          </a:prstGeom>
        </p:spPr>
      </p:pic>
      <p:sp>
        <p:nvSpPr>
          <p:cNvPr id="24" name="Espaço reservado para conteúdo 13">
            <a:extLst>
              <a:ext uri="{FF2B5EF4-FFF2-40B4-BE49-F238E27FC236}">
                <a16:creationId xmlns:a16="http://schemas.microsoft.com/office/drawing/2014/main" id="{348B6A2F-BABE-4D3B-AA0A-AE4800031F13}"/>
              </a:ext>
            </a:extLst>
          </p:cNvPr>
          <p:cNvSpPr txBox="1">
            <a:spLocks/>
          </p:cNvSpPr>
          <p:nvPr/>
        </p:nvSpPr>
        <p:spPr>
          <a:xfrm>
            <a:off x="1688299" y="6437454"/>
            <a:ext cx="3974065" cy="25121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/>
              <a:t>Desenvolvido pela Equipe_03 Usando o Caderno.</a:t>
            </a:r>
          </a:p>
        </p:txBody>
      </p:sp>
    </p:spTree>
    <p:extLst>
      <p:ext uri="{BB962C8B-B14F-4D97-AF65-F5344CB8AC3E}">
        <p14:creationId xmlns:p14="http://schemas.microsoft.com/office/powerpoint/2010/main" val="3249326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18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1" y="1703916"/>
            <a:ext cx="4028738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Protótipo de Média Fidelidade</a:t>
            </a:r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F73D5D07-65C5-4707-BA0D-E6CA6A8DAD01}"/>
              </a:ext>
            </a:extLst>
          </p:cNvPr>
          <p:cNvSpPr txBox="1">
            <a:spLocks/>
          </p:cNvSpPr>
          <p:nvPr/>
        </p:nvSpPr>
        <p:spPr>
          <a:xfrm>
            <a:off x="1688299" y="6437454"/>
            <a:ext cx="3974065" cy="25121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/>
              <a:t>Desenvolvido pela Equipe_03 Usando o </a:t>
            </a:r>
            <a:r>
              <a:rPr lang="pt-BR" sz="1200" err="1"/>
              <a:t>Balsamiq</a:t>
            </a:r>
            <a:r>
              <a:rPr lang="pt-BR" sz="1200"/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C4BB0A3-DEFD-5BA1-D07A-BDC826322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0036" y="1983901"/>
            <a:ext cx="6768752" cy="446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551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19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1" y="1703916"/>
            <a:ext cx="3869036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Protótipo de Alta Fidelidade</a:t>
            </a:r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311E8F3-FBC1-44E1-AD0A-44A6476257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2746" y="2034270"/>
            <a:ext cx="6942026" cy="4362649"/>
          </a:xfrm>
          <a:prstGeom prst="rect">
            <a:avLst/>
          </a:prstGeom>
        </p:spPr>
      </p:pic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162260AE-5A24-4A1C-BB8E-11B0C483EDFF}"/>
              </a:ext>
            </a:extLst>
          </p:cNvPr>
          <p:cNvSpPr txBox="1">
            <a:spLocks/>
          </p:cNvSpPr>
          <p:nvPr/>
        </p:nvSpPr>
        <p:spPr>
          <a:xfrm>
            <a:off x="1688299" y="6437454"/>
            <a:ext cx="3974065" cy="25121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/>
              <a:t>Desenvolvido pela Equipe_03 Usando o </a:t>
            </a:r>
            <a:r>
              <a:rPr lang="pt-BR" sz="1200" err="1"/>
              <a:t>Figma</a:t>
            </a:r>
            <a:r>
              <a:rPr lang="pt-BR" sz="1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4998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20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0" y="1703916"/>
            <a:ext cx="5486130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Evolução do Protótipo da Tela de Cadastro</a:t>
            </a:r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DDD1F5E-8E29-4CC0-9414-2255239FC0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8377" y="2103542"/>
            <a:ext cx="7771700" cy="438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87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>
          <a:xfrm>
            <a:off x="8073391" y="6481958"/>
            <a:ext cx="3974065" cy="365125"/>
          </a:xfrm>
        </p:spPr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21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0" y="1703916"/>
            <a:ext cx="5486130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Diagrama UML de Classe</a:t>
            </a:r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9" name="AutoShape 6" descr="Imagem">
            <a:extLst>
              <a:ext uri="{FF2B5EF4-FFF2-40B4-BE49-F238E27FC236}">
                <a16:creationId xmlns:a16="http://schemas.microsoft.com/office/drawing/2014/main" id="{99CC09E3-BE93-427A-A447-D4A1C4E2B2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29213" y="3276600"/>
            <a:ext cx="3617600" cy="361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4" name="Espaço reservado para conteúdo 13">
            <a:extLst>
              <a:ext uri="{FF2B5EF4-FFF2-40B4-BE49-F238E27FC236}">
                <a16:creationId xmlns:a16="http://schemas.microsoft.com/office/drawing/2014/main" id="{229C02A9-E007-403D-873B-A54F54AEC69D}"/>
              </a:ext>
            </a:extLst>
          </p:cNvPr>
          <p:cNvSpPr txBox="1">
            <a:spLocks/>
          </p:cNvSpPr>
          <p:nvPr/>
        </p:nvSpPr>
        <p:spPr>
          <a:xfrm>
            <a:off x="3613237" y="6538913"/>
            <a:ext cx="3974065" cy="25121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/>
              <a:t>Desenvolvido pela Equipe_03 Usando o Draw.io.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2CAADC2-E65E-4460-B12C-03B0DD846A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8629" y="1988840"/>
            <a:ext cx="6031566" cy="459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00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22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0" y="1703916"/>
            <a:ext cx="5486130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Diagrama UML de Caso de Uso</a:t>
            </a:r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4" name="AutoShape 2" descr="Imagem">
            <a:extLst>
              <a:ext uri="{FF2B5EF4-FFF2-40B4-BE49-F238E27FC236}">
                <a16:creationId xmlns:a16="http://schemas.microsoft.com/office/drawing/2014/main" id="{F60212D9-2AFE-4536-B6C1-452C231E3D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3" name="Espaço reservado para conteúdo 13">
            <a:extLst>
              <a:ext uri="{FF2B5EF4-FFF2-40B4-BE49-F238E27FC236}">
                <a16:creationId xmlns:a16="http://schemas.microsoft.com/office/drawing/2014/main" id="{8E4814EB-01EF-41B7-908F-07466A1031D7}"/>
              </a:ext>
            </a:extLst>
          </p:cNvPr>
          <p:cNvSpPr txBox="1">
            <a:spLocks/>
          </p:cNvSpPr>
          <p:nvPr/>
        </p:nvSpPr>
        <p:spPr>
          <a:xfrm>
            <a:off x="3613237" y="6538913"/>
            <a:ext cx="3974065" cy="25121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/>
              <a:t>Desenvolvido pela Equipe_03 Usando o Draw.io.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3CBBBCF-5A95-4F67-8B19-06EF3D902F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3772" y="1988840"/>
            <a:ext cx="4217232" cy="458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85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23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0" y="1703916"/>
            <a:ext cx="6566250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Diagrama Entidade-Relacionamento Conceitual(DER)</a:t>
            </a:r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4" name="AutoShape 2" descr="Imagem">
            <a:extLst>
              <a:ext uri="{FF2B5EF4-FFF2-40B4-BE49-F238E27FC236}">
                <a16:creationId xmlns:a16="http://schemas.microsoft.com/office/drawing/2014/main" id="{F60212D9-2AFE-4536-B6C1-452C231E3D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A4DAD37-4A04-4E6D-BC38-84F1949AF7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0537" y="2009924"/>
            <a:ext cx="5723702" cy="4378268"/>
          </a:xfrm>
          <a:prstGeom prst="rect">
            <a:avLst/>
          </a:prstGeom>
        </p:spPr>
      </p:pic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CF5BFBC7-F178-4750-8231-388FEB7E002E}"/>
              </a:ext>
            </a:extLst>
          </p:cNvPr>
          <p:cNvSpPr txBox="1">
            <a:spLocks/>
          </p:cNvSpPr>
          <p:nvPr/>
        </p:nvSpPr>
        <p:spPr>
          <a:xfrm>
            <a:off x="3613237" y="6538913"/>
            <a:ext cx="3974065" cy="25121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/>
              <a:t>Desenvolvido pela Equipe_03 Usando o Draw.io.</a:t>
            </a:r>
          </a:p>
        </p:txBody>
      </p:sp>
    </p:spTree>
    <p:extLst>
      <p:ext uri="{BB962C8B-B14F-4D97-AF65-F5344CB8AC3E}">
        <p14:creationId xmlns:p14="http://schemas.microsoft.com/office/powerpoint/2010/main" val="3428699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24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040330" y="1703916"/>
            <a:ext cx="6174838" cy="39962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Modelo Lógico de Banco de Dados (DER Lógico)</a:t>
            </a:r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6743" y="587869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241188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7454690B-DC62-4DED-9CEB-2448A1AE9FB6}"/>
              </a:ext>
            </a:extLst>
          </p:cNvPr>
          <p:cNvSpPr/>
          <p:nvPr/>
        </p:nvSpPr>
        <p:spPr>
          <a:xfrm>
            <a:off x="1341884" y="2580531"/>
            <a:ext cx="45723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68DBC4D-87EF-42F8-87D7-0567B951C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4" name="AutoShape 2" descr="Imagem">
            <a:extLst>
              <a:ext uri="{FF2B5EF4-FFF2-40B4-BE49-F238E27FC236}">
                <a16:creationId xmlns:a16="http://schemas.microsoft.com/office/drawing/2014/main" id="{F60212D9-2AFE-4536-B6C1-452C231E3D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2" descr="Imagem">
            <a:extLst>
              <a:ext uri="{FF2B5EF4-FFF2-40B4-BE49-F238E27FC236}">
                <a16:creationId xmlns:a16="http://schemas.microsoft.com/office/drawing/2014/main" id="{A8ED9629-6444-01EC-BD93-B74BDDAB0C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4413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1D2D536-5EB1-4370-804F-510E76A1EC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2537" y="2015469"/>
            <a:ext cx="4270027" cy="4581883"/>
          </a:xfrm>
          <a:prstGeom prst="rect">
            <a:avLst/>
          </a:prstGeom>
        </p:spPr>
      </p:pic>
      <p:sp>
        <p:nvSpPr>
          <p:cNvPr id="23" name="Espaço reservado para conteúdo 13">
            <a:extLst>
              <a:ext uri="{FF2B5EF4-FFF2-40B4-BE49-F238E27FC236}">
                <a16:creationId xmlns:a16="http://schemas.microsoft.com/office/drawing/2014/main" id="{29231FE8-3F43-4BD9-99E2-E16B6BC9159F}"/>
              </a:ext>
            </a:extLst>
          </p:cNvPr>
          <p:cNvSpPr txBox="1">
            <a:spLocks/>
          </p:cNvSpPr>
          <p:nvPr/>
        </p:nvSpPr>
        <p:spPr>
          <a:xfrm>
            <a:off x="3613237" y="6538913"/>
            <a:ext cx="3974065" cy="25121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/>
              <a:t>Desenvolvido pela Equipe_03 Usando o Draw.io.</a:t>
            </a:r>
          </a:p>
        </p:txBody>
      </p:sp>
    </p:spTree>
    <p:extLst>
      <p:ext uri="{BB962C8B-B14F-4D97-AF65-F5344CB8AC3E}">
        <p14:creationId xmlns:p14="http://schemas.microsoft.com/office/powerpoint/2010/main" val="1893899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25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175085" cy="444194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Pesquisa – </a:t>
            </a:r>
            <a:r>
              <a:rPr lang="pt-BR" sz="2000"/>
              <a:t>Aplicação (IBGE – 2024)</a:t>
            </a:r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16797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99CB6EA3-9A78-4138-89CB-D483DA71A5A7}"/>
              </a:ext>
            </a:extLst>
          </p:cNvPr>
          <p:cNvSpPr/>
          <p:nvPr/>
        </p:nvSpPr>
        <p:spPr>
          <a:xfrm>
            <a:off x="8069695" y="5311855"/>
            <a:ext cx="187220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>
                <a:solidFill>
                  <a:schemeClr val="accent6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Foto: </a:t>
            </a:r>
            <a:r>
              <a:rPr lang="it-IT" sz="800">
                <a:solidFill>
                  <a:schemeClr val="accent6">
                    <a:lumMod val="75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https://www.flaticon.com/br</a:t>
            </a:r>
            <a:r>
              <a:rPr lang="it-IT" sz="80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957EE65-BC04-4163-BA3A-F820F4F08D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0006122A-9701-4E59-A54B-EC948B25E2C6}"/>
              </a:ext>
            </a:extLst>
          </p:cNvPr>
          <p:cNvSpPr txBox="1">
            <a:spLocks/>
          </p:cNvSpPr>
          <p:nvPr/>
        </p:nvSpPr>
        <p:spPr>
          <a:xfrm>
            <a:off x="1116796" y="2708919"/>
            <a:ext cx="6092825" cy="3647431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b="0" i="0">
                <a:effectLst/>
                <a:latin typeface="gg sans"/>
              </a:rPr>
              <a:t>O projeto </a:t>
            </a:r>
            <a:r>
              <a:rPr lang="pt-BR" sz="1200" b="1" i="0">
                <a:effectLst/>
                <a:latin typeface="gg sans"/>
              </a:rPr>
              <a:t>propõe</a:t>
            </a:r>
            <a:r>
              <a:rPr lang="pt-BR" sz="1200" b="0" i="0">
                <a:effectLst/>
                <a:latin typeface="gg sans"/>
              </a:rPr>
              <a:t> um aplicativo para </a:t>
            </a:r>
            <a:r>
              <a:rPr lang="pt-BR" sz="1200" b="1" i="0">
                <a:effectLst/>
                <a:latin typeface="gg sans"/>
              </a:rPr>
              <a:t>apoiar</a:t>
            </a:r>
            <a:r>
              <a:rPr lang="pt-BR" sz="1200" b="0" i="0">
                <a:effectLst/>
                <a:latin typeface="gg sans"/>
              </a:rPr>
              <a:t> mais de 32 milhões de idosos, mesmo que 39% já utilizem aplicativos de saúde, reforçando a necessidade de acessibilidade. </a:t>
            </a:r>
          </a:p>
          <a:p>
            <a:r>
              <a:rPr lang="pt-BR" sz="1200" b="0" i="0">
                <a:effectLst/>
                <a:latin typeface="gg sans"/>
              </a:rPr>
              <a:t>Brites et al. (2020) apontam que 73% dos cuidadores e profissionais veem apps como úteis</a:t>
            </a:r>
          </a:p>
          <a:p>
            <a:r>
              <a:rPr lang="pt-BR" sz="1200" b="0" i="0">
                <a:effectLst/>
                <a:latin typeface="gg sans"/>
              </a:rPr>
              <a:t>Lemos (2023) registrou aumento de 25% na adesão a tratamentos com apps educativos</a:t>
            </a:r>
          </a:p>
          <a:p>
            <a:r>
              <a:rPr lang="pt-BR" sz="1200" b="0" i="0">
                <a:effectLst/>
                <a:latin typeface="gg sans"/>
              </a:rPr>
              <a:t>Mendes (2025) constatou que 68% dos idosos preferem interfaces acessíveis, com botões grandes, alto contraste e voz.</a:t>
            </a:r>
          </a:p>
          <a:p>
            <a:r>
              <a:rPr lang="pt-BR" sz="1200">
                <a:latin typeface="gg sans"/>
              </a:rPr>
              <a:t>Além de dados do </a:t>
            </a:r>
            <a:r>
              <a:rPr lang="pt-BR" sz="1200" b="1">
                <a:latin typeface="gg sans"/>
              </a:rPr>
              <a:t>IBGE</a:t>
            </a:r>
            <a:r>
              <a:rPr lang="pt-BR" sz="1200">
                <a:latin typeface="gg sans"/>
              </a:rPr>
              <a:t> mostram que muitos idosos </a:t>
            </a:r>
            <a:r>
              <a:rPr lang="pt-BR" sz="1200" b="1">
                <a:latin typeface="gg sans"/>
              </a:rPr>
              <a:t>ainda têm dificuldade </a:t>
            </a:r>
            <a:r>
              <a:rPr lang="pt-BR" sz="1200">
                <a:latin typeface="gg sans"/>
              </a:rPr>
              <a:t>em usar </a:t>
            </a:r>
            <a:r>
              <a:rPr lang="pt-BR" sz="1200" b="1">
                <a:latin typeface="gg sans"/>
              </a:rPr>
              <a:t>apps de saúde</a:t>
            </a:r>
            <a:r>
              <a:rPr lang="pt-BR" sz="1200">
                <a:latin typeface="gg sans"/>
              </a:rPr>
              <a:t> por causa de interfaces </a:t>
            </a:r>
            <a:r>
              <a:rPr lang="pt-BR" sz="1200" b="1">
                <a:latin typeface="gg sans"/>
              </a:rPr>
              <a:t>complexas</a:t>
            </a:r>
            <a:r>
              <a:rPr lang="pt-BR" sz="1200">
                <a:latin typeface="gg sans"/>
              </a:rPr>
              <a:t> e letras pequenas</a:t>
            </a:r>
          </a:p>
          <a:p>
            <a:r>
              <a:rPr lang="pt-BR" sz="1200" b="0" i="0">
                <a:effectLst/>
                <a:latin typeface="gg sans"/>
              </a:rPr>
              <a:t>Essas evidências mostram que o público-alvo é significativo, disposto a usar ferramentas tecnológicas</a:t>
            </a:r>
          </a:p>
          <a:p>
            <a:r>
              <a:rPr lang="pt-BR" sz="1200" b="0" i="0">
                <a:effectLst/>
                <a:latin typeface="gg sans"/>
              </a:rPr>
              <a:t>A aplicação será desenvolvida no Android Studio, com back-end em Java, e usará serviços como notificações, leitura por voz e chatbot</a:t>
            </a:r>
          </a:p>
          <a:p>
            <a:r>
              <a:rPr lang="pt-BR" sz="1200">
                <a:latin typeface="gg sans"/>
              </a:rPr>
              <a:t>O foco principal é </a:t>
            </a:r>
            <a:r>
              <a:rPr lang="pt-BR" sz="1200" b="1">
                <a:latin typeface="gg sans"/>
              </a:rPr>
              <a:t>acessibilidade</a:t>
            </a:r>
            <a:r>
              <a:rPr lang="pt-BR" sz="1200">
                <a:latin typeface="gg sans"/>
              </a:rPr>
              <a:t>, </a:t>
            </a:r>
            <a:r>
              <a:rPr lang="pt-BR" sz="1200" b="1">
                <a:latin typeface="gg sans"/>
              </a:rPr>
              <a:t>simplicidade</a:t>
            </a:r>
            <a:r>
              <a:rPr lang="pt-BR" sz="1200">
                <a:latin typeface="gg sans"/>
              </a:rPr>
              <a:t> e </a:t>
            </a:r>
            <a:r>
              <a:rPr lang="pt-BR" sz="1200" b="1">
                <a:latin typeface="gg sans"/>
              </a:rPr>
              <a:t>impacto social</a:t>
            </a:r>
            <a:r>
              <a:rPr lang="pt-BR" sz="1200">
                <a:latin typeface="gg sans"/>
              </a:rPr>
              <a:t>, promovendo autonomia e segurança para os idosos.</a:t>
            </a:r>
          </a:p>
          <a:p>
            <a:endParaRPr lang="pt-BR" sz="1200" b="0" i="0">
              <a:effectLst/>
              <a:latin typeface="gg sans"/>
            </a:endParaRPr>
          </a:p>
          <a:p>
            <a:endParaRPr lang="pt-BR" sz="1200">
              <a:latin typeface="gg sans"/>
            </a:endParaRPr>
          </a:p>
        </p:txBody>
      </p:sp>
      <p:sp>
        <p:nvSpPr>
          <p:cNvPr id="23" name="Espaço reservado para conteúdo 13">
            <a:extLst>
              <a:ext uri="{FF2B5EF4-FFF2-40B4-BE49-F238E27FC236}">
                <a16:creationId xmlns:a16="http://schemas.microsoft.com/office/drawing/2014/main" id="{12087830-53B5-4ACB-A92D-70D5D5953BD6}"/>
              </a:ext>
            </a:extLst>
          </p:cNvPr>
          <p:cNvSpPr txBox="1">
            <a:spLocks/>
          </p:cNvSpPr>
          <p:nvPr/>
        </p:nvSpPr>
        <p:spPr>
          <a:xfrm>
            <a:off x="1116796" y="5044693"/>
            <a:ext cx="5760640" cy="1016141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20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483350F7-7008-1D66-40FE-2F64F51062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8627" y="3068960"/>
            <a:ext cx="1872209" cy="187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42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26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175085" cy="444194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  <a:latin typeface="gg sans"/>
              </a:rPr>
              <a:t>Pesquisa – </a:t>
            </a:r>
            <a:r>
              <a:rPr lang="pt-BR" sz="2000">
                <a:latin typeface="gg sans"/>
              </a:rPr>
              <a:t>Mercado </a:t>
            </a:r>
          </a:p>
          <a:p>
            <a:endParaRPr lang="pt-BR" sz="2000">
              <a:latin typeface="gg sans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16797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99CB6EA3-9A78-4138-89CB-D483DA71A5A7}"/>
              </a:ext>
            </a:extLst>
          </p:cNvPr>
          <p:cNvSpPr/>
          <p:nvPr/>
        </p:nvSpPr>
        <p:spPr>
          <a:xfrm>
            <a:off x="8069695" y="4663783"/>
            <a:ext cx="187220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>
                <a:solidFill>
                  <a:schemeClr val="accent6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Foto: </a:t>
            </a:r>
            <a:r>
              <a:rPr lang="it-IT" sz="800">
                <a:solidFill>
                  <a:schemeClr val="accent6">
                    <a:lumMod val="75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https://www.flaticon.com/br</a:t>
            </a:r>
            <a:r>
              <a:rPr lang="it-IT" sz="80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957EE65-BC04-4163-BA3A-F820F4F08D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sp>
        <p:nvSpPr>
          <p:cNvPr id="22" name="Espaço reservado para conteúdo 13">
            <a:extLst>
              <a:ext uri="{FF2B5EF4-FFF2-40B4-BE49-F238E27FC236}">
                <a16:creationId xmlns:a16="http://schemas.microsoft.com/office/drawing/2014/main" id="{0006122A-9701-4E59-A54B-EC948B25E2C6}"/>
              </a:ext>
            </a:extLst>
          </p:cNvPr>
          <p:cNvSpPr txBox="1">
            <a:spLocks/>
          </p:cNvSpPr>
          <p:nvPr/>
        </p:nvSpPr>
        <p:spPr>
          <a:xfrm>
            <a:off x="1297731" y="2566774"/>
            <a:ext cx="6092825" cy="122226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>
                <a:latin typeface="gg sans"/>
              </a:rPr>
              <a:t>As aplicações atuais não atendem bem às necessidades e limitações de idosos. Embora ofereçam algumas funções úteis, ainda apresentam diversas lacunas que precisam ser resolvidas.</a:t>
            </a:r>
          </a:p>
          <a:p>
            <a:r>
              <a:rPr lang="pt-BR" sz="1200">
                <a:latin typeface="gg sans"/>
              </a:rPr>
              <a:t>Aplicativos de lembrete de medicamentos incluem recursos como lembretes em horários específicos, organizadores digitais e alarmes de celular.</a:t>
            </a:r>
          </a:p>
          <a:p>
            <a:endParaRPr lang="pt-BR" sz="1200">
              <a:latin typeface="gg sans"/>
            </a:endParaRPr>
          </a:p>
        </p:txBody>
      </p:sp>
      <p:sp>
        <p:nvSpPr>
          <p:cNvPr id="23" name="Espaço reservado para conteúdo 13">
            <a:extLst>
              <a:ext uri="{FF2B5EF4-FFF2-40B4-BE49-F238E27FC236}">
                <a16:creationId xmlns:a16="http://schemas.microsoft.com/office/drawing/2014/main" id="{12087830-53B5-4ACB-A92D-70D5D5953BD6}"/>
              </a:ext>
            </a:extLst>
          </p:cNvPr>
          <p:cNvSpPr txBox="1">
            <a:spLocks/>
          </p:cNvSpPr>
          <p:nvPr/>
        </p:nvSpPr>
        <p:spPr>
          <a:xfrm>
            <a:off x="1116796" y="5044693"/>
            <a:ext cx="5760640" cy="1016141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200">
              <a:latin typeface="gg sans"/>
            </a:endParaRPr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C055E114-71E4-7B86-B2AE-4D9B4B2A287E}"/>
              </a:ext>
            </a:extLst>
          </p:cNvPr>
          <p:cNvSpPr txBox="1">
            <a:spLocks/>
          </p:cNvSpPr>
          <p:nvPr/>
        </p:nvSpPr>
        <p:spPr>
          <a:xfrm>
            <a:off x="1125860" y="3645024"/>
            <a:ext cx="2304256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>
                <a:solidFill>
                  <a:schemeClr val="tx2"/>
                </a:solidFill>
                <a:latin typeface="gg sans"/>
              </a:rPr>
              <a:t>Lacuna encontrada: </a:t>
            </a:r>
          </a:p>
        </p:txBody>
      </p:sp>
      <p:sp>
        <p:nvSpPr>
          <p:cNvPr id="3" name="Espaço reservado para conteúdo 13">
            <a:extLst>
              <a:ext uri="{FF2B5EF4-FFF2-40B4-BE49-F238E27FC236}">
                <a16:creationId xmlns:a16="http://schemas.microsoft.com/office/drawing/2014/main" id="{E4B16BFE-7E26-B2A0-41BC-4A4A0575C261}"/>
              </a:ext>
            </a:extLst>
          </p:cNvPr>
          <p:cNvSpPr txBox="1">
            <a:spLocks/>
          </p:cNvSpPr>
          <p:nvPr/>
        </p:nvSpPr>
        <p:spPr>
          <a:xfrm>
            <a:off x="1306795" y="4034054"/>
            <a:ext cx="4713015" cy="1051130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>
                <a:latin typeface="gg sans"/>
              </a:rPr>
              <a:t>São funções simples, sem adaptação sensorial/cognitiva</a:t>
            </a:r>
          </a:p>
          <a:p>
            <a:r>
              <a:rPr lang="pt-BR" sz="1200">
                <a:latin typeface="gg sans"/>
              </a:rPr>
              <a:t>Falta de foco em acessibilidade para idosos</a:t>
            </a:r>
          </a:p>
          <a:p>
            <a:r>
              <a:rPr lang="pt-BR" sz="1200">
                <a:latin typeface="gg sans"/>
              </a:rPr>
              <a:t>Ausência de integração com cuidadores e com a </a:t>
            </a:r>
            <a:r>
              <a:rPr lang="pt-BR" sz="1200" b="0" i="0">
                <a:effectLst/>
                <a:latin typeface="gg sans"/>
              </a:rPr>
              <a:t>equipes de saúde.</a:t>
            </a:r>
          </a:p>
          <a:p>
            <a:endParaRPr lang="pt-BR" sz="1200">
              <a:latin typeface="gg sans"/>
            </a:endParaRPr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952885CC-D355-BDFD-125B-2613D2E2DE14}"/>
              </a:ext>
            </a:extLst>
          </p:cNvPr>
          <p:cNvSpPr txBox="1">
            <a:spLocks/>
          </p:cNvSpPr>
          <p:nvPr/>
        </p:nvSpPr>
        <p:spPr>
          <a:xfrm>
            <a:off x="1341885" y="5499866"/>
            <a:ext cx="3456384" cy="953470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>
                <a:latin typeface="gg sans"/>
              </a:rPr>
              <a:t>Acessibilidade aprimorada</a:t>
            </a:r>
          </a:p>
          <a:p>
            <a:r>
              <a:rPr lang="pt-BR" sz="1200">
                <a:latin typeface="gg sans"/>
              </a:rPr>
              <a:t>Suporte colaborativo (familiares/cuidadores)</a:t>
            </a:r>
          </a:p>
          <a:p>
            <a:r>
              <a:rPr lang="pt-BR" sz="1200">
                <a:latin typeface="gg sans"/>
              </a:rPr>
              <a:t>Monitoramento clínico voltado ao público idoso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2ACCCED5-4362-53D6-DF39-A51D1E7B676D}"/>
              </a:ext>
            </a:extLst>
          </p:cNvPr>
          <p:cNvSpPr txBox="1">
            <a:spLocks/>
          </p:cNvSpPr>
          <p:nvPr/>
        </p:nvSpPr>
        <p:spPr>
          <a:xfrm>
            <a:off x="1125860" y="4998567"/>
            <a:ext cx="4587819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>
                <a:solidFill>
                  <a:schemeClr val="tx2"/>
                </a:solidFill>
                <a:latin typeface="gg sans"/>
              </a:rPr>
              <a:t>Lacuna para direcionar em nosso projeto: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8B60621E-9731-BD3F-D42C-7DADCC1970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7193" y="3068960"/>
            <a:ext cx="1477619" cy="147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76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27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6192688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Pesquisas</a:t>
            </a:r>
            <a:r>
              <a:rPr lang="pt-BR" sz="2000"/>
              <a:t> – Idosos dependentes no Brasil (2019)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3E240EB9-C157-4F88-8D5E-84DBAFCCDEB4}"/>
              </a:ext>
            </a:extLst>
          </p:cNvPr>
          <p:cNvSpPr txBox="1">
            <a:spLocks/>
          </p:cNvSpPr>
          <p:nvPr/>
        </p:nvSpPr>
        <p:spPr>
          <a:xfrm>
            <a:off x="1177497" y="2705361"/>
            <a:ext cx="4844907" cy="1440160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tx2">
                    <a:lumMod val="85000"/>
                    <a:lumOff val="15000"/>
                  </a:schemeClr>
                </a:solidFill>
              </a:rPr>
              <a:t>~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5,3%  </a:t>
            </a:r>
            <a:r>
              <a:rPr lang="pt-BR" sz="1400"/>
              <a:t>têm limitação entre idosos com 60-64 anos.</a:t>
            </a:r>
          </a:p>
          <a:p>
            <a:r>
              <a:rPr lang="pt-BR" sz="1400">
                <a:solidFill>
                  <a:schemeClr val="tx2">
                    <a:lumMod val="85000"/>
                    <a:lumOff val="15000"/>
                  </a:schemeClr>
                </a:solidFill>
              </a:rPr>
              <a:t>~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6,9%  </a:t>
            </a:r>
            <a:r>
              <a:rPr lang="pt-BR" sz="1400"/>
              <a:t>têm limitação entre idosos com 65-74 anos.</a:t>
            </a:r>
          </a:p>
          <a:p>
            <a:r>
              <a:rPr lang="pt-BR" sz="1400">
                <a:solidFill>
                  <a:schemeClr val="tx2">
                    <a:lumMod val="85000"/>
                    <a:lumOff val="15000"/>
                  </a:schemeClr>
                </a:solidFill>
              </a:rPr>
              <a:t>~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18,5%  </a:t>
            </a:r>
            <a:r>
              <a:rPr lang="pt-BR" sz="1400"/>
              <a:t>têm limitação entre idosos com 75 ou mais.</a:t>
            </a:r>
          </a:p>
          <a:p>
            <a:r>
              <a:rPr lang="pt-BR" sz="1400">
                <a:solidFill>
                  <a:schemeClr val="tx2">
                    <a:lumMod val="85000"/>
                    <a:lumOff val="15000"/>
                  </a:schemeClr>
                </a:solidFill>
              </a:rPr>
              <a:t>~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26%  </a:t>
            </a:r>
            <a:r>
              <a:rPr lang="pt-BR" sz="1400"/>
              <a:t>têm limitação entre idosos com 80 ou mais.</a:t>
            </a:r>
          </a:p>
          <a:p>
            <a:pPr marL="0" indent="0">
              <a:buNone/>
            </a:pPr>
            <a:r>
              <a:rPr lang="pt-BR" sz="1400"/>
              <a:t> 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4940C2F-1219-486A-B2E4-8C7F6C9BC75A}"/>
              </a:ext>
            </a:extLst>
          </p:cNvPr>
          <p:cNvSpPr/>
          <p:nvPr/>
        </p:nvSpPr>
        <p:spPr>
          <a:xfrm>
            <a:off x="1424773" y="4192617"/>
            <a:ext cx="495767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https://www.pns.icict.fiocruz.br/wpcontent/uploads/2021/12/liv101846.pdf</a:t>
            </a:r>
            <a:endParaRPr lang="pt-BR" sz="11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177201-418F-E887-76F0-BF78E15A249D}"/>
              </a:ext>
            </a:extLst>
          </p:cNvPr>
          <p:cNvSpPr/>
          <p:nvPr/>
        </p:nvSpPr>
        <p:spPr>
          <a:xfrm>
            <a:off x="1424772" y="4406919"/>
            <a:ext cx="448945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 https://periodicos.ufpel.edu.br/index.php/RBAFS/article/view/9587</a:t>
            </a:r>
            <a:endParaRPr lang="pt-BR" sz="11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Espaço reservado para conteúdo 13">
            <a:extLst>
              <a:ext uri="{FF2B5EF4-FFF2-40B4-BE49-F238E27FC236}">
                <a16:creationId xmlns:a16="http://schemas.microsoft.com/office/drawing/2014/main" id="{9AA38DEA-C513-68E7-F086-18251A2B0A8F}"/>
              </a:ext>
            </a:extLst>
          </p:cNvPr>
          <p:cNvSpPr txBox="1">
            <a:spLocks/>
          </p:cNvSpPr>
          <p:nvPr/>
        </p:nvSpPr>
        <p:spPr>
          <a:xfrm>
            <a:off x="1125860" y="4775734"/>
            <a:ext cx="6696744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b="1">
                <a:solidFill>
                  <a:schemeClr val="tx2">
                    <a:lumMod val="85000"/>
                    <a:lumOff val="15000"/>
                  </a:schemeClr>
                </a:solidFill>
              </a:rPr>
              <a:t>Os principais motivos dos idosos criarem dependência são:</a:t>
            </a:r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6C950801-421F-17CD-B607-3414F88C784A}"/>
              </a:ext>
            </a:extLst>
          </p:cNvPr>
          <p:cNvSpPr txBox="1">
            <a:spLocks/>
          </p:cNvSpPr>
          <p:nvPr/>
        </p:nvSpPr>
        <p:spPr>
          <a:xfrm>
            <a:off x="1197869" y="5165712"/>
            <a:ext cx="6336704" cy="1440160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/>
              <a:t>Problemas de saúde (Doenças musculoesqueléticas e cardiovasculares).</a:t>
            </a:r>
          </a:p>
          <a:p>
            <a:r>
              <a:rPr lang="pt-BR" sz="1400"/>
              <a:t>Fraqueza muscular.</a:t>
            </a:r>
          </a:p>
          <a:p>
            <a:r>
              <a:rPr lang="pt-BR" sz="1400"/>
              <a:t>Problemas de visão e audição.</a:t>
            </a:r>
          </a:p>
          <a:p>
            <a:r>
              <a:rPr lang="pt-BR" sz="1400"/>
              <a:t>Baixa renda e acesso precário à saúde.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200925C8-0246-4E83-9204-A5A309540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44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28</a:t>
            </a:fld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53852" y="836712"/>
            <a:ext cx="6397054" cy="731260"/>
          </a:xfrm>
        </p:spPr>
        <p:txBody>
          <a:bodyPr rtlCol="0">
            <a:normAutofit/>
          </a:bodyPr>
          <a:lstStyle/>
          <a:p>
            <a:pPr rtl="0"/>
            <a:r>
              <a:rPr lang="pt-BR" sz="2400" b="1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1116797" y="1506026"/>
            <a:ext cx="3969503" cy="59531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D6A6A2A-77C5-4862-B36C-2CBB8072543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CA8A43CE-C42B-46F4-BAA7-F13EB0F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4" name="Imagem 13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1FD3683B-E985-4DBF-936E-ECFBEB1A4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6D65D2-A504-412A-8D99-409A8F395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6" name="Fluxograma: Processo 15">
              <a:extLst>
                <a:ext uri="{FF2B5EF4-FFF2-40B4-BE49-F238E27FC236}">
                  <a16:creationId xmlns:a16="http://schemas.microsoft.com/office/drawing/2014/main" id="{E6EFDE81-375D-46A2-9305-B22A016B8CF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Fluxograma: Processo 16">
              <a:extLst>
                <a:ext uri="{FF2B5EF4-FFF2-40B4-BE49-F238E27FC236}">
                  <a16:creationId xmlns:a16="http://schemas.microsoft.com/office/drawing/2014/main" id="{08215EA9-91DF-47BB-A92C-7621618F126B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DDA02A59-78BF-494F-9DE5-B03A6E02905F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D5A78529-A422-49F7-91D8-9F0157E63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2C727078-E0EF-47B6-8E7F-53C74A6C86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3901948"/>
              </p:ext>
            </p:extLst>
          </p:nvPr>
        </p:nvGraphicFramePr>
        <p:xfrm>
          <a:off x="2601859" y="2237286"/>
          <a:ext cx="6624736" cy="389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B4C9F39A-F110-D1F4-FB3B-D3DC4FA43C90}"/>
              </a:ext>
            </a:extLst>
          </p:cNvPr>
          <p:cNvSpPr/>
          <p:nvPr/>
        </p:nvSpPr>
        <p:spPr>
          <a:xfrm>
            <a:off x="4042018" y="6235196"/>
            <a:ext cx="277247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>
                <a:solidFill>
                  <a:schemeClr val="accent6">
                    <a:lumMod val="50000"/>
                  </a:schemeClr>
                </a:solidFill>
              </a:rPr>
              <a:t>Fonte: Equipe_03 – Grafico desenvolvido pelo Excel 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740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29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200800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Pesquisas</a:t>
            </a:r>
            <a:r>
              <a:rPr lang="pt-BR" sz="2000"/>
              <a:t> – Idosos em casas de repouso no Brasil (2022)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3E240EB9-C157-4F88-8D5E-84DBAFCCDEB4}"/>
              </a:ext>
            </a:extLst>
          </p:cNvPr>
          <p:cNvSpPr txBox="1">
            <a:spLocks/>
          </p:cNvSpPr>
          <p:nvPr/>
        </p:nvSpPr>
        <p:spPr>
          <a:xfrm>
            <a:off x="1157628" y="2982887"/>
            <a:ext cx="7889111" cy="1742257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/>
              <a:t>Total de idosos em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asilos</a:t>
            </a:r>
            <a:r>
              <a:rPr lang="pt-BR" sz="1600"/>
              <a:t> e casas de repouso no Brasil: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~161.000 </a:t>
            </a:r>
            <a:r>
              <a:rPr lang="pt-BR" sz="1600"/>
              <a:t>pessoas.</a:t>
            </a:r>
          </a:p>
          <a:p>
            <a:r>
              <a:rPr lang="pt-BR" sz="1600"/>
              <a:t>A maioria dos residentes dessas instituições é composta por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mulheres</a:t>
            </a:r>
            <a:r>
              <a:rPr lang="pt-BR" sz="160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(59,8%).</a:t>
            </a:r>
          </a:p>
          <a:p>
            <a:r>
              <a:rPr lang="pt-BR" sz="1600"/>
              <a:t>As regiões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Sul e Sudeste </a:t>
            </a:r>
            <a:r>
              <a:rPr lang="pt-BR" sz="1600"/>
              <a:t>concentram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82,3%</a:t>
            </a:r>
            <a:r>
              <a:rPr lang="pt-BR" sz="160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600"/>
              <a:t>dos idosos que vivem em asilos, evidenciando um padrão regional no cuidado com a população idosa.</a:t>
            </a:r>
          </a:p>
          <a:p>
            <a:r>
              <a:rPr lang="pt-BR" sz="1600"/>
              <a:t>Representa cerca de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0,5%</a:t>
            </a:r>
            <a:r>
              <a:rPr lang="pt-BR" sz="160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600"/>
              <a:t>da população com mais de 60 anos.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4940C2F-1219-486A-B2E4-8C7F6C9BC75A}"/>
              </a:ext>
            </a:extLst>
          </p:cNvPr>
          <p:cNvSpPr/>
          <p:nvPr/>
        </p:nvSpPr>
        <p:spPr>
          <a:xfrm>
            <a:off x="1435454" y="4880363"/>
            <a:ext cx="717923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https://agenciadenoticias.ibge.gov.br/media/com_mediaibge/arquivos/77619177aacea8e77241203c51b2e38b.pdf</a:t>
            </a:r>
            <a:endParaRPr lang="pt-BR" sz="11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177201-418F-E887-76F0-BF78E15A249D}"/>
              </a:ext>
            </a:extLst>
          </p:cNvPr>
          <p:cNvSpPr/>
          <p:nvPr/>
        </p:nvSpPr>
        <p:spPr>
          <a:xfrm>
            <a:off x="1435454" y="5172805"/>
            <a:ext cx="536153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 https://escolhasenior.com.br/quantidade-de-casas-de-repouso-no-brasil/</a:t>
            </a:r>
            <a:endParaRPr lang="pt-BR" sz="11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684816C-34F6-B5FC-F715-6B7F09B23A2E}"/>
              </a:ext>
            </a:extLst>
          </p:cNvPr>
          <p:cNvSpPr/>
          <p:nvPr/>
        </p:nvSpPr>
        <p:spPr>
          <a:xfrm>
            <a:off x="1435454" y="5469404"/>
            <a:ext cx="487498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https://asmsba.com.br/censo-brasil-tem-160-mil-vivendo-em-asilos/?utm_source=chatgpt.com</a:t>
            </a:r>
            <a:endParaRPr lang="pt-BR" sz="110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E8E0D278-C7C3-4A63-A91F-B7706D56F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02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30</a:t>
            </a:fld>
            <a:endParaRPr lang="pt-BR" noProof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3" name="Espaço reservado para conteúdo 13">
            <a:extLst>
              <a:ext uri="{FF2B5EF4-FFF2-40B4-BE49-F238E27FC236}">
                <a16:creationId xmlns:a16="http://schemas.microsoft.com/office/drawing/2014/main" id="{B29E9547-FED8-6A1B-EE09-E9B29CC3353D}"/>
              </a:ext>
            </a:extLst>
          </p:cNvPr>
          <p:cNvSpPr txBox="1">
            <a:spLocks/>
          </p:cNvSpPr>
          <p:nvPr/>
        </p:nvSpPr>
        <p:spPr>
          <a:xfrm>
            <a:off x="1081473" y="1935232"/>
            <a:ext cx="7056784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Pesquisas</a:t>
            </a:r>
            <a:r>
              <a:rPr lang="pt-BR" sz="2000"/>
              <a:t> – Principais dificuldade dos idoso(2019-2024)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48C6A85-EC7E-6464-6C72-BF2B8DAB3AAC}"/>
              </a:ext>
            </a:extLst>
          </p:cNvPr>
          <p:cNvSpPr/>
          <p:nvPr/>
        </p:nvSpPr>
        <p:spPr>
          <a:xfrm>
            <a:off x="5296824" y="5888886"/>
            <a:ext cx="41560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https://www.scielosp.org/article/csp/2019.v35n8/e00115718</a:t>
            </a:r>
            <a:endParaRPr lang="pt-BR" sz="11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99D021F-BEBA-50BA-F090-0AA21AF57F0A}"/>
              </a:ext>
            </a:extLst>
          </p:cNvPr>
          <p:cNvSpPr/>
          <p:nvPr/>
        </p:nvSpPr>
        <p:spPr>
          <a:xfrm>
            <a:off x="1500924" y="5890483"/>
            <a:ext cx="318486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https://pubmed.ncbi.nlm.nih.gov/35588124/</a:t>
            </a:r>
            <a:endParaRPr lang="pt-BR" sz="11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1" name="Espaço reservado para conteúdo 13">
            <a:extLst>
              <a:ext uri="{FF2B5EF4-FFF2-40B4-BE49-F238E27FC236}">
                <a16:creationId xmlns:a16="http://schemas.microsoft.com/office/drawing/2014/main" id="{47E41893-BD97-8FD9-060D-2C6F4B6D19B6}"/>
              </a:ext>
            </a:extLst>
          </p:cNvPr>
          <p:cNvSpPr txBox="1">
            <a:spLocks/>
          </p:cNvSpPr>
          <p:nvPr/>
        </p:nvSpPr>
        <p:spPr>
          <a:xfrm>
            <a:off x="1149451" y="2528002"/>
            <a:ext cx="8543777" cy="3155029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37% </a:t>
            </a:r>
            <a:r>
              <a:rPr lang="pt-BR" sz="1600"/>
              <a:t>dos idosos relataram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dificuldade</a:t>
            </a:r>
            <a:r>
              <a:rPr lang="pt-BR" sz="1600"/>
              <a:t> para conseguir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atendimento</a:t>
            </a:r>
            <a:r>
              <a:rPr lang="pt-BR" sz="1600"/>
              <a:t> quando precisaram, sendo mais frequente entre mulheres.</a:t>
            </a:r>
          </a:p>
          <a:p>
            <a:r>
              <a:rPr lang="pt-BR" sz="1600"/>
              <a:t>Grande parte dos idosos convive com algumas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doenças crônicas </a:t>
            </a:r>
            <a:r>
              <a:rPr lang="pt-BR" sz="1600"/>
              <a:t>ao mesmo tempo, isso impacta na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qualidade</a:t>
            </a:r>
            <a:r>
              <a:rPr lang="pt-BR" sz="1600" b="1"/>
              <a:t> de vida </a:t>
            </a:r>
            <a:r>
              <a:rPr lang="pt-BR" sz="1600"/>
              <a:t>e na saúde deles.</a:t>
            </a:r>
          </a:p>
          <a:p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Dificuldade</a:t>
            </a:r>
            <a:r>
              <a:rPr lang="pt-BR" sz="1600"/>
              <a:t> para realizar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atividades diárias</a:t>
            </a:r>
            <a:r>
              <a:rPr lang="pt-BR" sz="1600"/>
              <a:t>, como se alimentar, se vestir ou se locomover.</a:t>
            </a:r>
          </a:p>
          <a:p>
            <a:r>
              <a:rPr lang="pt-BR" sz="1600"/>
              <a:t>Cerca de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25% </a:t>
            </a:r>
            <a:r>
              <a:rPr lang="pt-BR" sz="1600"/>
              <a:t>dos idosos com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80+ anos </a:t>
            </a:r>
            <a:r>
              <a:rPr lang="pt-BR" sz="1600"/>
              <a:t>apresentam perda grave de massa muscular,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aumentando dependência </a:t>
            </a:r>
            <a:r>
              <a:rPr lang="pt-BR" sz="1600"/>
              <a:t>e risco de quedas.</a:t>
            </a:r>
          </a:p>
          <a:p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15,5% </a:t>
            </a:r>
            <a:r>
              <a:rPr lang="pt-BR" sz="1600"/>
              <a:t>declararam ter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dificuldades</a:t>
            </a:r>
            <a:r>
              <a:rPr lang="pt-BR" sz="1600"/>
              <a:t> em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administrar</a:t>
            </a:r>
            <a:r>
              <a:rPr lang="pt-BR" sz="1600" b="1"/>
              <a:t>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seus remédios</a:t>
            </a:r>
            <a:r>
              <a:rPr lang="pt-BR" sz="1600"/>
              <a:t>, que esta diretamente ligado com o aumento da </a:t>
            </a:r>
            <a:r>
              <a:rPr lang="pt-BR" sz="1600" b="1">
                <a:solidFill>
                  <a:schemeClr val="tx2">
                    <a:lumMod val="85000"/>
                    <a:lumOff val="15000"/>
                  </a:schemeClr>
                </a:solidFill>
              </a:rPr>
              <a:t>polifarmácia</a:t>
            </a:r>
            <a:r>
              <a:rPr lang="pt-BR" sz="1600"/>
              <a:t> (uso de cinco ou mais medicamentos).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D7C95AC5-E747-4513-B467-B24B040E92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80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31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272808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Pesquisas</a:t>
            </a:r>
            <a:r>
              <a:rPr lang="pt-BR" sz="2000"/>
              <a:t> – Idosos com acesso a internet no Brasil (2023)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3E240EB9-C157-4F88-8D5E-84DBAFCCDEB4}"/>
              </a:ext>
            </a:extLst>
          </p:cNvPr>
          <p:cNvSpPr txBox="1">
            <a:spLocks/>
          </p:cNvSpPr>
          <p:nvPr/>
        </p:nvSpPr>
        <p:spPr>
          <a:xfrm>
            <a:off x="1177497" y="2705360"/>
            <a:ext cx="8365537" cy="831629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/>
              <a:t>Segundo o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IBGE</a:t>
            </a:r>
            <a:r>
              <a:rPr lang="pt-BR" sz="140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/>
              <a:t>(PNAD Contínua - módulo TIC), em 2023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66%</a:t>
            </a:r>
            <a:r>
              <a:rPr lang="pt-BR" sz="140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/>
              <a:t>das pessoas com 60 anos ou mais acessavam a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internet</a:t>
            </a:r>
            <a:r>
              <a:rPr lang="pt-BR" sz="1400"/>
              <a:t>, um aumento de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21,2%</a:t>
            </a:r>
            <a:r>
              <a:rPr lang="pt-BR" sz="140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/>
              <a:t>entre 2019 e 2023 - e em 2024 esse percentual foi estimado em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69,8%. </a:t>
            </a:r>
            <a:r>
              <a:rPr lang="pt-BR" sz="1400"/>
              <a:t>Entre os 24,5 milhões de idosos com acesso à rede,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87,9%</a:t>
            </a:r>
            <a:r>
              <a:rPr lang="pt-BR" sz="140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/>
              <a:t>a utilizavam diariamente em 2024.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4940C2F-1219-486A-B2E4-8C7F6C9BC75A}"/>
              </a:ext>
            </a:extLst>
          </p:cNvPr>
          <p:cNvSpPr/>
          <p:nvPr/>
        </p:nvSpPr>
        <p:spPr>
          <a:xfrm>
            <a:off x="1269876" y="5713364"/>
            <a:ext cx="6912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https://agenciadenoticias.ibge.gov.br/agencia-noticias/2012-agencia-de-noticias/noticias/41026-em-2023-87-2-das-pessoas-com-10-anos-ou-mais-utilizaram-internet</a:t>
            </a:r>
            <a:endParaRPr lang="pt-BR" sz="9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177201-418F-E887-76F0-BF78E15A249D}"/>
              </a:ext>
            </a:extLst>
          </p:cNvPr>
          <p:cNvSpPr/>
          <p:nvPr/>
        </p:nvSpPr>
        <p:spPr>
          <a:xfrm>
            <a:off x="1269877" y="6178762"/>
            <a:ext cx="6912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https://cndl.org.br/politicaspublicas/numero-de-idosos-que-acessam-a-internet-cresce-de-68-para-97-aponta-pesquisa-cndl-spc-brasil</a:t>
            </a:r>
          </a:p>
          <a:p>
            <a:endParaRPr lang="pt-BR" sz="9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5" name="Espaço reservado para conteúdo 13">
            <a:extLst>
              <a:ext uri="{FF2B5EF4-FFF2-40B4-BE49-F238E27FC236}">
                <a16:creationId xmlns:a16="http://schemas.microsoft.com/office/drawing/2014/main" id="{458FA83B-CCB5-44F6-8B89-D65263E10D29}"/>
              </a:ext>
            </a:extLst>
          </p:cNvPr>
          <p:cNvSpPr txBox="1">
            <a:spLocks/>
          </p:cNvSpPr>
          <p:nvPr/>
        </p:nvSpPr>
        <p:spPr>
          <a:xfrm>
            <a:off x="1515165" y="3933056"/>
            <a:ext cx="2577719" cy="1728192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/>
              <a:t>redes sociais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(72%).</a:t>
            </a:r>
          </a:p>
          <a:p>
            <a:r>
              <a:rPr lang="pt-BR" sz="1400"/>
              <a:t>Apps de transporte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(47%).</a:t>
            </a:r>
          </a:p>
          <a:p>
            <a:r>
              <a:rPr lang="pt-BR" sz="1400"/>
              <a:t>Apps bancários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(45%).</a:t>
            </a:r>
          </a:p>
          <a:p>
            <a:r>
              <a:rPr lang="pt-BR" sz="1400"/>
              <a:t>WhatsApp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(92%).</a:t>
            </a:r>
          </a:p>
          <a:p>
            <a:r>
              <a:rPr lang="pt-BR" sz="1400"/>
              <a:t>Facebook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(85%).</a:t>
            </a:r>
          </a:p>
        </p:txBody>
      </p:sp>
      <p:sp>
        <p:nvSpPr>
          <p:cNvPr id="26" name="Espaço reservado para conteúdo 13">
            <a:extLst>
              <a:ext uri="{FF2B5EF4-FFF2-40B4-BE49-F238E27FC236}">
                <a16:creationId xmlns:a16="http://schemas.microsoft.com/office/drawing/2014/main" id="{D58EF560-96A4-4FF8-A0FD-86D8F2A2E613}"/>
              </a:ext>
            </a:extLst>
          </p:cNvPr>
          <p:cNvSpPr txBox="1">
            <a:spLocks/>
          </p:cNvSpPr>
          <p:nvPr/>
        </p:nvSpPr>
        <p:spPr>
          <a:xfrm>
            <a:off x="5513993" y="3933056"/>
            <a:ext cx="2433703" cy="1440160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/>
              <a:t>YouTube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(77%).</a:t>
            </a:r>
          </a:p>
          <a:p>
            <a:r>
              <a:rPr lang="pt-BR" sz="1400"/>
              <a:t>Eletroeletrônicos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(58%).</a:t>
            </a:r>
          </a:p>
          <a:p>
            <a:r>
              <a:rPr lang="pt-BR" sz="1400"/>
              <a:t>Remédios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(49%).</a:t>
            </a:r>
          </a:p>
          <a:p>
            <a:r>
              <a:rPr lang="pt-BR" sz="1400"/>
              <a:t>Eletrodomésticos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(47%). </a:t>
            </a:r>
          </a:p>
        </p:txBody>
      </p:sp>
      <p:sp>
        <p:nvSpPr>
          <p:cNvPr id="27" name="Espaço reservado para conteúdo 13">
            <a:extLst>
              <a:ext uri="{FF2B5EF4-FFF2-40B4-BE49-F238E27FC236}">
                <a16:creationId xmlns:a16="http://schemas.microsoft.com/office/drawing/2014/main" id="{1F347F25-ABC9-4725-9F3B-91A4896316F8}"/>
              </a:ext>
            </a:extLst>
          </p:cNvPr>
          <p:cNvSpPr txBox="1">
            <a:spLocks/>
          </p:cNvSpPr>
          <p:nvPr/>
        </p:nvSpPr>
        <p:spPr>
          <a:xfrm>
            <a:off x="1181206" y="3553294"/>
            <a:ext cx="7272808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/>
              <a:t>Aplicativos mais usados entre idosos: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F5482F4B-8D84-4A32-9C73-5CC87A48BD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35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32</a:t>
            </a:fld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53852" y="836712"/>
            <a:ext cx="6397054" cy="731260"/>
          </a:xfrm>
        </p:spPr>
        <p:txBody>
          <a:bodyPr rtlCol="0">
            <a:normAutofit/>
          </a:bodyPr>
          <a:lstStyle/>
          <a:p>
            <a:pPr rtl="0"/>
            <a:r>
              <a:rPr lang="pt-BR" sz="2400" b="1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1116797" y="1506026"/>
            <a:ext cx="3969503" cy="59531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D6A6A2A-77C5-4862-B36C-2CBB8072543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CA8A43CE-C42B-46F4-BAA7-F13EB0F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4" name="Imagem 13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1FD3683B-E985-4DBF-936E-ECFBEB1A4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6D65D2-A504-412A-8D99-409A8F395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6" name="Fluxograma: Processo 15">
              <a:extLst>
                <a:ext uri="{FF2B5EF4-FFF2-40B4-BE49-F238E27FC236}">
                  <a16:creationId xmlns:a16="http://schemas.microsoft.com/office/drawing/2014/main" id="{E6EFDE81-375D-46A2-9305-B22A016B8CF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Fluxograma: Processo 16">
              <a:extLst>
                <a:ext uri="{FF2B5EF4-FFF2-40B4-BE49-F238E27FC236}">
                  <a16:creationId xmlns:a16="http://schemas.microsoft.com/office/drawing/2014/main" id="{08215EA9-91DF-47BB-A92C-7621618F126B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DDA02A59-78BF-494F-9DE5-B03A6E02905F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D5A78529-A422-49F7-91D8-9F0157E63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graphicFrame>
        <p:nvGraphicFramePr>
          <p:cNvPr id="23" name="Gráfico 22">
            <a:extLst>
              <a:ext uri="{FF2B5EF4-FFF2-40B4-BE49-F238E27FC236}">
                <a16:creationId xmlns:a16="http://schemas.microsoft.com/office/drawing/2014/main" id="{EF38137D-650A-4AD5-B970-EB31F6F3B0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474976"/>
              </p:ext>
            </p:extLst>
          </p:nvPr>
        </p:nvGraphicFramePr>
        <p:xfrm>
          <a:off x="2528412" y="2138948"/>
          <a:ext cx="6164652" cy="39071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41A27802-60EA-4EE9-5F9F-0DA2FDDBB93C}"/>
              </a:ext>
            </a:extLst>
          </p:cNvPr>
          <p:cNvSpPr/>
          <p:nvPr/>
        </p:nvSpPr>
        <p:spPr>
          <a:xfrm>
            <a:off x="4042018" y="6235196"/>
            <a:ext cx="277247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>
                <a:solidFill>
                  <a:schemeClr val="accent6">
                    <a:lumMod val="50000"/>
                  </a:schemeClr>
                </a:solidFill>
              </a:rPr>
              <a:t>Fonte: Equipe_03 – Grafico desenvolvido pelo Excel 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525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33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0" y="2237286"/>
            <a:ext cx="7272808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Pesquisas</a:t>
            </a:r>
            <a:r>
              <a:rPr lang="pt-BR" sz="2000"/>
              <a:t> – Uso de Medicamentos em Idosos (2023)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108607" y="150151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3E240EB9-C157-4F88-8D5E-84DBAFCCDEB4}"/>
              </a:ext>
            </a:extLst>
          </p:cNvPr>
          <p:cNvSpPr txBox="1">
            <a:spLocks/>
          </p:cNvSpPr>
          <p:nvPr/>
        </p:nvSpPr>
        <p:spPr>
          <a:xfrm>
            <a:off x="1177497" y="2705361"/>
            <a:ext cx="6717115" cy="1299704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83% </a:t>
            </a:r>
            <a:r>
              <a:rPr lang="pt-BR" sz="1400"/>
              <a:t>dos idoso usam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medicamentos</a:t>
            </a:r>
            <a:r>
              <a:rPr lang="pt-BR" sz="1400"/>
              <a:t> de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forma contínua</a:t>
            </a:r>
            <a:r>
              <a:rPr lang="pt-BR" sz="1400">
                <a:solidFill>
                  <a:schemeClr val="tx2">
                    <a:lumMod val="85000"/>
                    <a:lumOff val="15000"/>
                  </a:schemeClr>
                </a:solidFill>
              </a:rPr>
              <a:t>, </a:t>
            </a:r>
            <a:r>
              <a:rPr lang="pt-BR" sz="1400"/>
              <a:t>por conta de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doenças crônicas</a:t>
            </a:r>
            <a:r>
              <a:rPr lang="pt-BR" sz="1400"/>
              <a:t>, como  hipertensão, diabetes, problemas cardíacos, Desses idosos,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74,9% </a:t>
            </a:r>
            <a:r>
              <a:rPr lang="pt-BR" sz="1400"/>
              <a:t>disseram que nunca esquecem,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23,4% </a:t>
            </a:r>
            <a:r>
              <a:rPr lang="pt-BR" sz="1400"/>
              <a:t>esquecem às vezes, e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1,7% </a:t>
            </a:r>
            <a:r>
              <a:rPr lang="pt-BR" sz="1400"/>
              <a:t>esquecem com frequência/quase sempre, impactando diretamente na saúde.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177201-418F-E887-76F0-BF78E15A249D}"/>
              </a:ext>
            </a:extLst>
          </p:cNvPr>
          <p:cNvSpPr/>
          <p:nvPr/>
        </p:nvSpPr>
        <p:spPr>
          <a:xfrm>
            <a:off x="1303623" y="5550307"/>
            <a:ext cx="789385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>
                <a:solidFill>
                  <a:schemeClr val="tx1">
                    <a:lumMod val="75000"/>
                  </a:schemeClr>
                </a:solidFill>
                <a:latin typeface="Quicksand-Regular"/>
              </a:rPr>
              <a:t>Fonte: </a:t>
            </a:r>
            <a:r>
              <a:rPr lang="pt-BR" sz="1100"/>
              <a:t>https://www.scielo.br/j/rbepid/a/fsM3pN6YmXXWLXhgM5MBZMh/?format=html&amp;lang=pt</a:t>
            </a:r>
            <a:endParaRPr lang="pt-BR" sz="11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3" name="Espaço reservado para conteúdo 13">
            <a:extLst>
              <a:ext uri="{FF2B5EF4-FFF2-40B4-BE49-F238E27FC236}">
                <a16:creationId xmlns:a16="http://schemas.microsoft.com/office/drawing/2014/main" id="{69B7CEA8-7472-457E-A8C8-0653452C1BE5}"/>
              </a:ext>
            </a:extLst>
          </p:cNvPr>
          <p:cNvSpPr txBox="1">
            <a:spLocks/>
          </p:cNvSpPr>
          <p:nvPr/>
        </p:nvSpPr>
        <p:spPr>
          <a:xfrm>
            <a:off x="1177497" y="3817904"/>
            <a:ext cx="7272808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/>
          </a:p>
        </p:txBody>
      </p:sp>
      <p:sp>
        <p:nvSpPr>
          <p:cNvPr id="24" name="Espaço reservado para conteúdo 13">
            <a:extLst>
              <a:ext uri="{FF2B5EF4-FFF2-40B4-BE49-F238E27FC236}">
                <a16:creationId xmlns:a16="http://schemas.microsoft.com/office/drawing/2014/main" id="{1ED16548-D1D5-4CE0-8116-EE52DA0B3787}"/>
              </a:ext>
            </a:extLst>
          </p:cNvPr>
          <p:cNvSpPr txBox="1">
            <a:spLocks/>
          </p:cNvSpPr>
          <p:nvPr/>
        </p:nvSpPr>
        <p:spPr>
          <a:xfrm>
            <a:off x="1151536" y="3802390"/>
            <a:ext cx="7272808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>
                <a:solidFill>
                  <a:schemeClr val="tx2">
                    <a:lumMod val="85000"/>
                    <a:lumOff val="15000"/>
                  </a:schemeClr>
                </a:solidFill>
              </a:rPr>
              <a:t>Idade que mais ocorrem esse problemas</a:t>
            </a:r>
          </a:p>
        </p:txBody>
      </p:sp>
      <p:sp>
        <p:nvSpPr>
          <p:cNvPr id="26" name="Espaço reservado para conteúdo 13">
            <a:extLst>
              <a:ext uri="{FF2B5EF4-FFF2-40B4-BE49-F238E27FC236}">
                <a16:creationId xmlns:a16="http://schemas.microsoft.com/office/drawing/2014/main" id="{29CBAB25-E04C-4074-8E76-2882B9D1855A}"/>
              </a:ext>
            </a:extLst>
          </p:cNvPr>
          <p:cNvSpPr txBox="1">
            <a:spLocks/>
          </p:cNvSpPr>
          <p:nvPr/>
        </p:nvSpPr>
        <p:spPr>
          <a:xfrm>
            <a:off x="1192595" y="4294961"/>
            <a:ext cx="3029610" cy="1114889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/>
              <a:t>60–69 anos: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14,4% </a:t>
            </a:r>
            <a:r>
              <a:rPr lang="pt-BR" sz="1400"/>
              <a:t>esquecem.</a:t>
            </a:r>
          </a:p>
          <a:p>
            <a:r>
              <a:rPr lang="pt-BR" sz="1400"/>
              <a:t>70–79 anos: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19,3% </a:t>
            </a:r>
            <a:r>
              <a:rPr lang="pt-BR" sz="1400"/>
              <a:t>esquecem.</a:t>
            </a:r>
          </a:p>
          <a:p>
            <a:r>
              <a:rPr lang="pt-BR" sz="1400"/>
              <a:t>80+ anos: </a:t>
            </a:r>
            <a:r>
              <a:rPr lang="pt-BR" sz="1400" b="1">
                <a:solidFill>
                  <a:schemeClr val="tx2">
                    <a:lumMod val="85000"/>
                    <a:lumOff val="15000"/>
                  </a:schemeClr>
                </a:solidFill>
              </a:rPr>
              <a:t>26,1% </a:t>
            </a:r>
            <a:r>
              <a:rPr lang="pt-BR" sz="1400"/>
              <a:t>esquecem.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20D2053A-F54D-43B3-839B-0938442CD7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00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34</a:t>
            </a:fld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1053852" y="836712"/>
            <a:ext cx="6397054" cy="731260"/>
          </a:xfrm>
        </p:spPr>
        <p:txBody>
          <a:bodyPr rtlCol="0">
            <a:normAutofit/>
          </a:bodyPr>
          <a:lstStyle/>
          <a:p>
            <a:pPr rtl="0"/>
            <a:r>
              <a:rPr lang="pt-BR" sz="2400" b="1"/>
              <a:t>Trabalho de Conclusão de Curso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1116797" y="1506026"/>
            <a:ext cx="3969503" cy="59531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D6A6A2A-77C5-4862-B36C-2CBB8072543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CA8A43CE-C42B-46F4-BAA7-F13EB0F1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4" name="Imagem 13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1FD3683B-E985-4DBF-936E-ECFBEB1A4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6D65D2-A504-412A-8D99-409A8F395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6" name="Fluxograma: Processo 15">
              <a:extLst>
                <a:ext uri="{FF2B5EF4-FFF2-40B4-BE49-F238E27FC236}">
                  <a16:creationId xmlns:a16="http://schemas.microsoft.com/office/drawing/2014/main" id="{E6EFDE81-375D-46A2-9305-B22A016B8CF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Fluxograma: Processo 16">
              <a:extLst>
                <a:ext uri="{FF2B5EF4-FFF2-40B4-BE49-F238E27FC236}">
                  <a16:creationId xmlns:a16="http://schemas.microsoft.com/office/drawing/2014/main" id="{08215EA9-91DF-47BB-A92C-7621618F126B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DDA02A59-78BF-494F-9DE5-B03A6E02905F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D5A78529-A422-49F7-91D8-9F0157E63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A9DCB4EB-2349-41F2-A516-B0ED4BCC58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4034152"/>
              </p:ext>
            </p:extLst>
          </p:nvPr>
        </p:nvGraphicFramePr>
        <p:xfrm>
          <a:off x="2270020" y="2237286"/>
          <a:ext cx="6624736" cy="3928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E7FA7F1A-18A6-B734-C43C-6DAF26A7257B}"/>
              </a:ext>
            </a:extLst>
          </p:cNvPr>
          <p:cNvSpPr/>
          <p:nvPr/>
        </p:nvSpPr>
        <p:spPr>
          <a:xfrm>
            <a:off x="4042018" y="6235196"/>
            <a:ext cx="277247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800">
                <a:solidFill>
                  <a:schemeClr val="accent6">
                    <a:lumMod val="50000"/>
                  </a:schemeClr>
                </a:solidFill>
              </a:rPr>
              <a:t>Fonte: Equipe_03 – Grafico desenvolvido pelo Excel </a:t>
            </a:r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023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>
          <a:xfrm>
            <a:off x="6565193" y="6302834"/>
            <a:ext cx="3974065" cy="365125"/>
          </a:xfrm>
        </p:spPr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35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1" y="2237286"/>
            <a:ext cx="1656183" cy="38527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Soft Skills</a:t>
            </a:r>
          </a:p>
          <a:p>
            <a:endParaRPr lang="pt-BR" sz="2000"/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484545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3D6A16B1-EEDA-4424-B40E-C3888EB4AC45}"/>
              </a:ext>
            </a:extLst>
          </p:cNvPr>
          <p:cNvSpPr/>
          <p:nvPr/>
        </p:nvSpPr>
        <p:spPr>
          <a:xfrm>
            <a:off x="2991248" y="3081998"/>
            <a:ext cx="799146" cy="461665"/>
          </a:xfrm>
          <a:custGeom>
            <a:avLst/>
            <a:gdLst>
              <a:gd name="connsiteX0" fmla="*/ 0 w 4009724"/>
              <a:gd name="connsiteY0" fmla="*/ 0 h 3416320"/>
              <a:gd name="connsiteX1" fmla="*/ 4009724 w 4009724"/>
              <a:gd name="connsiteY1" fmla="*/ 0 h 3416320"/>
              <a:gd name="connsiteX2" fmla="*/ 4009724 w 4009724"/>
              <a:gd name="connsiteY2" fmla="*/ 3416320 h 3416320"/>
              <a:gd name="connsiteX3" fmla="*/ 0 w 4009724"/>
              <a:gd name="connsiteY3" fmla="*/ 3416320 h 3416320"/>
              <a:gd name="connsiteX4" fmla="*/ 0 w 4009724"/>
              <a:gd name="connsiteY4" fmla="*/ 0 h 3416320"/>
              <a:gd name="connsiteX0" fmla="*/ 0 w 4009724"/>
              <a:gd name="connsiteY0" fmla="*/ 0 h 3416320"/>
              <a:gd name="connsiteX1" fmla="*/ 4009724 w 4009724"/>
              <a:gd name="connsiteY1" fmla="*/ 0 h 3416320"/>
              <a:gd name="connsiteX2" fmla="*/ 682324 w 4009724"/>
              <a:gd name="connsiteY2" fmla="*/ 355620 h 3416320"/>
              <a:gd name="connsiteX3" fmla="*/ 0 w 4009724"/>
              <a:gd name="connsiteY3" fmla="*/ 3416320 h 3416320"/>
              <a:gd name="connsiteX4" fmla="*/ 0 w 4009724"/>
              <a:gd name="connsiteY4" fmla="*/ 0 h 3416320"/>
              <a:gd name="connsiteX0" fmla="*/ 0 w 682324"/>
              <a:gd name="connsiteY0" fmla="*/ 25400 h 3441720"/>
              <a:gd name="connsiteX1" fmla="*/ 656924 w 682324"/>
              <a:gd name="connsiteY1" fmla="*/ 0 h 3441720"/>
              <a:gd name="connsiteX2" fmla="*/ 682324 w 682324"/>
              <a:gd name="connsiteY2" fmla="*/ 381020 h 3441720"/>
              <a:gd name="connsiteX3" fmla="*/ 0 w 682324"/>
              <a:gd name="connsiteY3" fmla="*/ 3441720 h 3441720"/>
              <a:gd name="connsiteX4" fmla="*/ 0 w 682324"/>
              <a:gd name="connsiteY4" fmla="*/ 25400 h 3441720"/>
              <a:gd name="connsiteX0" fmla="*/ 0 w 682324"/>
              <a:gd name="connsiteY0" fmla="*/ 0 h 3416320"/>
              <a:gd name="connsiteX1" fmla="*/ 669624 w 682324"/>
              <a:gd name="connsiteY1" fmla="*/ 12700 h 3416320"/>
              <a:gd name="connsiteX2" fmla="*/ 682324 w 682324"/>
              <a:gd name="connsiteY2" fmla="*/ 355620 h 3416320"/>
              <a:gd name="connsiteX3" fmla="*/ 0 w 682324"/>
              <a:gd name="connsiteY3" fmla="*/ 3416320 h 3416320"/>
              <a:gd name="connsiteX4" fmla="*/ 0 w 682324"/>
              <a:gd name="connsiteY4" fmla="*/ 0 h 3416320"/>
              <a:gd name="connsiteX0" fmla="*/ 0 w 682324"/>
              <a:gd name="connsiteY0" fmla="*/ 0 h 419120"/>
              <a:gd name="connsiteX1" fmla="*/ 669624 w 682324"/>
              <a:gd name="connsiteY1" fmla="*/ 12700 h 419120"/>
              <a:gd name="connsiteX2" fmla="*/ 682324 w 682324"/>
              <a:gd name="connsiteY2" fmla="*/ 355620 h 419120"/>
              <a:gd name="connsiteX3" fmla="*/ 25400 w 682324"/>
              <a:gd name="connsiteY3" fmla="*/ 419120 h 419120"/>
              <a:gd name="connsiteX4" fmla="*/ 0 w 682324"/>
              <a:gd name="connsiteY4" fmla="*/ 0 h 419120"/>
              <a:gd name="connsiteX0" fmla="*/ 0 w 695024"/>
              <a:gd name="connsiteY0" fmla="*/ 0 h 431820"/>
              <a:gd name="connsiteX1" fmla="*/ 669624 w 695024"/>
              <a:gd name="connsiteY1" fmla="*/ 12700 h 431820"/>
              <a:gd name="connsiteX2" fmla="*/ 695024 w 695024"/>
              <a:gd name="connsiteY2" fmla="*/ 431820 h 431820"/>
              <a:gd name="connsiteX3" fmla="*/ 25400 w 695024"/>
              <a:gd name="connsiteY3" fmla="*/ 419120 h 431820"/>
              <a:gd name="connsiteX4" fmla="*/ 0 w 695024"/>
              <a:gd name="connsiteY4" fmla="*/ 0 h 431820"/>
              <a:gd name="connsiteX0" fmla="*/ 12700 w 707724"/>
              <a:gd name="connsiteY0" fmla="*/ 0 h 431820"/>
              <a:gd name="connsiteX1" fmla="*/ 682324 w 707724"/>
              <a:gd name="connsiteY1" fmla="*/ 12700 h 431820"/>
              <a:gd name="connsiteX2" fmla="*/ 707724 w 707724"/>
              <a:gd name="connsiteY2" fmla="*/ 431820 h 431820"/>
              <a:gd name="connsiteX3" fmla="*/ 0 w 707724"/>
              <a:gd name="connsiteY3" fmla="*/ 419120 h 431820"/>
              <a:gd name="connsiteX4" fmla="*/ 12700 w 707724"/>
              <a:gd name="connsiteY4" fmla="*/ 0 h 431820"/>
              <a:gd name="connsiteX0" fmla="*/ 12700 w 707724"/>
              <a:gd name="connsiteY0" fmla="*/ 0 h 431820"/>
              <a:gd name="connsiteX1" fmla="*/ 695024 w 707724"/>
              <a:gd name="connsiteY1" fmla="*/ 25400 h 431820"/>
              <a:gd name="connsiteX2" fmla="*/ 707724 w 707724"/>
              <a:gd name="connsiteY2" fmla="*/ 431820 h 431820"/>
              <a:gd name="connsiteX3" fmla="*/ 0 w 707724"/>
              <a:gd name="connsiteY3" fmla="*/ 419120 h 431820"/>
              <a:gd name="connsiteX4" fmla="*/ 12700 w 707724"/>
              <a:gd name="connsiteY4" fmla="*/ 0 h 431820"/>
              <a:gd name="connsiteX0" fmla="*/ 12700 w 707724"/>
              <a:gd name="connsiteY0" fmla="*/ 0 h 431820"/>
              <a:gd name="connsiteX1" fmla="*/ 389726 w 707724"/>
              <a:gd name="connsiteY1" fmla="*/ 1321 h 431820"/>
              <a:gd name="connsiteX2" fmla="*/ 707724 w 707724"/>
              <a:gd name="connsiteY2" fmla="*/ 431820 h 431820"/>
              <a:gd name="connsiteX3" fmla="*/ 0 w 707724"/>
              <a:gd name="connsiteY3" fmla="*/ 419120 h 431820"/>
              <a:gd name="connsiteX4" fmla="*/ 12700 w 707724"/>
              <a:gd name="connsiteY4" fmla="*/ 0 h 431820"/>
              <a:gd name="connsiteX0" fmla="*/ 12700 w 446948"/>
              <a:gd name="connsiteY0" fmla="*/ 0 h 425399"/>
              <a:gd name="connsiteX1" fmla="*/ 389726 w 446948"/>
              <a:gd name="connsiteY1" fmla="*/ 1321 h 425399"/>
              <a:gd name="connsiteX2" fmla="*/ 446948 w 446948"/>
              <a:gd name="connsiteY2" fmla="*/ 425399 h 425399"/>
              <a:gd name="connsiteX3" fmla="*/ 0 w 446948"/>
              <a:gd name="connsiteY3" fmla="*/ 419120 h 425399"/>
              <a:gd name="connsiteX4" fmla="*/ 12700 w 446948"/>
              <a:gd name="connsiteY4" fmla="*/ 0 h 425399"/>
              <a:gd name="connsiteX0" fmla="*/ 12700 w 440588"/>
              <a:gd name="connsiteY0" fmla="*/ 0 h 420583"/>
              <a:gd name="connsiteX1" fmla="*/ 389726 w 440588"/>
              <a:gd name="connsiteY1" fmla="*/ 1321 h 420583"/>
              <a:gd name="connsiteX2" fmla="*/ 440588 w 440588"/>
              <a:gd name="connsiteY2" fmla="*/ 420583 h 420583"/>
              <a:gd name="connsiteX3" fmla="*/ 0 w 440588"/>
              <a:gd name="connsiteY3" fmla="*/ 419120 h 420583"/>
              <a:gd name="connsiteX4" fmla="*/ 12700 w 440588"/>
              <a:gd name="connsiteY4" fmla="*/ 0 h 42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588" h="420583">
                <a:moveTo>
                  <a:pt x="12700" y="0"/>
                </a:moveTo>
                <a:lnTo>
                  <a:pt x="389726" y="1321"/>
                </a:lnTo>
                <a:lnTo>
                  <a:pt x="440588" y="420583"/>
                </a:lnTo>
                <a:lnTo>
                  <a:pt x="0" y="419120"/>
                </a:lnTo>
                <a:lnTo>
                  <a:pt x="12700" y="0"/>
                </a:lnTo>
                <a:close/>
              </a:path>
            </a:pathLst>
          </a:custGeom>
        </p:spPr>
        <p:txBody>
          <a:bodyPr wrap="square">
            <a:spAutoFit/>
          </a:bodyPr>
          <a:lstStyle/>
          <a:p>
            <a:r>
              <a:rPr lang="pt-BR" sz="2400"/>
              <a:t>Raí: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F8DC2B7-A68B-415A-AB81-D21853221266}"/>
              </a:ext>
            </a:extLst>
          </p:cNvPr>
          <p:cNvSpPr/>
          <p:nvPr/>
        </p:nvSpPr>
        <p:spPr>
          <a:xfrm>
            <a:off x="5014336" y="3081998"/>
            <a:ext cx="1292526" cy="461665"/>
          </a:xfrm>
          <a:custGeom>
            <a:avLst/>
            <a:gdLst>
              <a:gd name="connsiteX0" fmla="*/ 0 w 1132192"/>
              <a:gd name="connsiteY0" fmla="*/ 0 h 4893647"/>
              <a:gd name="connsiteX1" fmla="*/ 1132192 w 1132192"/>
              <a:gd name="connsiteY1" fmla="*/ 0 h 4893647"/>
              <a:gd name="connsiteX2" fmla="*/ 1132192 w 1132192"/>
              <a:gd name="connsiteY2" fmla="*/ 4893647 h 4893647"/>
              <a:gd name="connsiteX3" fmla="*/ 0 w 1132192"/>
              <a:gd name="connsiteY3" fmla="*/ 4893647 h 4893647"/>
              <a:gd name="connsiteX4" fmla="*/ 0 w 1132192"/>
              <a:gd name="connsiteY4" fmla="*/ 0 h 4893647"/>
              <a:gd name="connsiteX0" fmla="*/ 0 w 1132192"/>
              <a:gd name="connsiteY0" fmla="*/ 0 h 4893647"/>
              <a:gd name="connsiteX1" fmla="*/ 1132192 w 1132192"/>
              <a:gd name="connsiteY1" fmla="*/ 0 h 4893647"/>
              <a:gd name="connsiteX2" fmla="*/ 1132192 w 1132192"/>
              <a:gd name="connsiteY2" fmla="*/ 1807547 h 4893647"/>
              <a:gd name="connsiteX3" fmla="*/ 0 w 1132192"/>
              <a:gd name="connsiteY3" fmla="*/ 4893647 h 4893647"/>
              <a:gd name="connsiteX4" fmla="*/ 0 w 1132192"/>
              <a:gd name="connsiteY4" fmla="*/ 0 h 4893647"/>
              <a:gd name="connsiteX0" fmla="*/ 0 w 1132192"/>
              <a:gd name="connsiteY0" fmla="*/ 0 h 1807547"/>
              <a:gd name="connsiteX1" fmla="*/ 1132192 w 1132192"/>
              <a:gd name="connsiteY1" fmla="*/ 0 h 1807547"/>
              <a:gd name="connsiteX2" fmla="*/ 1132192 w 1132192"/>
              <a:gd name="connsiteY2" fmla="*/ 1807547 h 1807547"/>
              <a:gd name="connsiteX3" fmla="*/ 0 w 1132192"/>
              <a:gd name="connsiteY3" fmla="*/ 1807547 h 1807547"/>
              <a:gd name="connsiteX4" fmla="*/ 0 w 1132192"/>
              <a:gd name="connsiteY4" fmla="*/ 0 h 1807547"/>
              <a:gd name="connsiteX0" fmla="*/ 0 w 1132192"/>
              <a:gd name="connsiteY0" fmla="*/ 0 h 1807547"/>
              <a:gd name="connsiteX1" fmla="*/ 1132192 w 1132192"/>
              <a:gd name="connsiteY1" fmla="*/ 0 h 1807547"/>
              <a:gd name="connsiteX2" fmla="*/ 1132192 w 1132192"/>
              <a:gd name="connsiteY2" fmla="*/ 1807547 h 1807547"/>
              <a:gd name="connsiteX3" fmla="*/ 0 w 1132192"/>
              <a:gd name="connsiteY3" fmla="*/ 1807547 h 1807547"/>
              <a:gd name="connsiteX4" fmla="*/ 0 w 1132192"/>
              <a:gd name="connsiteY4" fmla="*/ 0 h 1807547"/>
              <a:gd name="connsiteX0" fmla="*/ 0 w 1132192"/>
              <a:gd name="connsiteY0" fmla="*/ 0 h 1807547"/>
              <a:gd name="connsiteX1" fmla="*/ 1132192 w 1132192"/>
              <a:gd name="connsiteY1" fmla="*/ 0 h 1807547"/>
              <a:gd name="connsiteX2" fmla="*/ 1132192 w 1132192"/>
              <a:gd name="connsiteY2" fmla="*/ 1807547 h 1807547"/>
              <a:gd name="connsiteX3" fmla="*/ 0 w 1132192"/>
              <a:gd name="connsiteY3" fmla="*/ 1807547 h 1807547"/>
              <a:gd name="connsiteX4" fmla="*/ 0 w 1132192"/>
              <a:gd name="connsiteY4" fmla="*/ 0 h 1807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2192" h="1807547">
                <a:moveTo>
                  <a:pt x="0" y="0"/>
                </a:moveTo>
                <a:lnTo>
                  <a:pt x="1132192" y="0"/>
                </a:lnTo>
                <a:lnTo>
                  <a:pt x="1132192" y="1807547"/>
                </a:lnTo>
                <a:lnTo>
                  <a:pt x="0" y="1807547"/>
                </a:lnTo>
                <a:cubicBezTo>
                  <a:pt x="12700" y="912931"/>
                  <a:pt x="0" y="602516"/>
                  <a:pt x="0" y="0"/>
                </a:cubicBezTo>
                <a:close/>
              </a:path>
            </a:pathLst>
          </a:custGeom>
        </p:spPr>
        <p:txBody>
          <a:bodyPr wrap="square">
            <a:spAutoFit/>
          </a:bodyPr>
          <a:lstStyle/>
          <a:p>
            <a:r>
              <a:rPr lang="pt-BR" sz="2400"/>
              <a:t>Flavio: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3591374-5DD7-4F6B-88F9-08E1A4D63719}"/>
              </a:ext>
            </a:extLst>
          </p:cNvPr>
          <p:cNvSpPr/>
          <p:nvPr/>
        </p:nvSpPr>
        <p:spPr>
          <a:xfrm>
            <a:off x="7354210" y="3081998"/>
            <a:ext cx="9968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/>
              <a:t>Julia:</a:t>
            </a:r>
          </a:p>
        </p:txBody>
      </p:sp>
      <p:sp>
        <p:nvSpPr>
          <p:cNvPr id="24" name="Espaço reservado para conteúdo 13">
            <a:extLst>
              <a:ext uri="{FF2B5EF4-FFF2-40B4-BE49-F238E27FC236}">
                <a16:creationId xmlns:a16="http://schemas.microsoft.com/office/drawing/2014/main" id="{F3263F39-D0D8-E504-B180-3B7C495B2C60}"/>
              </a:ext>
            </a:extLst>
          </p:cNvPr>
          <p:cNvSpPr txBox="1">
            <a:spLocks/>
          </p:cNvSpPr>
          <p:nvPr/>
        </p:nvSpPr>
        <p:spPr>
          <a:xfrm>
            <a:off x="2992103" y="3605052"/>
            <a:ext cx="2088232" cy="1552140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/>
              <a:t>Comunicação</a:t>
            </a:r>
          </a:p>
          <a:p>
            <a:r>
              <a:rPr lang="pt-BR" sz="1600"/>
              <a:t>Gestão de tempo</a:t>
            </a:r>
          </a:p>
          <a:p>
            <a:r>
              <a:rPr lang="pt-BR" sz="1600"/>
              <a:t>Disciplina</a:t>
            </a:r>
          </a:p>
          <a:p>
            <a:r>
              <a:rPr lang="pt-BR" sz="1600"/>
              <a:t>Analise Critica</a:t>
            </a:r>
          </a:p>
          <a:p>
            <a:endParaRPr lang="pt-BR" sz="1600"/>
          </a:p>
          <a:p>
            <a:endParaRPr lang="pt-BR" sz="1600"/>
          </a:p>
          <a:p>
            <a:endParaRPr lang="pt-BR" sz="1600"/>
          </a:p>
        </p:txBody>
      </p:sp>
      <p:sp>
        <p:nvSpPr>
          <p:cNvPr id="25" name="Espaço reservado para conteúdo 13">
            <a:extLst>
              <a:ext uri="{FF2B5EF4-FFF2-40B4-BE49-F238E27FC236}">
                <a16:creationId xmlns:a16="http://schemas.microsoft.com/office/drawing/2014/main" id="{FEF40435-8748-574D-6C9C-A892061EB29A}"/>
              </a:ext>
            </a:extLst>
          </p:cNvPr>
          <p:cNvSpPr txBox="1">
            <a:spLocks/>
          </p:cNvSpPr>
          <p:nvPr/>
        </p:nvSpPr>
        <p:spPr>
          <a:xfrm>
            <a:off x="7368264" y="3615359"/>
            <a:ext cx="2110524" cy="1829865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/>
              <a:t>Empatia</a:t>
            </a:r>
          </a:p>
          <a:p>
            <a:r>
              <a:rPr lang="pt-BR" sz="1600"/>
              <a:t>Comunicação</a:t>
            </a:r>
          </a:p>
          <a:p>
            <a:r>
              <a:rPr lang="pt-BR" sz="1600"/>
              <a:t>Responsabilidade</a:t>
            </a:r>
          </a:p>
          <a:p>
            <a:r>
              <a:rPr lang="pt-BR" sz="1600"/>
              <a:t>Gestão de tempo</a:t>
            </a:r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</p:txBody>
      </p:sp>
      <p:sp>
        <p:nvSpPr>
          <p:cNvPr id="27" name="Espaço reservado para conteúdo 13">
            <a:extLst>
              <a:ext uri="{FF2B5EF4-FFF2-40B4-BE49-F238E27FC236}">
                <a16:creationId xmlns:a16="http://schemas.microsoft.com/office/drawing/2014/main" id="{783AFCAA-505C-82F8-DC0A-F0F8683F0129}"/>
              </a:ext>
            </a:extLst>
          </p:cNvPr>
          <p:cNvSpPr txBox="1">
            <a:spLocks/>
          </p:cNvSpPr>
          <p:nvPr/>
        </p:nvSpPr>
        <p:spPr>
          <a:xfrm>
            <a:off x="5014336" y="3615359"/>
            <a:ext cx="2110524" cy="1054590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/>
              <a:t>Comunicação</a:t>
            </a:r>
          </a:p>
          <a:p>
            <a:r>
              <a:rPr lang="pt-BR" sz="1600"/>
              <a:t>Responsabilidade</a:t>
            </a:r>
          </a:p>
          <a:p>
            <a:r>
              <a:rPr lang="pt-BR" sz="1600"/>
              <a:t>Proatividade</a:t>
            </a:r>
          </a:p>
          <a:p>
            <a:r>
              <a:rPr lang="pt-BR" sz="1600"/>
              <a:t>Gestão de tempo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390D8811-8C51-436A-B177-DBA9CE882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47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>
          <a:xfrm>
            <a:off x="6595933" y="6356351"/>
            <a:ext cx="3974065" cy="365125"/>
          </a:xfrm>
        </p:spPr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36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1" y="2237286"/>
            <a:ext cx="1656184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Hard Skills</a:t>
            </a:r>
          </a:p>
          <a:p>
            <a:endParaRPr lang="pt-BR" sz="200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486339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1" name="Espaço reservado para conteúdo 13">
            <a:extLst>
              <a:ext uri="{FF2B5EF4-FFF2-40B4-BE49-F238E27FC236}">
                <a16:creationId xmlns:a16="http://schemas.microsoft.com/office/drawing/2014/main" id="{FBD7822F-4EC0-3746-03BE-74B09C6C756A}"/>
              </a:ext>
            </a:extLst>
          </p:cNvPr>
          <p:cNvSpPr txBox="1">
            <a:spLocks/>
          </p:cNvSpPr>
          <p:nvPr/>
        </p:nvSpPr>
        <p:spPr>
          <a:xfrm>
            <a:off x="5782068" y="3608876"/>
            <a:ext cx="2110524" cy="248463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</p:txBody>
      </p:sp>
      <p:sp>
        <p:nvSpPr>
          <p:cNvPr id="33" name="Espaço reservado para conteúdo 13">
            <a:extLst>
              <a:ext uri="{FF2B5EF4-FFF2-40B4-BE49-F238E27FC236}">
                <a16:creationId xmlns:a16="http://schemas.microsoft.com/office/drawing/2014/main" id="{C15F3D64-4E79-7608-AAD5-DD135FEF37AE}"/>
              </a:ext>
            </a:extLst>
          </p:cNvPr>
          <p:cNvSpPr txBox="1">
            <a:spLocks/>
          </p:cNvSpPr>
          <p:nvPr/>
        </p:nvSpPr>
        <p:spPr>
          <a:xfrm>
            <a:off x="3262411" y="3585447"/>
            <a:ext cx="2110524" cy="248463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</p:txBody>
      </p:sp>
      <p:sp>
        <p:nvSpPr>
          <p:cNvPr id="22" name="Retângulo 1">
            <a:extLst>
              <a:ext uri="{FF2B5EF4-FFF2-40B4-BE49-F238E27FC236}">
                <a16:creationId xmlns:a16="http://schemas.microsoft.com/office/drawing/2014/main" id="{F604A8F3-7221-4E45-9955-77172F9EAFE4}"/>
              </a:ext>
            </a:extLst>
          </p:cNvPr>
          <p:cNvSpPr/>
          <p:nvPr/>
        </p:nvSpPr>
        <p:spPr>
          <a:xfrm>
            <a:off x="3063256" y="3090299"/>
            <a:ext cx="799146" cy="461665"/>
          </a:xfrm>
          <a:custGeom>
            <a:avLst/>
            <a:gdLst>
              <a:gd name="connsiteX0" fmla="*/ 0 w 4009724"/>
              <a:gd name="connsiteY0" fmla="*/ 0 h 3416320"/>
              <a:gd name="connsiteX1" fmla="*/ 4009724 w 4009724"/>
              <a:gd name="connsiteY1" fmla="*/ 0 h 3416320"/>
              <a:gd name="connsiteX2" fmla="*/ 4009724 w 4009724"/>
              <a:gd name="connsiteY2" fmla="*/ 3416320 h 3416320"/>
              <a:gd name="connsiteX3" fmla="*/ 0 w 4009724"/>
              <a:gd name="connsiteY3" fmla="*/ 3416320 h 3416320"/>
              <a:gd name="connsiteX4" fmla="*/ 0 w 4009724"/>
              <a:gd name="connsiteY4" fmla="*/ 0 h 3416320"/>
              <a:gd name="connsiteX0" fmla="*/ 0 w 4009724"/>
              <a:gd name="connsiteY0" fmla="*/ 0 h 3416320"/>
              <a:gd name="connsiteX1" fmla="*/ 4009724 w 4009724"/>
              <a:gd name="connsiteY1" fmla="*/ 0 h 3416320"/>
              <a:gd name="connsiteX2" fmla="*/ 682324 w 4009724"/>
              <a:gd name="connsiteY2" fmla="*/ 355620 h 3416320"/>
              <a:gd name="connsiteX3" fmla="*/ 0 w 4009724"/>
              <a:gd name="connsiteY3" fmla="*/ 3416320 h 3416320"/>
              <a:gd name="connsiteX4" fmla="*/ 0 w 4009724"/>
              <a:gd name="connsiteY4" fmla="*/ 0 h 3416320"/>
              <a:gd name="connsiteX0" fmla="*/ 0 w 682324"/>
              <a:gd name="connsiteY0" fmla="*/ 25400 h 3441720"/>
              <a:gd name="connsiteX1" fmla="*/ 656924 w 682324"/>
              <a:gd name="connsiteY1" fmla="*/ 0 h 3441720"/>
              <a:gd name="connsiteX2" fmla="*/ 682324 w 682324"/>
              <a:gd name="connsiteY2" fmla="*/ 381020 h 3441720"/>
              <a:gd name="connsiteX3" fmla="*/ 0 w 682324"/>
              <a:gd name="connsiteY3" fmla="*/ 3441720 h 3441720"/>
              <a:gd name="connsiteX4" fmla="*/ 0 w 682324"/>
              <a:gd name="connsiteY4" fmla="*/ 25400 h 3441720"/>
              <a:gd name="connsiteX0" fmla="*/ 0 w 682324"/>
              <a:gd name="connsiteY0" fmla="*/ 0 h 3416320"/>
              <a:gd name="connsiteX1" fmla="*/ 669624 w 682324"/>
              <a:gd name="connsiteY1" fmla="*/ 12700 h 3416320"/>
              <a:gd name="connsiteX2" fmla="*/ 682324 w 682324"/>
              <a:gd name="connsiteY2" fmla="*/ 355620 h 3416320"/>
              <a:gd name="connsiteX3" fmla="*/ 0 w 682324"/>
              <a:gd name="connsiteY3" fmla="*/ 3416320 h 3416320"/>
              <a:gd name="connsiteX4" fmla="*/ 0 w 682324"/>
              <a:gd name="connsiteY4" fmla="*/ 0 h 3416320"/>
              <a:gd name="connsiteX0" fmla="*/ 0 w 682324"/>
              <a:gd name="connsiteY0" fmla="*/ 0 h 419120"/>
              <a:gd name="connsiteX1" fmla="*/ 669624 w 682324"/>
              <a:gd name="connsiteY1" fmla="*/ 12700 h 419120"/>
              <a:gd name="connsiteX2" fmla="*/ 682324 w 682324"/>
              <a:gd name="connsiteY2" fmla="*/ 355620 h 419120"/>
              <a:gd name="connsiteX3" fmla="*/ 25400 w 682324"/>
              <a:gd name="connsiteY3" fmla="*/ 419120 h 419120"/>
              <a:gd name="connsiteX4" fmla="*/ 0 w 682324"/>
              <a:gd name="connsiteY4" fmla="*/ 0 h 419120"/>
              <a:gd name="connsiteX0" fmla="*/ 0 w 695024"/>
              <a:gd name="connsiteY0" fmla="*/ 0 h 431820"/>
              <a:gd name="connsiteX1" fmla="*/ 669624 w 695024"/>
              <a:gd name="connsiteY1" fmla="*/ 12700 h 431820"/>
              <a:gd name="connsiteX2" fmla="*/ 695024 w 695024"/>
              <a:gd name="connsiteY2" fmla="*/ 431820 h 431820"/>
              <a:gd name="connsiteX3" fmla="*/ 25400 w 695024"/>
              <a:gd name="connsiteY3" fmla="*/ 419120 h 431820"/>
              <a:gd name="connsiteX4" fmla="*/ 0 w 695024"/>
              <a:gd name="connsiteY4" fmla="*/ 0 h 431820"/>
              <a:gd name="connsiteX0" fmla="*/ 12700 w 707724"/>
              <a:gd name="connsiteY0" fmla="*/ 0 h 431820"/>
              <a:gd name="connsiteX1" fmla="*/ 682324 w 707724"/>
              <a:gd name="connsiteY1" fmla="*/ 12700 h 431820"/>
              <a:gd name="connsiteX2" fmla="*/ 707724 w 707724"/>
              <a:gd name="connsiteY2" fmla="*/ 431820 h 431820"/>
              <a:gd name="connsiteX3" fmla="*/ 0 w 707724"/>
              <a:gd name="connsiteY3" fmla="*/ 419120 h 431820"/>
              <a:gd name="connsiteX4" fmla="*/ 12700 w 707724"/>
              <a:gd name="connsiteY4" fmla="*/ 0 h 431820"/>
              <a:gd name="connsiteX0" fmla="*/ 12700 w 707724"/>
              <a:gd name="connsiteY0" fmla="*/ 0 h 431820"/>
              <a:gd name="connsiteX1" fmla="*/ 695024 w 707724"/>
              <a:gd name="connsiteY1" fmla="*/ 25400 h 431820"/>
              <a:gd name="connsiteX2" fmla="*/ 707724 w 707724"/>
              <a:gd name="connsiteY2" fmla="*/ 431820 h 431820"/>
              <a:gd name="connsiteX3" fmla="*/ 0 w 707724"/>
              <a:gd name="connsiteY3" fmla="*/ 419120 h 431820"/>
              <a:gd name="connsiteX4" fmla="*/ 12700 w 707724"/>
              <a:gd name="connsiteY4" fmla="*/ 0 h 431820"/>
              <a:gd name="connsiteX0" fmla="*/ 12700 w 707724"/>
              <a:gd name="connsiteY0" fmla="*/ 0 h 431820"/>
              <a:gd name="connsiteX1" fmla="*/ 389726 w 707724"/>
              <a:gd name="connsiteY1" fmla="*/ 1321 h 431820"/>
              <a:gd name="connsiteX2" fmla="*/ 707724 w 707724"/>
              <a:gd name="connsiteY2" fmla="*/ 431820 h 431820"/>
              <a:gd name="connsiteX3" fmla="*/ 0 w 707724"/>
              <a:gd name="connsiteY3" fmla="*/ 419120 h 431820"/>
              <a:gd name="connsiteX4" fmla="*/ 12700 w 707724"/>
              <a:gd name="connsiteY4" fmla="*/ 0 h 431820"/>
              <a:gd name="connsiteX0" fmla="*/ 12700 w 446948"/>
              <a:gd name="connsiteY0" fmla="*/ 0 h 425399"/>
              <a:gd name="connsiteX1" fmla="*/ 389726 w 446948"/>
              <a:gd name="connsiteY1" fmla="*/ 1321 h 425399"/>
              <a:gd name="connsiteX2" fmla="*/ 446948 w 446948"/>
              <a:gd name="connsiteY2" fmla="*/ 425399 h 425399"/>
              <a:gd name="connsiteX3" fmla="*/ 0 w 446948"/>
              <a:gd name="connsiteY3" fmla="*/ 419120 h 425399"/>
              <a:gd name="connsiteX4" fmla="*/ 12700 w 446948"/>
              <a:gd name="connsiteY4" fmla="*/ 0 h 425399"/>
              <a:gd name="connsiteX0" fmla="*/ 12700 w 440588"/>
              <a:gd name="connsiteY0" fmla="*/ 0 h 420583"/>
              <a:gd name="connsiteX1" fmla="*/ 389726 w 440588"/>
              <a:gd name="connsiteY1" fmla="*/ 1321 h 420583"/>
              <a:gd name="connsiteX2" fmla="*/ 440588 w 440588"/>
              <a:gd name="connsiteY2" fmla="*/ 420583 h 420583"/>
              <a:gd name="connsiteX3" fmla="*/ 0 w 440588"/>
              <a:gd name="connsiteY3" fmla="*/ 419120 h 420583"/>
              <a:gd name="connsiteX4" fmla="*/ 12700 w 440588"/>
              <a:gd name="connsiteY4" fmla="*/ 0 h 42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588" h="420583">
                <a:moveTo>
                  <a:pt x="12700" y="0"/>
                </a:moveTo>
                <a:lnTo>
                  <a:pt x="389726" y="1321"/>
                </a:lnTo>
                <a:lnTo>
                  <a:pt x="440588" y="420583"/>
                </a:lnTo>
                <a:lnTo>
                  <a:pt x="0" y="419120"/>
                </a:lnTo>
                <a:lnTo>
                  <a:pt x="12700" y="0"/>
                </a:lnTo>
                <a:close/>
              </a:path>
            </a:pathLst>
          </a:custGeom>
        </p:spPr>
        <p:txBody>
          <a:bodyPr wrap="square">
            <a:spAutoFit/>
          </a:bodyPr>
          <a:lstStyle/>
          <a:p>
            <a:r>
              <a:rPr lang="pt-BR" sz="2400"/>
              <a:t>Raí:</a:t>
            </a:r>
          </a:p>
        </p:txBody>
      </p:sp>
      <p:sp>
        <p:nvSpPr>
          <p:cNvPr id="23" name="Retângulo 2">
            <a:extLst>
              <a:ext uri="{FF2B5EF4-FFF2-40B4-BE49-F238E27FC236}">
                <a16:creationId xmlns:a16="http://schemas.microsoft.com/office/drawing/2014/main" id="{42DA7805-F0C1-4C5F-8253-B4DD99AB39B6}"/>
              </a:ext>
            </a:extLst>
          </p:cNvPr>
          <p:cNvSpPr/>
          <p:nvPr/>
        </p:nvSpPr>
        <p:spPr>
          <a:xfrm>
            <a:off x="5086344" y="3090299"/>
            <a:ext cx="1292526" cy="461665"/>
          </a:xfrm>
          <a:custGeom>
            <a:avLst/>
            <a:gdLst>
              <a:gd name="connsiteX0" fmla="*/ 0 w 1132192"/>
              <a:gd name="connsiteY0" fmla="*/ 0 h 4893647"/>
              <a:gd name="connsiteX1" fmla="*/ 1132192 w 1132192"/>
              <a:gd name="connsiteY1" fmla="*/ 0 h 4893647"/>
              <a:gd name="connsiteX2" fmla="*/ 1132192 w 1132192"/>
              <a:gd name="connsiteY2" fmla="*/ 4893647 h 4893647"/>
              <a:gd name="connsiteX3" fmla="*/ 0 w 1132192"/>
              <a:gd name="connsiteY3" fmla="*/ 4893647 h 4893647"/>
              <a:gd name="connsiteX4" fmla="*/ 0 w 1132192"/>
              <a:gd name="connsiteY4" fmla="*/ 0 h 4893647"/>
              <a:gd name="connsiteX0" fmla="*/ 0 w 1132192"/>
              <a:gd name="connsiteY0" fmla="*/ 0 h 4893647"/>
              <a:gd name="connsiteX1" fmla="*/ 1132192 w 1132192"/>
              <a:gd name="connsiteY1" fmla="*/ 0 h 4893647"/>
              <a:gd name="connsiteX2" fmla="*/ 1132192 w 1132192"/>
              <a:gd name="connsiteY2" fmla="*/ 1807547 h 4893647"/>
              <a:gd name="connsiteX3" fmla="*/ 0 w 1132192"/>
              <a:gd name="connsiteY3" fmla="*/ 4893647 h 4893647"/>
              <a:gd name="connsiteX4" fmla="*/ 0 w 1132192"/>
              <a:gd name="connsiteY4" fmla="*/ 0 h 4893647"/>
              <a:gd name="connsiteX0" fmla="*/ 0 w 1132192"/>
              <a:gd name="connsiteY0" fmla="*/ 0 h 1807547"/>
              <a:gd name="connsiteX1" fmla="*/ 1132192 w 1132192"/>
              <a:gd name="connsiteY1" fmla="*/ 0 h 1807547"/>
              <a:gd name="connsiteX2" fmla="*/ 1132192 w 1132192"/>
              <a:gd name="connsiteY2" fmla="*/ 1807547 h 1807547"/>
              <a:gd name="connsiteX3" fmla="*/ 0 w 1132192"/>
              <a:gd name="connsiteY3" fmla="*/ 1807547 h 1807547"/>
              <a:gd name="connsiteX4" fmla="*/ 0 w 1132192"/>
              <a:gd name="connsiteY4" fmla="*/ 0 h 1807547"/>
              <a:gd name="connsiteX0" fmla="*/ 0 w 1132192"/>
              <a:gd name="connsiteY0" fmla="*/ 0 h 1807547"/>
              <a:gd name="connsiteX1" fmla="*/ 1132192 w 1132192"/>
              <a:gd name="connsiteY1" fmla="*/ 0 h 1807547"/>
              <a:gd name="connsiteX2" fmla="*/ 1132192 w 1132192"/>
              <a:gd name="connsiteY2" fmla="*/ 1807547 h 1807547"/>
              <a:gd name="connsiteX3" fmla="*/ 0 w 1132192"/>
              <a:gd name="connsiteY3" fmla="*/ 1807547 h 1807547"/>
              <a:gd name="connsiteX4" fmla="*/ 0 w 1132192"/>
              <a:gd name="connsiteY4" fmla="*/ 0 h 1807547"/>
              <a:gd name="connsiteX0" fmla="*/ 0 w 1132192"/>
              <a:gd name="connsiteY0" fmla="*/ 0 h 1807547"/>
              <a:gd name="connsiteX1" fmla="*/ 1132192 w 1132192"/>
              <a:gd name="connsiteY1" fmla="*/ 0 h 1807547"/>
              <a:gd name="connsiteX2" fmla="*/ 1132192 w 1132192"/>
              <a:gd name="connsiteY2" fmla="*/ 1807547 h 1807547"/>
              <a:gd name="connsiteX3" fmla="*/ 0 w 1132192"/>
              <a:gd name="connsiteY3" fmla="*/ 1807547 h 1807547"/>
              <a:gd name="connsiteX4" fmla="*/ 0 w 1132192"/>
              <a:gd name="connsiteY4" fmla="*/ 0 h 1807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2192" h="1807547">
                <a:moveTo>
                  <a:pt x="0" y="0"/>
                </a:moveTo>
                <a:lnTo>
                  <a:pt x="1132192" y="0"/>
                </a:lnTo>
                <a:lnTo>
                  <a:pt x="1132192" y="1807547"/>
                </a:lnTo>
                <a:lnTo>
                  <a:pt x="0" y="1807547"/>
                </a:lnTo>
                <a:cubicBezTo>
                  <a:pt x="12700" y="912931"/>
                  <a:pt x="0" y="602516"/>
                  <a:pt x="0" y="0"/>
                </a:cubicBezTo>
                <a:close/>
              </a:path>
            </a:pathLst>
          </a:custGeom>
        </p:spPr>
        <p:txBody>
          <a:bodyPr wrap="square">
            <a:spAutoFit/>
          </a:bodyPr>
          <a:lstStyle/>
          <a:p>
            <a:r>
              <a:rPr lang="pt-BR" sz="2400"/>
              <a:t>Flavio: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DF4718B-A55F-4A36-8DBF-8791002ADC07}"/>
              </a:ext>
            </a:extLst>
          </p:cNvPr>
          <p:cNvSpPr/>
          <p:nvPr/>
        </p:nvSpPr>
        <p:spPr>
          <a:xfrm>
            <a:off x="7426218" y="3090299"/>
            <a:ext cx="9968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/>
              <a:t>Julia:</a:t>
            </a:r>
          </a:p>
        </p:txBody>
      </p:sp>
      <p:sp>
        <p:nvSpPr>
          <p:cNvPr id="34" name="Espaço reservado para conteúdo 13">
            <a:extLst>
              <a:ext uri="{FF2B5EF4-FFF2-40B4-BE49-F238E27FC236}">
                <a16:creationId xmlns:a16="http://schemas.microsoft.com/office/drawing/2014/main" id="{10B00366-244E-4F6B-B1A4-2F14E2CC9967}"/>
              </a:ext>
            </a:extLst>
          </p:cNvPr>
          <p:cNvSpPr txBox="1">
            <a:spLocks/>
          </p:cNvSpPr>
          <p:nvPr/>
        </p:nvSpPr>
        <p:spPr>
          <a:xfrm>
            <a:off x="3064111" y="3613353"/>
            <a:ext cx="2088232" cy="1543839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/>
              <a:t>Documentação</a:t>
            </a:r>
          </a:p>
          <a:p>
            <a:r>
              <a:rPr lang="pt-BR" sz="1600"/>
              <a:t>PowerPoint</a:t>
            </a:r>
          </a:p>
          <a:p>
            <a:r>
              <a:rPr lang="pt-BR" sz="1600" err="1"/>
              <a:t>Figma</a:t>
            </a:r>
            <a:endParaRPr lang="pt-BR" sz="1600"/>
          </a:p>
          <a:p>
            <a:r>
              <a:rPr lang="pt-BR" sz="1600"/>
              <a:t>Draw.io</a:t>
            </a:r>
          </a:p>
          <a:p>
            <a:endParaRPr lang="pt-BR" sz="1600"/>
          </a:p>
          <a:p>
            <a:endParaRPr lang="pt-BR" sz="1600"/>
          </a:p>
        </p:txBody>
      </p:sp>
      <p:sp>
        <p:nvSpPr>
          <p:cNvPr id="35" name="Espaço reservado para conteúdo 13">
            <a:extLst>
              <a:ext uri="{FF2B5EF4-FFF2-40B4-BE49-F238E27FC236}">
                <a16:creationId xmlns:a16="http://schemas.microsoft.com/office/drawing/2014/main" id="{E1D6C9AE-2613-425D-9019-758271288A38}"/>
              </a:ext>
            </a:extLst>
          </p:cNvPr>
          <p:cNvSpPr txBox="1">
            <a:spLocks/>
          </p:cNvSpPr>
          <p:nvPr/>
        </p:nvSpPr>
        <p:spPr>
          <a:xfrm>
            <a:off x="7440272" y="3623660"/>
            <a:ext cx="2110524" cy="1749556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/>
              <a:t>Documentação</a:t>
            </a:r>
          </a:p>
          <a:p>
            <a:r>
              <a:rPr lang="pt-BR" sz="1600"/>
              <a:t>Analise de dados</a:t>
            </a:r>
          </a:p>
          <a:p>
            <a:r>
              <a:rPr lang="pt-BR" sz="1600"/>
              <a:t>Gerenciamento de projetos</a:t>
            </a:r>
          </a:p>
          <a:p>
            <a:r>
              <a:rPr lang="pt-BR" sz="1600" err="1"/>
              <a:t>Balsamiq</a:t>
            </a:r>
            <a:endParaRPr lang="pt-BR" sz="1600"/>
          </a:p>
          <a:p>
            <a:endParaRPr lang="pt-BR" sz="1600" u="sng"/>
          </a:p>
          <a:p>
            <a:endParaRPr lang="pt-BR" sz="1600"/>
          </a:p>
          <a:p>
            <a:endParaRPr lang="pt-BR" sz="1600"/>
          </a:p>
          <a:p>
            <a:endParaRPr lang="pt-BR" sz="1600"/>
          </a:p>
        </p:txBody>
      </p:sp>
      <p:sp>
        <p:nvSpPr>
          <p:cNvPr id="37" name="Espaço reservado para conteúdo 13">
            <a:extLst>
              <a:ext uri="{FF2B5EF4-FFF2-40B4-BE49-F238E27FC236}">
                <a16:creationId xmlns:a16="http://schemas.microsoft.com/office/drawing/2014/main" id="{C068372C-3C19-4F69-AFDF-E6FCC824B9F6}"/>
              </a:ext>
            </a:extLst>
          </p:cNvPr>
          <p:cNvSpPr txBox="1">
            <a:spLocks/>
          </p:cNvSpPr>
          <p:nvPr/>
        </p:nvSpPr>
        <p:spPr>
          <a:xfrm>
            <a:off x="5086344" y="3623659"/>
            <a:ext cx="2110524" cy="1432099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/>
              <a:t>Documentação</a:t>
            </a:r>
          </a:p>
          <a:p>
            <a:r>
              <a:rPr lang="pt-BR" sz="1600"/>
              <a:t>PowerPoint </a:t>
            </a:r>
          </a:p>
          <a:p>
            <a:r>
              <a:rPr lang="pt-BR" sz="1600"/>
              <a:t>Draw.io</a:t>
            </a:r>
          </a:p>
          <a:p>
            <a:r>
              <a:rPr lang="pt-BR" sz="1600"/>
              <a:t>Figma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382C22F1-D4EE-4B71-9043-C6F7AB3FC3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121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37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1" y="2237286"/>
            <a:ext cx="1728192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Desafios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486339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8D53116E-0C13-051C-9933-7005097161AF}"/>
              </a:ext>
            </a:extLst>
          </p:cNvPr>
          <p:cNvSpPr/>
          <p:nvPr/>
        </p:nvSpPr>
        <p:spPr>
          <a:xfrm>
            <a:off x="8783174" y="4904670"/>
            <a:ext cx="15188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>
                <a:solidFill>
                  <a:schemeClr val="accent6">
                    <a:lumMod val="50000"/>
                  </a:schemeClr>
                </a:solidFill>
                <a:latin typeface="Quicksand-Regular"/>
              </a:rPr>
              <a:t>Foto: https://pt.vecteezy.com/</a:t>
            </a:r>
          </a:p>
          <a:p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952E9970-C775-2181-D59E-06EFE522E654}"/>
              </a:ext>
            </a:extLst>
          </p:cNvPr>
          <p:cNvSpPr txBox="1">
            <a:spLocks/>
          </p:cNvSpPr>
          <p:nvPr/>
        </p:nvSpPr>
        <p:spPr>
          <a:xfrm>
            <a:off x="1125862" y="3064936"/>
            <a:ext cx="5470072" cy="2956352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/>
              <a:t>Desafios para encontrar os artigos sobre a população idosa                                                                                                                                    </a:t>
            </a:r>
          </a:p>
          <a:p>
            <a:r>
              <a:rPr lang="pt-BR" sz="1600"/>
              <a:t>Desafios para achar informações sobre API (Futuro)</a:t>
            </a:r>
          </a:p>
          <a:p>
            <a:r>
              <a:rPr lang="pt-BR" sz="1600"/>
              <a:t>Desafios em manter as reuniões dos membros por conta da falta de luz</a:t>
            </a:r>
          </a:p>
          <a:p>
            <a:r>
              <a:rPr lang="pt-BR" sz="1600"/>
              <a:t>Desafios em controlar o tempo</a:t>
            </a:r>
          </a:p>
          <a:p>
            <a:pPr algn="just"/>
            <a:r>
              <a:rPr lang="pt-BR" sz="1600"/>
              <a:t>Desafios no desenvolvimento dos diagramas </a:t>
            </a:r>
          </a:p>
          <a:p>
            <a:pPr algn="just"/>
            <a:r>
              <a:rPr lang="pt-BR" sz="1600"/>
              <a:t>Desafios no gerenciamento de tempo em curto prazo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D8BA4431-31DC-4ABC-9352-FC8B19EF1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4094379-F55F-4F6A-23D1-0FC70F6973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7851" y="2890484"/>
            <a:ext cx="1574304" cy="157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38</a:t>
            </a:fld>
            <a:endParaRPr lang="pt-BR" noProof="0"/>
          </a:p>
        </p:txBody>
      </p:sp>
      <p:sp>
        <p:nvSpPr>
          <p:cNvPr id="5" name="Espaço reservado para conteúdo 13">
            <a:extLst>
              <a:ext uri="{FF2B5EF4-FFF2-40B4-BE49-F238E27FC236}">
                <a16:creationId xmlns:a16="http://schemas.microsoft.com/office/drawing/2014/main" id="{68EA1406-9D0A-F316-CA4B-D6FA46DEDD20}"/>
              </a:ext>
            </a:extLst>
          </p:cNvPr>
          <p:cNvSpPr txBox="1">
            <a:spLocks/>
          </p:cNvSpPr>
          <p:nvPr/>
        </p:nvSpPr>
        <p:spPr>
          <a:xfrm>
            <a:off x="1125861" y="2237286"/>
            <a:ext cx="1728192" cy="327618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>
                <a:solidFill>
                  <a:schemeClr val="tx2">
                    <a:lumMod val="85000"/>
                    <a:lumOff val="15000"/>
                  </a:schemeClr>
                </a:solidFill>
              </a:rPr>
              <a:t>Conclusão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486339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" name="Picture 4" descr="mulher precisa de ajuda. menina e inscrição me ajudam. pessoa com estresse.  personagem de vetor em estilo cartoon. 4899916 Vetor no Vecteezy">
            <a:extLst>
              <a:ext uri="{FF2B5EF4-FFF2-40B4-BE49-F238E27FC236}">
                <a16:creationId xmlns:a16="http://schemas.microsoft.com/office/drawing/2014/main" id="{43B65FDA-2F22-E391-5371-F32425C67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979" y="2989687"/>
            <a:ext cx="1935201" cy="193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D53116E-0C13-051C-9933-7005097161AF}"/>
              </a:ext>
            </a:extLst>
          </p:cNvPr>
          <p:cNvSpPr/>
          <p:nvPr/>
        </p:nvSpPr>
        <p:spPr>
          <a:xfrm>
            <a:off x="8783174" y="4904670"/>
            <a:ext cx="15188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800">
                <a:solidFill>
                  <a:schemeClr val="accent6">
                    <a:lumMod val="50000"/>
                  </a:schemeClr>
                </a:solidFill>
                <a:latin typeface="Quicksand-Regular"/>
              </a:rPr>
              <a:t>Foto: https://pt.vecteezy.com/</a:t>
            </a:r>
          </a:p>
          <a:p>
            <a:endParaRPr lang="pt-BR" sz="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952E9970-C775-2181-D59E-06EFE522E654}"/>
              </a:ext>
            </a:extLst>
          </p:cNvPr>
          <p:cNvSpPr txBox="1">
            <a:spLocks/>
          </p:cNvSpPr>
          <p:nvPr/>
        </p:nvSpPr>
        <p:spPr>
          <a:xfrm>
            <a:off x="1125862" y="3064937"/>
            <a:ext cx="5470072" cy="1711412"/>
          </a:xfrm>
          <a:prstGeom prst="rect">
            <a:avLst/>
          </a:prstGeom>
        </p:spPr>
        <p:txBody>
          <a:bodyPr rtlCol="0"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600"/>
              <a:t>Concluímos que esta aplicação tem grande potencial para melhorar significativamente a qualidade de vida dos idosos, proporcionando uma gestão mais eficaz e segura sobre sua saúde, o que pode reduzir interações prejudiciais e promover uma melhora em relação a tratamento, impactando positivamente a saúde e o bem-estar dessa população tão esquecida e deixada de lado.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D8BA4431-31DC-4ABC-9352-FC8B19EF1C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39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Equipe_03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39</a:t>
            </a:fld>
            <a:endParaRPr lang="pt-BR" noProof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06CF383-86BE-4807-90B1-358A5BECE709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/>
              <a:t>Trabalho de Conclusão de Curso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00B1AEDC-7D96-4DE1-B8DF-DCD9B40C88B7}"/>
              </a:ext>
            </a:extLst>
          </p:cNvPr>
          <p:cNvSpPr txBox="1">
            <a:spLocks/>
          </p:cNvSpPr>
          <p:nvPr/>
        </p:nvSpPr>
        <p:spPr>
          <a:xfrm>
            <a:off x="1099566" y="1486339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0F2AE1-D35B-45F6-B403-7441794FAC0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97D918F-CC2B-42C3-AA79-7935C824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2DC19A36-0916-4BCB-AB5D-E7A2A48E1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8398C3D-8562-4F85-B4C6-86BBDA33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974A88B2-9B2F-46D6-AA77-38E50B00D999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D1B5B00C-0D47-4611-81F3-7F90BB12AA59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EC49A414-0956-4A38-BDDF-956BCCE78AEE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ACCC0088-6890-4E0D-A00A-2BAB71F4493E}"/>
              </a:ext>
            </a:extLst>
          </p:cNvPr>
          <p:cNvSpPr/>
          <p:nvPr/>
        </p:nvSpPr>
        <p:spPr>
          <a:xfrm>
            <a:off x="4378385" y="3500917"/>
            <a:ext cx="24080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>
                <a:solidFill>
                  <a:schemeClr val="tx2">
                    <a:lumMod val="85000"/>
                    <a:lumOff val="15000"/>
                  </a:schemeClr>
                </a:solidFill>
              </a:rPr>
              <a:t>Isso é tudo pessoal !!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92FB99E-A53B-44AB-9DD6-DA3339B65813}"/>
              </a:ext>
            </a:extLst>
          </p:cNvPr>
          <p:cNvSpPr/>
          <p:nvPr/>
        </p:nvSpPr>
        <p:spPr>
          <a:xfrm>
            <a:off x="4826955" y="3811106"/>
            <a:ext cx="1510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>
                <a:solidFill>
                  <a:schemeClr val="tx2">
                    <a:lumMod val="85000"/>
                    <a:lumOff val="15000"/>
                  </a:schemeClr>
                </a:solidFill>
              </a:rPr>
              <a:t>The end... </a:t>
            </a:r>
            <a:r>
              <a:rPr lang="pt-BR">
                <a:solidFill>
                  <a:schemeClr val="tx2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</a:t>
            </a:r>
            <a:endParaRPr lang="pt-BR">
              <a:solidFill>
                <a:schemeClr val="tx2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0697A88-169E-4BE1-8974-98DF03A4B540}"/>
              </a:ext>
            </a:extLst>
          </p:cNvPr>
          <p:cNvSpPr/>
          <p:nvPr/>
        </p:nvSpPr>
        <p:spPr>
          <a:xfrm>
            <a:off x="5383608" y="442782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/>
              <a:t> 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37983112-21B3-4683-A413-45F0124EF5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56" y="96696"/>
            <a:ext cx="1514156" cy="52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08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emática 16: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9057_TF02787947.potx" id="{F6616D8B-E49F-43FC-919C-EA67C56073C6}" vid="{41E3CBBC-B989-484B-85AF-2EEA8BFB5111}"/>
    </a:ext>
  </a:extLst>
</a:theme>
</file>

<file path=ppt/theme/theme2.xml><?xml version="1.0" encoding="utf-8"?>
<a:theme xmlns:a="http://schemas.openxmlformats.org/drawingml/2006/main" name="Tema do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406582A6A40B74C867BA7128243823E" ma:contentTypeVersion="3" ma:contentTypeDescription="Crie um novo documento." ma:contentTypeScope="" ma:versionID="96f4476d1748e18ebb0544300eb94305">
  <xsd:schema xmlns:xsd="http://www.w3.org/2001/XMLSchema" xmlns:xs="http://www.w3.org/2001/XMLSchema" xmlns:p="http://schemas.microsoft.com/office/2006/metadata/properties" xmlns:ns2="9b33b812-9665-42fb-bf55-a2ee3db0179a" targetNamespace="http://schemas.microsoft.com/office/2006/metadata/properties" ma:root="true" ma:fieldsID="c9abab0661d587dcb34b57039d1d169b" ns2:_="">
    <xsd:import namespace="9b33b812-9665-42fb-bf55-a2ee3db017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33b812-9665-42fb-bf55-a2ee3db017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41C8876-6DAA-45D3-9BDC-516F7FCA0414}">
  <ds:schemaRefs>
    <ds:schemaRef ds:uri="9b33b812-9665-42fb-bf55-a2ee3db017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224C283-B81A-497C-B815-6AF2F34E7B3B}">
  <ds:schemaRefs>
    <ds:schemaRef ds:uri="9b33b812-9665-42fb-bf55-a2ee3db017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1921D19-86FA-4CD0-9E63-80556BBC4F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39</Slides>
  <Notes>39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Matemática 16:9</vt:lpstr>
      <vt:lpstr>Trabalho de Conclusão de Curso</vt:lpstr>
      <vt:lpstr>Trabalho de Conclusão de Curso</vt:lpstr>
      <vt:lpstr>Trabalho de Conclusão de Curso</vt:lpstr>
      <vt:lpstr>PowerPoint Presentation</vt:lpstr>
      <vt:lpstr>Trabalho de Conclusão de Curso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Trabalho de Conclusão de Curso</vt:lpstr>
      <vt:lpstr>PowerPoint Presentation</vt:lpstr>
      <vt:lpstr>PowerPoint Presentation</vt:lpstr>
      <vt:lpstr>PowerPoint Presentation</vt:lpstr>
      <vt:lpstr>Trabalho de Conclusão de Curso</vt:lpstr>
      <vt:lpstr>PowerPoint Presentation</vt:lpstr>
      <vt:lpstr>Trabalho de Conclusão de Curso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Reforço Escolar</dc:title>
  <dc:creator>Prof. Paulo Rogério</dc:creator>
  <cp:revision>1</cp:revision>
  <dcterms:created xsi:type="dcterms:W3CDTF">2023-04-28T14:29:41Z</dcterms:created>
  <dcterms:modified xsi:type="dcterms:W3CDTF">2025-12-11T23:36:43Z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0x010100D406582A6A40B74C867BA7128243823E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